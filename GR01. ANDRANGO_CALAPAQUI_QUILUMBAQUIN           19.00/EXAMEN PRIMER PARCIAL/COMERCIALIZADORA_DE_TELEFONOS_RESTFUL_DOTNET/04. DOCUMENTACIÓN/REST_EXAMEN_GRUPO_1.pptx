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90" r:id="rId10"/>
    <p:sldId id="391" r:id="rId11"/>
    <p:sldId id="392" r:id="rId12"/>
    <p:sldId id="331" r:id="rId13"/>
    <p:sldId id="332" r:id="rId14"/>
    <p:sldId id="333" r:id="rId15"/>
    <p:sldId id="334" r:id="rId16"/>
    <p:sldId id="344" r:id="rId17"/>
    <p:sldId id="388" r:id="rId18"/>
    <p:sldId id="345" r:id="rId19"/>
    <p:sldId id="346" r:id="rId20"/>
    <p:sldId id="389" r:id="rId21"/>
    <p:sldId id="347" r:id="rId22"/>
    <p:sldId id="393" r:id="rId23"/>
    <p:sldId id="394" r:id="rId24"/>
    <p:sldId id="396" r:id="rId25"/>
    <p:sldId id="395" r:id="rId26"/>
    <p:sldId id="397" r:id="rId27"/>
    <p:sldId id="398" r:id="rId28"/>
    <p:sldId id="400" r:id="rId29"/>
    <p:sldId id="401" r:id="rId30"/>
    <p:sldId id="352" r:id="rId31"/>
    <p:sldId id="353" r:id="rId32"/>
    <p:sldId id="354" r:id="rId33"/>
    <p:sldId id="358" r:id="rId34"/>
    <p:sldId id="385" r:id="rId35"/>
    <p:sldId id="386" r:id="rId36"/>
    <p:sldId id="360" r:id="rId37"/>
    <p:sldId id="362" r:id="rId38"/>
    <p:sldId id="408" r:id="rId39"/>
    <p:sldId id="409" r:id="rId40"/>
    <p:sldId id="410" r:id="rId41"/>
    <p:sldId id="411" r:id="rId42"/>
    <p:sldId id="412" r:id="rId43"/>
    <p:sldId id="363" r:id="rId44"/>
    <p:sldId id="364" r:id="rId45"/>
    <p:sldId id="365" r:id="rId46"/>
    <p:sldId id="366" r:id="rId47"/>
    <p:sldId id="384" r:id="rId48"/>
    <p:sldId id="367" r:id="rId49"/>
    <p:sldId id="368" r:id="rId50"/>
    <p:sldId id="369" r:id="rId51"/>
    <p:sldId id="402" r:id="rId52"/>
    <p:sldId id="403" r:id="rId53"/>
    <p:sldId id="404" r:id="rId54"/>
    <p:sldId id="405" r:id="rId55"/>
    <p:sldId id="406" r:id="rId56"/>
    <p:sldId id="407" r:id="rId57"/>
    <p:sldId id="370" r:id="rId58"/>
    <p:sldId id="413" r:id="rId59"/>
    <p:sldId id="371" r:id="rId60"/>
    <p:sldId id="373" r:id="rId61"/>
    <p:sldId id="414" r:id="rId62"/>
    <p:sldId id="415" r:id="rId63"/>
    <p:sldId id="416" r:id="rId64"/>
    <p:sldId id="417" r:id="rId65"/>
    <p:sldId id="418" r:id="rId66"/>
    <p:sldId id="419" r:id="rId67"/>
    <p:sldId id="420" r:id="rId68"/>
    <p:sldId id="421" r:id="rId69"/>
    <p:sldId id="422" r:id="rId70"/>
    <p:sldId id="423" r:id="rId71"/>
    <p:sldId id="424" r:id="rId72"/>
    <p:sldId id="425" r:id="rId73"/>
    <p:sldId id="426" r:id="rId74"/>
    <p:sldId id="427" r:id="rId75"/>
    <p:sldId id="428" r:id="rId76"/>
    <p:sldId id="429" r:id="rId77"/>
    <p:sldId id="430" r:id="rId78"/>
    <p:sldId id="380" r:id="rId79"/>
    <p:sldId id="381" r:id="rId80"/>
    <p:sldId id="383" r:id="rId81"/>
    <p:sldId id="324" r:id="rId82"/>
    <p:sldId id="262" r:id="rId83"/>
    <p:sldId id="263" r:id="rId8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2266F1-2D45-4352-9A03-5D95163E0114}" v="13" dt="2024-12-14T04:41:58.123"/>
    <p1510:client id="{BF35136E-4FCA-485A-9CA5-E26E7223AE18}" v="44" dt="2024-12-14T22:38:08.193"/>
    <p1510:client id="{C6B77807-42B9-47D9-99CC-47F7A3BF2850}" v="389" dt="2024-12-14T13:14:19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jpeg"/><Relationship Id="rId4" Type="http://schemas.openxmlformats.org/officeDocument/2006/relationships/image" Target="../media/image86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MANUAL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EUREKA BANK CON REST  Y BASE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</p:spPr>
        <p:txBody>
          <a:bodyPr>
            <a:normAutofit/>
          </a:bodyPr>
          <a:lstStyle/>
          <a:p>
            <a:r>
              <a:rPr lang="es-EC" b="1">
                <a:solidFill>
                  <a:schemeClr val="bg1"/>
                </a:solidFill>
              </a:rPr>
              <a:t>Integrantes:</a:t>
            </a:r>
            <a:r>
              <a:rPr lang="es-EC">
                <a:solidFill>
                  <a:schemeClr val="bg1"/>
                </a:solidFill>
              </a:rPr>
              <a:t>   </a:t>
            </a:r>
            <a:r>
              <a:rPr lang="es-EC" err="1">
                <a:solidFill>
                  <a:schemeClr val="bg1"/>
                </a:solidFill>
              </a:rPr>
              <a:t>christian</a:t>
            </a:r>
            <a:r>
              <a:rPr lang="es-EC">
                <a:solidFill>
                  <a:schemeClr val="bg1"/>
                </a:solidFill>
              </a:rPr>
              <a:t> </a:t>
            </a:r>
            <a:r>
              <a:rPr lang="es-EC" err="1">
                <a:solidFill>
                  <a:schemeClr val="bg1"/>
                </a:solidFill>
              </a:rPr>
              <a:t>andrango</a:t>
            </a:r>
            <a:br>
              <a:rPr lang="en-US"/>
            </a:br>
            <a:r>
              <a:rPr lang="es-EC">
                <a:solidFill>
                  <a:schemeClr val="bg1"/>
                </a:solidFill>
              </a:rPr>
              <a:t>                               </a:t>
            </a:r>
            <a:r>
              <a:rPr lang="es-EC" err="1">
                <a:solidFill>
                  <a:schemeClr val="bg1"/>
                </a:solidFill>
              </a:rPr>
              <a:t>genesis</a:t>
            </a:r>
            <a:r>
              <a:rPr lang="es-EC">
                <a:solidFill>
                  <a:schemeClr val="bg1"/>
                </a:solidFill>
              </a:rPr>
              <a:t> </a:t>
            </a:r>
            <a:r>
              <a:rPr lang="es-EC" err="1">
                <a:solidFill>
                  <a:schemeClr val="bg1"/>
                </a:solidFill>
              </a:rPr>
              <a:t>calapaqui</a:t>
            </a:r>
            <a:br>
              <a:rPr lang="es-EC">
                <a:solidFill>
                  <a:schemeClr val="bg1"/>
                </a:solidFill>
              </a:rPr>
            </a:br>
            <a:r>
              <a:rPr lang="es-EC">
                <a:solidFill>
                  <a:schemeClr val="bg1"/>
                </a:solidFill>
              </a:rPr>
              <a:t>                               </a:t>
            </a:r>
            <a:r>
              <a:rPr lang="es-EC" err="1">
                <a:solidFill>
                  <a:schemeClr val="bg1"/>
                </a:solidFill>
              </a:rPr>
              <a:t>jairo</a:t>
            </a:r>
            <a:r>
              <a:rPr lang="es-EC">
                <a:solidFill>
                  <a:schemeClr val="bg1"/>
                </a:solidFill>
              </a:rPr>
              <a:t> </a:t>
            </a:r>
            <a:r>
              <a:rPr lang="es-EC" err="1">
                <a:solidFill>
                  <a:schemeClr val="bg1"/>
                </a:solidFill>
              </a:rPr>
              <a:t>quilumbaquin</a:t>
            </a:r>
            <a:endParaRPr lang="es-EC">
              <a:solidFill>
                <a:schemeClr val="bg1"/>
              </a:solidFill>
            </a:endParaRP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 </a:t>
            </a:r>
            <a:r>
              <a:rPr lang="es-EC" b="1">
                <a:solidFill>
                  <a:prstClr val="white"/>
                </a:solidFill>
                <a:latin typeface="Gill Sans MT" panose="020B0502020104020203"/>
              </a:rPr>
              <a:t>11/12/2024</a:t>
            </a:r>
            <a:endParaRPr lang="es-EC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Ing</a:t>
            </a: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</a:t>
            </a:r>
            <a:r>
              <a:rPr kumimoji="0" lang="es-EC" sz="16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Campaña mauricio</a:t>
            </a:r>
            <a:endParaRPr kumimoji="0" lang="es-EC" sz="16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305435" indent="-305435"/>
            <a:r>
              <a:rPr lang="es-ES">
                <a:solidFill>
                  <a:schemeClr val="bg1"/>
                </a:solidFill>
              </a:rPr>
              <a:t>DESARROLLO</a:t>
            </a:r>
            <a:endParaRPr lang="es-ES"/>
          </a:p>
          <a:p>
            <a:pPr marL="629920" lvl="1" indent="-305435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marL="629920" lvl="1" indent="-305435"/>
            <a:r>
              <a:rPr lang="es-ES">
                <a:solidFill>
                  <a:schemeClr val="bg1"/>
                </a:solidFill>
              </a:rPr>
              <a:t>MODELO CONCEPTUAL DE LA BASE DE DATOS</a:t>
            </a:r>
          </a:p>
          <a:p>
            <a:pPr marL="629920" lvl="1" indent="-305435"/>
            <a:r>
              <a:rPr lang="es-ES">
                <a:solidFill>
                  <a:schemeClr val="bg1"/>
                </a:solidFill>
              </a:rPr>
              <a:t>CREAR BASE DE DATOS</a:t>
            </a:r>
          </a:p>
          <a:p>
            <a:pPr marL="629920" lvl="1" indent="-305435"/>
            <a:r>
              <a:rPr lang="es-ES">
                <a:solidFill>
                  <a:schemeClr val="bg1"/>
                </a:solidFill>
              </a:rPr>
              <a:t>CREACIÓN DEL SERVIDOR RESTFUL</a:t>
            </a:r>
          </a:p>
          <a:p>
            <a:pPr marL="762635" lvl="1" indent="-305435">
              <a:defRPr/>
            </a:pPr>
            <a:r>
              <a:rPr lang="es-ES" sz="1800">
                <a:solidFill>
                  <a:schemeClr val="bg1"/>
                </a:solidFill>
              </a:rPr>
              <a:t>CREAR BASE DE DATOS</a:t>
            </a:r>
          </a:p>
          <a:p>
            <a:pPr marL="762635" lvl="1" indent="-305435">
              <a:defRPr/>
            </a:pPr>
            <a:r>
              <a:rPr lang="es-ES" sz="1800">
                <a:solidFill>
                  <a:schemeClr val="bg1"/>
                </a:solidFill>
              </a:rPr>
              <a:t>CREACIÓN DEL SERVIDOR </a:t>
            </a:r>
            <a:r>
              <a:rPr lang="es-ES" sz="1500">
                <a:solidFill>
                  <a:schemeClr val="bg1"/>
                </a:solidFill>
              </a:rPr>
              <a:t>RESTFUL</a:t>
            </a:r>
          </a:p>
          <a:p>
            <a:pPr marL="762635" lvl="1" indent="-305435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CONSOLA</a:t>
            </a:r>
          </a:p>
          <a:p>
            <a:pPr marL="762635" lvl="1" indent="-305435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ESCRITORIO</a:t>
            </a:r>
          </a:p>
          <a:p>
            <a:pPr marL="762635" lvl="1" indent="-305435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WEB</a:t>
            </a:r>
          </a:p>
          <a:p>
            <a:pPr marL="762635" lvl="1" indent="-305435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MOVIL</a:t>
            </a:r>
          </a:p>
          <a:p>
            <a:pPr marL="305435" marR="0" lvl="0" indent="-305435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</a:t>
            </a:r>
          </a:p>
          <a:p>
            <a:pPr marL="305435" marR="0" lvl="0" indent="-305435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RECOMENDACIONES</a:t>
            </a:r>
          </a:p>
          <a:p>
            <a:pPr marL="305435" marR="0" lvl="0" indent="-305435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	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Desarrollar e implementar un Web </a:t>
            </a:r>
            <a:r>
              <a:rPr lang="es-ES" sz="1800" err="1">
                <a:effectLst/>
                <a:latin typeface="Cambria"/>
                <a:ea typeface="Calibri"/>
                <a:cs typeface="Times New Roman"/>
              </a:rPr>
              <a:t>Service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 utilizando </a:t>
            </a:r>
            <a:r>
              <a:rPr lang="es-ES" err="1">
                <a:latin typeface="Cambria"/>
                <a:ea typeface="Calibri"/>
                <a:cs typeface="Times New Roman"/>
              </a:rPr>
              <a:t>RESTful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 mediante </a:t>
            </a:r>
            <a:r>
              <a:rPr lang="es-ES">
                <a:latin typeface="Cambria"/>
                <a:ea typeface="Calibri"/>
                <a:cs typeface="Times New Roman"/>
              </a:rPr>
              <a:t>Visual Studio 2022 para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 realizar el registro y consulta de movimientos monetarios, ilustrando los pasos generales para su creación.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	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 continuación, se presente el modelo conceptual de la base de datos “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4EB42A-FEE2-4F76-B196-6C70C8C62A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66059" y="3332747"/>
            <a:ext cx="4840605" cy="319147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	CREAR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comenzar con el desarrollo de la práctica se procede a realizar la creación de la base de datos, para lo cual se deberá ingresar a la herramienta instalada anteriormente donde se pedirá el tipo de autenticación.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DC21997-C353-8ED4-5F9C-07EBD3ABF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690" y="3780572"/>
            <a:ext cx="2928873" cy="286400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tiene la siguiente estructura inicial donde se mostrarán las bases de datos creadas o existentes.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3B027F2D-BBB4-6425-FF38-D3876D5F7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593" y="3569792"/>
            <a:ext cx="5480037" cy="14343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crear la base de datos se deberá hacer clic derecho sobre el espacio de trabajo, y seleccionar New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BF6502-DE5A-18E8-2327-054922492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393" y="3297382"/>
            <a:ext cx="4126727" cy="1828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1744"/>
            <a:ext cx="8589441" cy="76318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procede a registrar el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la creación de la base de datos y se procede a ejecutar el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0F7B7E0-319C-673B-C1E6-A3599627B4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903" b="5518"/>
          <a:stretch/>
        </p:blipFill>
        <p:spPr bwMode="auto">
          <a:xfrm>
            <a:off x="2012245" y="2850719"/>
            <a:ext cx="6318955" cy="338923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CB54D-E886-7F66-F7F8-367FD4719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2E61A-3472-B334-0BA9-0D62E5C9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F9B2D1-973B-1213-1082-87D9C5A32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1744"/>
            <a:ext cx="8589441" cy="76318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Finalmente se tiene la siguiente la base de datos EUREKABANK creada como se muestra a continuación.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1617EF-A10E-F522-A670-181FC2CCA92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D90D4442-3755-9762-3DA7-90396973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789" y="3207326"/>
            <a:ext cx="4249211" cy="24948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2685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7AD7-9AE4-2553-FA63-308F04B6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D3C42-7F3D-8CE5-5910-0B44E1F7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4BE93-DFF7-4C11-611F-A418F2F22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1744"/>
            <a:ext cx="8589441" cy="76318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Finalmente se tiene la siguiente la base de datos EUREKABANK creada como se muestra a continuación.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DFD141-6355-FFF6-2839-999AD36AC248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848D3F26-0BD8-B7B3-6176-373EAB5D7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789" y="3207326"/>
            <a:ext cx="4249211" cy="24948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2415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0548B-1274-5EA7-2543-2DD108A5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CB3BE-16A8-E4DD-7E3D-40B3D48F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6C5A43-FB43-8A95-C0D4-3B3A6AB79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1744"/>
            <a:ext cx="8589441" cy="763187"/>
          </a:xfrm>
        </p:spPr>
        <p:txBody>
          <a:bodyPr>
            <a:normAutofit fontScale="850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realizar la inserción de información a la base de datos creada anteriormente se procede a hacer clic derecho sobre la base de datos, seleccionar new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ingresar los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querys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registro de información para la base de datos.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137A85-E73E-6E50-0E6B-5B671A9BAC32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7518DC-97F0-3992-34FC-CF87AFEA1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57" y="3030341"/>
            <a:ext cx="6533110" cy="33088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4410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60" y="18756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	Creación del Servidor REST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comenzar con la creación del proyecto servidor se procede a crear un nuevo proyecto en Visual Studio 2022, el proyecto que se deberá seleccionar es del tipo Aplicación ASP.NET Core Web API.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2E4D4F-608C-91D1-D72E-6959B285D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200" y="3429000"/>
            <a:ext cx="4236489" cy="306906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Seguido de eso se procede a realizar las configuraciones para la creación del proyecto como el nombre del proyecto, la ubicación y el nombre de la solución.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D29FF8C-540C-E9B0-0864-0C5DB252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84" y="2819397"/>
            <a:ext cx="5576455" cy="340648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configurar parámetros adicionales como la versión de Framework y se selecciona que sea de tipo API Web.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4F3BF7-AA8A-86B2-2F75-A4E6B9F42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405" y="2806536"/>
            <a:ext cx="5114867" cy="35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Se verifica que todo salió bien cuando en el IDE se muestra el siguiente archivo.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E20FA5-1A57-FEB1-F9D2-C49A854C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961" y="3196730"/>
            <a:ext cx="6680893" cy="30450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942756"/>
          </a:xfrm>
        </p:spPr>
        <p:txBody>
          <a:bodyPr>
            <a:normAutofit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comenzar con el desarrollo del proyecto servidor se procede a realizar la conexión o configurar la cadena de conexión a la base de datos, para ello se deberá dirigir a la carpeta de BD y crear una clase de conexión.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REST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0D4E84AB-1A85-49DA-059B-7F810A0A0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84" y="3616471"/>
            <a:ext cx="5488692" cy="183587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820374"/>
          </a:xfrm>
        </p:spPr>
        <p:txBody>
          <a:bodyPr>
            <a:normAutofit fontScale="700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el desarrollo del proyecto servidor se hará uso de contextos para lo cual se requiere crear el modelo de la tabla de la base de datos con la cual se va a desarrollar la práctica que es la tabla de “Movimientos”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 lo tanto, en la carpeta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ec.edu.modelo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procede hacer clic derecho, agregar y seleccionar clase.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65BD091-BCC1-78F1-BB7B-B8ACC70C5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089" y="3429000"/>
            <a:ext cx="6300183" cy="22518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19739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20278"/>
            <a:ext cx="8589441" cy="787292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asigna el nombre a la clase en este caso es Movimiento.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E30F8BE1-AA32-A1B1-E80B-45B16D41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88" y="2838480"/>
            <a:ext cx="5283113" cy="366324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6911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atributos que deberá contener la clase son los mismos que se encuentran en la tabla “Teléfono” de la base de datos como se muestra a continuación.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29464F-5CB4-F5A8-E6CD-7B29DC2E0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5" y="3420349"/>
            <a:ext cx="2790825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708990-4B7F-B3D5-7E34-679539F0C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34" y="3420349"/>
            <a:ext cx="5174579" cy="253866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21569"/>
            <a:ext cx="8169108" cy="624252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procede a codificar el archivo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Usuario.cs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 cual contiene los mismos atributos de las columnas de la tabla “</a:t>
            </a:r>
            <a:r>
              <a:rPr lang="es-MX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Usuario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de la base de datos “</a:t>
            </a:r>
            <a:r>
              <a:rPr lang="es-MX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BANQUITO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ED0476CC-8A9C-DDD2-A40C-1DF39728E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857" y="2778943"/>
            <a:ext cx="6823534" cy="35256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53462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procede a realizar clic derecho sobre la carpeta </a:t>
            </a:r>
            <a:r>
              <a:rPr lang="es-MX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controlador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agregar, y seleccionar Clase.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9E6976-FBEB-4C14-761D-65F5BE4E6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31" y="2793060"/>
            <a:ext cx="2144102" cy="39466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6D23-DF8F-4543-8FD2-A158969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7FE9B-29F7-19D0-CD4F-B00DC2F53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D10B35-A3FD-1155-C8E9-9C7A72731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asigna el nombre al archivo en este caso “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BanquitoController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0EDF62F-E05C-85CB-1D15-779FBB542190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A94C2A2C-8C50-5D63-64B9-0E78BCA10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643" y="2887655"/>
            <a:ext cx="4838557" cy="335395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11532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688D4-54A6-D562-BAF4-4278E5E2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CDD4D-8F41-D0BD-92FF-C69EAEB6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4AE91-04E5-5DE0-3979-EDD646B18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Una vez creado el elemento se procede a realizar la codificación haciendo referencia a las clases creadas en la carpeta “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Models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63D018-6C5D-2696-A9FB-7C3582407A9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53DE47A3-6090-5F4D-98EE-65F29369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422" y="3042364"/>
            <a:ext cx="7295903" cy="311749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52257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612DD-22D0-1637-F6B6-2DE13C815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2C465-4D62-167D-A55F-841615435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EA0A5E-E333-1F3E-E726-F3759F5E7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Una vez agregado creado el contexto y agregado el servicio se procede a realizar la codificación de los métodos o servicios REST, para lo cual se deberá hacer clic derecho sobre la carpeta “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ec.edu.monster.controlador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agregar controlador.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F2884B-7C60-ADB1-C4A2-BD7A8FC0EFA4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ams&#10;&#10;Descripción generada automáticamente">
            <a:extLst>
              <a:ext uri="{FF2B5EF4-FFF2-40B4-BE49-F238E27FC236}">
                <a16:creationId xmlns:a16="http://schemas.microsoft.com/office/drawing/2014/main" id="{4F3FE560-89E2-09A9-D8A0-DCC8F9E8D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6197" y="3667996"/>
            <a:ext cx="8043858" cy="10792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8802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9544-B00D-9B4F-2BB4-3FB06255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09F1B-F5FB-0E41-7555-E011925D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B85AD5-832B-FAE0-D9BC-F8EC259D4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Seguido de eso se deberá seleccionar el tipo de elemento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Scanffolding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se creará, en este caso Controlador de API: en blanco.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7CC5CE-2C1D-FB28-8684-182901A8A824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0CDD1F08-9928-E56A-3E89-2E6706215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5359" y="3120268"/>
            <a:ext cx="6047914" cy="31472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75788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7235-6562-9EC6-357E-5D1A38A8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907EF-B247-FB0C-84A2-07921746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4C8B6E-1B36-E7FA-71D7-376DAC251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procede a realizar la asignación del nombre al controlador en este caso </a:t>
            </a:r>
            <a:r>
              <a:rPr lang="es-MX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Telefono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Controller.cs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1C6C984-2883-EE1A-CD43-6D64B1C10BC6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C576F2-0E6F-6693-9E07-E9D37E9D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436" y="3042364"/>
            <a:ext cx="6751282" cy="295893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45301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99F3A-ADCC-41D2-F10C-BF6FB814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80BF4-B170-5132-BB59-57A0F58B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C6B9C1-FE9C-31AC-1320-862C60630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siguiente método o servicio permite obtener todos los registros de la tabla “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Telefono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44D9B31-7D8C-864B-BBFE-44371AD422D4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D08B5B-B943-E0EC-C545-D51F6E1E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98" y="2799033"/>
            <a:ext cx="5008255" cy="33568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05099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93FC-3435-0144-7EF5-1D07B97F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E06F9-22C4-25FB-99E1-DA219F42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7135B1-FDA7-981E-8A4D-A6D46151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realizar la prueba de los servicios se procede a ejecutar el proyecto servidor, y hacer uso de la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Postman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las rutas.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2FDCBF-3F7D-B6FC-8F66-CCEF27991F20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F95553-3E0F-26EC-F7E0-F7122AC47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3042364"/>
            <a:ext cx="5400040" cy="34880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02397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B1E7A-FB22-41AC-379D-5934613B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B595A-E9DE-260E-419C-0BE5FFEF6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C1FD9A-B99B-AA01-40B0-AC4D58F5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17.	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realizar la prueba de los servicios se procede a ejecutar el proyecto servidor, y hacer uso de la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Postman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las rutas.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8AE9128-2B27-AF9F-0EF6-AFFA54C69479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FB84F708-2573-70B5-81B7-783558A9C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22" y="3120268"/>
            <a:ext cx="6556144" cy="286330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74486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	CREACIÓN DEL PROYECTO – CLIENTE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Creamos un nuevo proyecto con .NET de tipo consola.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B688B6-6460-D6DB-E63A-E53207D69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38" y="2786509"/>
            <a:ext cx="4413885" cy="10858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96B31047-4AD7-3285-221C-85B5AFCE6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967" y="3976285"/>
            <a:ext cx="4238625" cy="269684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archivo para la implementación del servicio.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F04413-618C-E9EC-0199-25D6B3330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196" y="3262288"/>
            <a:ext cx="7139431" cy="136546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B0FC7B-8539-02FE-C02D-9E2C62CF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297539"/>
            <a:ext cx="8280644" cy="38583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magen que contiene Texto&#10;&#10;Descripción generada automáticamente">
            <a:extLst>
              <a:ext uri="{FF2B5EF4-FFF2-40B4-BE49-F238E27FC236}">
                <a16:creationId xmlns:a16="http://schemas.microsoft.com/office/drawing/2014/main" id="{9878A41C-6B15-EACB-B812-D86E65CA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846" y="3429000"/>
            <a:ext cx="2003197" cy="227114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implementan el menú de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AB6EDF4-B201-C743-BE6F-81562C5D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824" y="2658200"/>
            <a:ext cx="5562580" cy="39863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crear el controlador, es necesario crear un paquete y crear una nueva clase llamada </a:t>
            </a:r>
            <a:r>
              <a:rPr lang="es-ES" u="sng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LoginController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E465B6-C67B-1EED-648D-F033DB83D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303" y="2873069"/>
            <a:ext cx="6192114" cy="34771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Ahora vamos a codificar nuestro main, ya que al tratarse de una aplicación únicamente consola, vamos a usar lo siguiente: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F4C23E-3562-CE34-2744-5C1153357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629" y="2754016"/>
            <a:ext cx="4184013" cy="38762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Vista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759AD3-1D59-3E57-7C3A-65D326F4F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251" y="3142528"/>
            <a:ext cx="4010025" cy="14287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4A25-5B54-7824-3869-A03BC9E3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6701B-E80C-A56B-AB2A-18767C49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C10DA0-B8CC-A675-A1AB-8A44B6721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Vista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Menu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principal.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90930A-D2A0-4E57-5561-8277F0D9EC9D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9A4D7EC6-C9A8-7E5C-245E-AC6D5598E0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537"/>
          <a:stretch/>
        </p:blipFill>
        <p:spPr bwMode="auto">
          <a:xfrm>
            <a:off x="4636817" y="2755509"/>
            <a:ext cx="3823184" cy="255757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705092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5848-31A0-AC0E-DB0B-0F2CD381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85F81-63CA-777D-2CD9-6838D512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EAE7B3-5388-A846-202D-7AF819A6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Vista Catalogo.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BD1101F-37CF-91A3-58AF-EF9F1828ECD2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ECB465A4-509A-8FB4-0FA8-199292226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46"/>
          <a:stretch/>
        </p:blipFill>
        <p:spPr bwMode="auto">
          <a:xfrm>
            <a:off x="4614862" y="3094903"/>
            <a:ext cx="2962275" cy="1524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904579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84B9-E3BD-9223-852A-5E299AAA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030C5-2F5D-6B63-E2CA-1E22F216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A91B56-B889-F747-6FBA-3135F501E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Vista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Facturación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41D6F79-ED99-6174-145A-B47C5A46E416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6BB86E9D-AAF6-7ADE-71E8-0C6B57DF70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164"/>
          <a:stretch/>
        </p:blipFill>
        <p:spPr bwMode="auto">
          <a:xfrm>
            <a:off x="4537617" y="3147290"/>
            <a:ext cx="3429000" cy="14192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4244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86E0D-2B34-5076-858A-DBAE2A65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CCF45-AA33-6279-1B4C-A735DDC1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6A8513-0603-49D4-7307-2F0973E6E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Vista Ver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Facturación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4843332-6C18-DC1E-3FBA-AD2E8D831D99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678A99-33D6-531F-BD2E-674714D1A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67" y="3041797"/>
            <a:ext cx="5400040" cy="26130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413366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BB9F7-3F7D-0331-1984-CFBAE1FA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D963C-5DA3-F489-22AC-7D736F5C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B1918F-0EA3-E0C0-AB36-30DEB8413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Vista Ver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Monto máximo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83A6E3-D2C0-63EC-061C-1C0D2257DC18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49780CBF-61F5-7E1C-EF5A-3F67CE6C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12" y="3223490"/>
            <a:ext cx="4067175" cy="12668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118649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Realizado el servidor se avanza a la aplicación cliente, para ello se crea un nuevo proyecto de tipo Java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llamado CLIESC_BANQUITO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1AAA693-F50E-37C2-795A-E252EE4F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24" y="2841082"/>
            <a:ext cx="4780915" cy="14458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5ECF439-6EE2-0320-A6BC-1392FB942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271" y="4300433"/>
            <a:ext cx="3915473" cy="24700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cliente de servicio web.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22C887-2B43-4CD7-7F4A-95A7D5BD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905" y="3683642"/>
            <a:ext cx="6240205" cy="12066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crea la capa de servicio para llamar los métodos del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467448-980B-71C9-FBDF-19B505212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424" y="2650155"/>
            <a:ext cx="7297168" cy="35056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Implementación de la vist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de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3307BE-B60E-A643-F9C4-4668D508E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559848"/>
            <a:ext cx="8512999" cy="405813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Para crear el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LoginController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 necesario crear una nueva clase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198548-3344-0E70-AA29-C57B84D57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144" y="2418112"/>
            <a:ext cx="4791744" cy="403916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 Principal Aplicación Escritorio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9128029-CDA4-0DEE-2DF8-43E8A2D45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082" y="2301712"/>
            <a:ext cx="3019425" cy="39147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</a:t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Menu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principal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84EE7D1F-111C-EB83-00B3-8153531E4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701" y="2504559"/>
            <a:ext cx="2419350" cy="37242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Catalogo.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8321AD6-28F0-463F-34EB-649628916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194" y="2258153"/>
            <a:ext cx="3419475" cy="40576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2B08-784E-43D1-7F9E-69630D94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6503D-9AD1-6A44-52D7-38DA77A1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5077B0-96A9-FD4D-1520-4BFC492E6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Facturación.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9F33550-52DB-92B2-20BB-E078B369E239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BACE043F-0E2F-51C7-EDF4-69ABD5E3C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025" y="3117273"/>
            <a:ext cx="3409950" cy="21812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41538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3CC9-A2E9-93F1-82B0-95BFBDAAB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AB718-D199-A72A-0032-04AAADAB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37402A-B4F5-20F3-2848-901369B10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pagar con crédito.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409822-7130-C969-F49E-3290DE25D59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3E837D79-8478-5275-EF01-90E1306F6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87" y="2952838"/>
            <a:ext cx="3400425" cy="17716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923592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54F4-F101-87EC-77B0-3B44C5DB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2B849-87B6-D0BC-893C-A2381B77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F26647-D1BF-CAE5-273E-3D6E7D484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pagar con efectivo.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C5FD883-149C-B4ED-97D7-341432EA947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E4FCD64E-076F-79C9-2304-B2DBCD331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512" y="2715206"/>
            <a:ext cx="3228975" cy="2676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110813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4CBA-901A-21BE-3B56-AB2364C8D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21C52-5E86-B13E-8F11-46C5F257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69FC44-E887-6569-25BF-4515E4C2E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ver facturas.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29CF120-EC1F-2B5A-E554-B59437F6C572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1E60C5-A75A-6462-481F-A63CDC56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221" y="2015265"/>
            <a:ext cx="3248025" cy="45434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715991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A92C-EC34-0355-D149-2F15E5FE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BE4-390A-02D5-0206-86810B3A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0267D3-2A10-B4EE-FEF7-54106238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ver Tabla de amortización.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5E9FF6-C411-09B7-9644-DF0A3D7A85A6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abla&#10;&#10;Descripción generada automáticamente">
            <a:extLst>
              <a:ext uri="{FF2B5EF4-FFF2-40B4-BE49-F238E27FC236}">
                <a16:creationId xmlns:a16="http://schemas.microsoft.com/office/drawing/2014/main" id="{371A6128-43FC-97CA-854B-94C73356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331" y="2680110"/>
            <a:ext cx="5400040" cy="32137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542215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0F85B-77E4-06F9-8BEB-591115DC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85C75-B625-D0C3-2C15-51063A04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892586-526D-62E5-08D6-12F90A5A9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Monto 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maximo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87F59A-BC13-AB0A-DEB0-68D293C88F72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6EC3EC35-634D-552D-C066-493D75203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177" y="2003618"/>
            <a:ext cx="3857625" cy="38766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205939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Como tercer paso, se crea el proyecto web que permite un funcionamiento multiplataforma.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deben tener en cuenta los siguientes pasos para desarrollar el proyecto.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8D7D4084-E15B-927F-F008-40F3C58FF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62" y="3158736"/>
            <a:ext cx="5927165" cy="315052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D556-FD41-F747-C6C7-BC40AB39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591DB-2A6B-5BD4-DDB2-24567970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BB1B33-111D-4166-3970-ADFCF62A8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Asignación de la ruta del proyecto.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680D01-D5CA-A960-3D44-0065B7ED13D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2C7415-E5DE-D501-E487-E0F927B17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752" y="2925943"/>
            <a:ext cx="5173576" cy="33678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996237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Estructura WEB.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0748F6-4802-AC72-4B83-98918CC55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772" y="2339536"/>
            <a:ext cx="3917777" cy="37190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Vista principal index.html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325C99A8-3F22-0259-D8A0-CDB033C96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435" y="2697631"/>
            <a:ext cx="6271875" cy="325819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FEBBD-2D3F-5758-B619-5D94FA874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7CE46-A97A-E8B3-3DF2-D0DAA4A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F6C5D3-E69D-EBEA-5CC6-A19D887C7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MX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Ejecución de la pantalla menú.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67D646-EE7D-2E8B-D6EA-0C45CFF707D9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61CBD22C-C0B6-C701-FA3B-368D8CEF3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258" y="2710659"/>
            <a:ext cx="7540331" cy="288274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466237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71A48-1BFC-4DEE-281B-1254D7E1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E169D-B8EC-A6C1-ECBC-D309F749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25AEAA-2282-4312-8463-B1E62F906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</a:t>
            </a:r>
            <a:r>
              <a:rPr lang="es-MX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Ejecución pantalla Catalogo de Teléfonos.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BC05C7-91CB-D1C2-4D8A-308CB676C0D9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24C299-5D0F-FBF4-13DD-9567B5D0F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27" y="2764154"/>
            <a:ext cx="6328769" cy="33916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00839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B8FD-FD8F-2A8A-B8A5-F3920F34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7F0C7-38A4-64FC-8AE0-24368B37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00C2D2-A0CA-D954-4A0F-B50452BA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Registro de teléfono exitoso.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48D6B6-EED4-A265-754F-608B03F0F45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EBB9ED4-7D1F-7903-33AE-9F706E969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82" y="2840190"/>
            <a:ext cx="7670381" cy="33156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191473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26E2-2350-0004-19CE-84E1F8D0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1734-9E00-C844-9417-8AD2C316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FB6415-6A92-5009-15AF-5631839D3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Tabla de registro de teléfonos generados.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380428-57E5-363E-CEBA-18A23E9BF4E1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5FF50A3E-555A-AEC4-1C61-F77B1963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962" y="2599392"/>
            <a:ext cx="3341945" cy="376516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683372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8363-66B7-C13D-9D75-80BD8E73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18BF1-131D-6652-D826-5A010DC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5645CB-BD3E-ECC7-F13E-AA33CD234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Actualización de teléfono móvil.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7FD9AD-1154-42FC-6EAD-1CCB8287E2DD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FB7BC7F4-3E3D-D4CD-7749-0659B823F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42" y="2889140"/>
            <a:ext cx="7910209" cy="299609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023226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2C11-DC57-C5DB-AD4E-50B5EE33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985DC-357B-D298-EEDB-A91F9E56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BE42D6-80D0-8569-F69E-B88FE7280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Campo actualizado.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8499B3-3529-65AE-3121-F4707CA60D54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abla&#10;&#10;Descripción generada automáticamente con confianza media">
            <a:extLst>
              <a:ext uri="{FF2B5EF4-FFF2-40B4-BE49-F238E27FC236}">
                <a16:creationId xmlns:a16="http://schemas.microsoft.com/office/drawing/2014/main" id="{B8E6454C-16E3-F19F-4B07-DE12203834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922" b="11111"/>
          <a:stretch/>
        </p:blipFill>
        <p:spPr bwMode="auto">
          <a:xfrm>
            <a:off x="1413543" y="3429000"/>
            <a:ext cx="6242125" cy="12705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669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126F-52E1-E429-A2F7-342A901E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4085C-5288-1F59-4A0B-32DA76DD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F7BC7C-23E6-55D6-8C00-9814556C9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Eliminar un teléfono.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EC3472-40F6-B3DB-195A-F8CFF21B938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860968-6836-07FC-F246-549E962D7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06" y="2924065"/>
            <a:ext cx="7690422" cy="29028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461391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8ABF-309B-B143-0085-C4FAD570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6C765-3751-E87E-2ADA-553B54F5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F966E4-84BC-D251-DB79-2FF5F37D8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Comprobación de teléfono eliminado.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4B33B45-C9F3-3623-A5FF-92370D6B549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C1FE41DF-47EA-1D8A-C64F-4848514A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515" y="2819810"/>
            <a:ext cx="2338705" cy="2934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005782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3F92-8E9C-8A6F-7B2F-008CD202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3D65B-F45D-B2C4-2432-A8F143FD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D0ABB-A59B-DFBA-BC03-C5C1A7AF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Pantalla principal de facturación.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AF39FA0-7DB3-F253-FE9E-13A0E39158B8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0137C3C1-0C14-1CF7-C88A-F55B39BDA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97" y="2852363"/>
            <a:ext cx="6843271" cy="29550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707872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CBFF-6678-F600-A108-8E6F5F5C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109BA-BA94-B7F9-61CC-3CA3AD1A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5CC9D1-4337-FD50-E259-2A37DEC77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Campos completados para la facturación con el total.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7B42F5-23B9-BAFF-E844-BD339DA9FAB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59545AB9-AADC-3E58-A296-CC32D6E4A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17" y="3037654"/>
            <a:ext cx="4331256" cy="24110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56F762A0-2A59-DFD0-78B0-35B5FD4E5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001" y="3037654"/>
            <a:ext cx="2766695" cy="24110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699800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F35D-307F-2E38-022F-065C7421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BBD9E-6DB4-F257-3C35-DA44D368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37E967-AF57-F754-4171-64B12AB53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Procesamiento de pago con efectivo exitosamente.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D2A36AF-C918-E3AB-6B3C-C352E6B8D80A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9346C12-E10E-C56D-DAD5-C66E8EB8B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609" y="2827657"/>
            <a:ext cx="3248106" cy="33030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824516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DA7D-9FD2-D874-16FB-5088CA6A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49F93-2178-E702-296D-9E177434C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AEE72-ABDE-24F9-0510-666E4F1E1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14.	</a:t>
            </a:r>
            <a:r>
              <a:rPr lang="es-MX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Procesamiento para pago con crédito.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AE5664-66B5-8B8F-5F59-7EFDE8C6A40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59E1B06F-9D1C-6EAC-D27E-9F66D5469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829" y="2848481"/>
            <a:ext cx="3734977" cy="30562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260699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BFDF8-A140-C0E4-F25A-795F0B6B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DAACF-9C1E-20F5-F281-6282362C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665367-F887-8BAA-E5F9-C5546B683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Verificación de crédito activo.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4C6E22-12FC-E191-F237-621F4D1BD00D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4E2CD033-0CAF-E1D2-7C85-5AC134362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789" y="2844556"/>
            <a:ext cx="3822153" cy="30504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654659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EB17-6A52-EDD8-9B4A-88F8B8AF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EBA06-CD75-F3E5-34BC-54EDF1DB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71DAD-E2BC-5F7C-A7F9-0222FFCF1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Pago de cuotas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23CBEB-02D3-55BB-34B7-29D3FFE0D35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AD2EFC-64D2-D368-8F8E-7266CB12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40" y="3028372"/>
            <a:ext cx="7817242" cy="31274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906792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BD4A-7E7E-F592-A7BF-EEA47699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581E6-20A9-4334-C9B5-AA8F31CA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CD27A-E640-DAFF-2CD5-AB4833883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Tabla de facturas (Efectivo/Crédito).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3196DD-8516-B0EE-B7B7-3ACFF75C87D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2B89FF-856F-6298-F0E6-6400D763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35" y="2730741"/>
            <a:ext cx="7283510" cy="386461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446859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948B-968B-853A-FE15-69F8630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85AA4-E943-34CF-A718-1F67CE83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A044BC-9252-A7F3-FAFD-3001EE7EB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18.	</a:t>
            </a:r>
            <a:r>
              <a:rPr lang="es-MX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Comprobación del monto máximo de crédito de los clientes.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E02601-2863-2F02-E65F-8D2EFC9282E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1AB86B10-37B6-EFB6-CB80-3813B519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77" y="3028372"/>
            <a:ext cx="7542301" cy="30027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123606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0F15-E358-5D7B-0ACC-59233A07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115C8-12B4-2755-F133-9B88E946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A88843-6139-2E51-24FB-90122850B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19.	</a:t>
            </a:r>
            <a:r>
              <a:rPr lang="es-MX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Vista de la tabla de amortización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5335FE-D0C0-73F0-C6B3-EB6D8D781E8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3CEC56C5-FD2F-3A8A-FA57-D54CD748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895" y="2880724"/>
            <a:ext cx="6877931" cy="34130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675598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Estructura proyecto cliente móvil.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22D371-3EFC-B3FD-5851-0B2C3302E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86" y="2576596"/>
            <a:ext cx="4954270" cy="26352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0D71B1-7CD2-52FE-3EE5-316833FA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8" y="4054642"/>
            <a:ext cx="3077277" cy="189542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MVC, clases en diferentes paquetes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5F2852-6766-21EB-8A72-7FC1AB8BD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472" y="2985170"/>
            <a:ext cx="4322842" cy="136224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80D14E5-DD6E-7ECB-8E12-E349831FF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398" y="4996854"/>
            <a:ext cx="5172766" cy="99623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móvil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C4675C-BA55-A111-4BB9-59D757B91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795" y="2746742"/>
            <a:ext cx="1752600" cy="39954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21B90451-D8E9-B502-066B-4117707EC1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928" y="2720007"/>
            <a:ext cx="1795780" cy="40944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996FEA8-27AA-DCA2-F524-C996EE7F9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694" y="2650047"/>
            <a:ext cx="4179102" cy="1940297"/>
          </a:xfrm>
          <a:prstGeom prst="rect">
            <a:avLst/>
          </a:prstGeom>
        </p:spPr>
      </p:pic>
      <p:pic>
        <p:nvPicPr>
          <p:cNvPr id="13" name="Imagen 1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26659BE-8A95-05F9-7494-0ED5DD8E42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945" y="4772444"/>
            <a:ext cx="4071851" cy="178565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diseño de un servidor REST centralizado permite desacoplar el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los clientes, asegurando consistencia en los datos y funcionalidades accesibles desde diversas plataformas.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arquitectura basada en microservicios facilita el desarrollo, despliegue y escalabilidad independiente de cada componente, permitiendo manejar cargas variables de manera eficiente.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2214100"/>
            <a:ext cx="8500664" cy="2429799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 NetBeans como tu IDE para desarrollar tanto el servidor REST en Java como los clientes. NetBeans ofrece soporte robusto para Java y múltiples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facilitando la integración y el manejo del proyecto completo en un solo entorno.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 pruebas unitarias, de integración y funcionales directamente desde NetBeans. Además, establece un ciclo de despliegue continuo (CI/CD) utilizando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plugins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NetBeans para herramientas como Jenkins, facilitando actualizaciones rápidas y sin interrupciones.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/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	«Desarrollo y servicios Web.,» 26 SEP 2019. [En línea].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http://www.eumed.net/tesis-doctorales/2007/cavl/Desarrollo%20y%20servicios%20Web.htm. .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	M.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Rodríguez, “SOA vs. REST y REST”, Adictos al trabajo, 2014. . 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5417</Words>
  <Application>Microsoft Office PowerPoint</Application>
  <PresentationFormat>Panorámica</PresentationFormat>
  <Paragraphs>1245</Paragraphs>
  <Slides>83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83</vt:i4>
      </vt:variant>
    </vt:vector>
  </HeadingPairs>
  <TitlesOfParts>
    <vt:vector size="88" baseType="lpstr">
      <vt:lpstr>Cambria</vt:lpstr>
      <vt:lpstr>Gill Sans MT</vt:lpstr>
      <vt:lpstr>Symbol</vt:lpstr>
      <vt:lpstr>Wingdings 2</vt:lpstr>
      <vt:lpstr>Dividendo</vt:lpstr>
      <vt:lpstr>MANUAL EUREKA BANK CON REST  Y BASE DE DATOS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Aplicación web con MVC implementado en JAVA Caso Practico Saltos “MONSTER”</dc:title>
  <dc:creator>Michael Villarruel</dc:creator>
  <cp:lastModifiedBy>Christian Jhonatan Andrango Carchipulla</cp:lastModifiedBy>
  <cp:revision>2</cp:revision>
  <dcterms:created xsi:type="dcterms:W3CDTF">2020-08-13T07:15:02Z</dcterms:created>
  <dcterms:modified xsi:type="dcterms:W3CDTF">2024-12-14T22:42:17Z</dcterms:modified>
</cp:coreProperties>
</file>