
<file path=[Content_Types].xml><?xml version="1.0" encoding="utf-8"?>
<ns0:Types xmlns:ns0="http://schemas.openxmlformats.org/package/2006/content-types">
  <ns0:Default Extension="png" ContentType="image/png"/>
  <ns0:Default Extension="jpeg" ContentType="image/jpe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0.xml" ContentType="application/vnd.openxmlformats-officedocument.presentationml.slide+xml"/>
  <ns0:Override PartName="/ppt/slides/slide31.xml" ContentType="application/vnd.openxmlformats-officedocument.presentationml.slide+xml"/>
  <ns0:Override PartName="/ppt/slides/slide32.xml" ContentType="application/vnd.openxmlformats-officedocument.presentationml.slide+xml"/>
  <ns0:Override PartName="/ppt/slides/slide33.xml" ContentType="application/vnd.openxmlformats-officedocument.presentationml.slide+xml"/>
  <ns0:Override PartName="/ppt/slides/slide34.xml" ContentType="application/vnd.openxmlformats-officedocument.presentationml.slide+xml"/>
  <ns0:Override PartName="/ppt/slides/slide35.xml" ContentType="application/vnd.openxmlformats-officedocument.presentationml.slide+xml"/>
  <ns0:Override PartName="/ppt/slides/slide36.xml" ContentType="application/vnd.openxmlformats-officedocument.presentationml.slide+xml"/>
  <ns0:Override PartName="/ppt/slides/slide37.xml" ContentType="application/vnd.openxmlformats-officedocument.presentationml.slide+xml"/>
  <ns0:Override PartName="/ppt/slides/slide38.xml" ContentType="application/vnd.openxmlformats-officedocument.presentationml.slide+xml"/>
  <ns0:Override PartName="/ppt/slides/slide39.xml" ContentType="application/vnd.openxmlformats-officedocument.presentationml.slide+xml"/>
  <ns0:Override PartName="/ppt/slides/slide40.xml" ContentType="application/vnd.openxmlformats-officedocument.presentationml.slide+xml"/>
  <ns0:Override PartName="/ppt/slides/slide41.xml" ContentType="application/vnd.openxmlformats-officedocument.presentationml.slide+xml"/>
  <ns0:Override PartName="/ppt/slides/slide42.xml" ContentType="application/vnd.openxmlformats-officedocument.presentationml.slide+xml"/>
  <ns0:Override PartName="/ppt/slides/slide43.xml" ContentType="application/vnd.openxmlformats-officedocument.presentationml.slide+xml"/>
  <ns0:Override PartName="/ppt/slides/slide44.xml" ContentType="application/vnd.openxmlformats-officedocument.presentationml.slide+xml"/>
  <ns0:Override PartName="/ppt/commentAuthors.xml" ContentType="application/vnd.openxmlformats-officedocument.presentationml.commentAuthors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revisionInfo.xml" ContentType="application/vnd.ms-powerpoint.revisioninfo+xml"/>
</ns0: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1" r:id="rId4"/>
    <p:sldId id="325" r:id="rId5"/>
    <p:sldId id="326" r:id="rId6"/>
    <p:sldId id="327" r:id="rId7"/>
    <p:sldId id="328" r:id="rId8"/>
    <p:sldId id="329" r:id="rId9"/>
    <p:sldId id="331" r:id="rId10"/>
    <p:sldId id="332" r:id="rId11"/>
    <p:sldId id="333" r:id="rId12"/>
    <p:sldId id="334" r:id="rId13"/>
    <p:sldId id="344" r:id="rId14"/>
    <p:sldId id="346" r:id="rId15"/>
    <p:sldId id="347" r:id="rId16"/>
    <p:sldId id="387" r:id="rId17"/>
    <p:sldId id="350" r:id="rId18"/>
    <p:sldId id="352" r:id="rId19"/>
    <p:sldId id="353" r:id="rId20"/>
    <p:sldId id="354" r:id="rId21"/>
    <p:sldId id="358" r:id="rId22"/>
    <p:sldId id="385" r:id="rId23"/>
    <p:sldId id="386" r:id="rId24"/>
    <p:sldId id="360" r:id="rId25"/>
    <p:sldId id="362" r:id="rId26"/>
    <p:sldId id="363" r:id="rId27"/>
    <p:sldId id="364" r:id="rId28"/>
    <p:sldId id="365" r:id="rId29"/>
    <p:sldId id="366" r:id="rId30"/>
    <p:sldId id="384" r:id="rId31"/>
    <p:sldId id="367" r:id="rId32"/>
    <p:sldId id="368" r:id="rId33"/>
    <p:sldId id="369" r:id="rId34"/>
    <p:sldId id="370" r:id="rId35"/>
    <p:sldId id="371" r:id="rId36"/>
    <p:sldId id="373" r:id="rId37"/>
    <p:sldId id="377" r:id="rId38"/>
    <p:sldId id="378" r:id="rId39"/>
    <p:sldId id="380" r:id="rId40"/>
    <p:sldId id="381" r:id="rId41"/>
    <p:sldId id="383" r:id="rId42"/>
    <p:sldId id="324" r:id="rId43"/>
    <p:sldId id="262" r:id="rId44"/>
    <p:sldId id="263" r:id="rId4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el Villarruel" initials="MV" lastIdx="2" clrIdx="0">
    <p:extLst>
      <p:ext uri="{19B8F6BF-5375-455C-9EA6-DF929625EA0E}">
        <p15:presenceInfo xmlns:p15="http://schemas.microsoft.com/office/powerpoint/2012/main" userId="Michael Villarru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EF79BE-009C-4351-AE72-D725BD6CB2E5}" v="35" dt="2024-12-09T13:31:28.384"/>
    <p1510:client id="{E96F6CC8-2945-2AC7-4049-9F4E9634ABF6}" v="11" dt="2024-12-09T13:51:29.801"/>
    <p1510:client id="{FBE15C73-4593-071E-EB60-B2DA758EDEBF}" v="56" dt="2024-12-09T13:48:08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presProps" Target="presProps.xml" /><Relationship Id="rId50" Type="http://schemas.openxmlformats.org/officeDocument/2006/relationships/tableStyles" Target="tableStyles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9" Type="http://schemas.openxmlformats.org/officeDocument/2006/relationships/slide" Target="slides/slide28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viewProps" Target="viewProps.xml" /><Relationship Id="rId8" Type="http://schemas.openxmlformats.org/officeDocument/2006/relationships/slide" Target="slides/slide7.xml" /><Relationship Id="rId51" Type="http://schemas.microsoft.com/office/2015/10/relationships/revisionInfo" Target="revisionInfo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commentAuthors" Target="commentAuthors.xml" /><Relationship Id="rId20" Type="http://schemas.openxmlformats.org/officeDocument/2006/relationships/slide" Target="slides/slide19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0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4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56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8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7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0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3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41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0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9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02504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951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celular_s04_p4.pn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celular_s05_p7.png" /><Relationship Id="rId5" Type="http://schemas.openxmlformats.org/officeDocument/2006/relationships/image" Target="../media/celular_s05_p6.pn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celular_s06_p7.png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celular_s07_p8.png" /><Relationship Id="rId5" Type="http://schemas.openxmlformats.org/officeDocument/2006/relationships/image" Target="../media/celular_s07_p10.png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celular_s08_p7.pn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celular_s09_p4.png" /><Relationship Id="rId5" Type="http://schemas.openxmlformats.org/officeDocument/2006/relationships/image" Target="../media/celular_s09_p8.pn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celular_s10_p6.png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celular_s11_p6.png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celular_s12_p4.png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celular_s13_p6.png" /><Relationship Id="rId5" Type="http://schemas.openxmlformats.org/officeDocument/2006/relationships/image" Target="../media/celular_s13_p7.png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celular_s14_p6.png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celular_s15_p4.png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celular_s16_p7.png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celular_s17_p6.png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celular_s18_p6.png" /><Relationship Id="rId5" Type="http://schemas.openxmlformats.org/officeDocument/2006/relationships/image" Target="../media/celular_s18_p7.png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celular_s19_p6.png" /><Relationship Id="rId5" Type="http://schemas.openxmlformats.org/officeDocument/2006/relationships/image" Target="../media/celular_s19_p7.pn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celular_s20_p8.png" /><Relationship Id="rId5" Type="http://schemas.openxmlformats.org/officeDocument/2006/relationships/image" Target="../media/celular_s20_p9.pn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celular_s21_p6.png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celular_s22_p4.png" /><Relationship Id="rId5" Type="http://schemas.openxmlformats.org/officeDocument/2006/relationships/image" Target="../media/celular_s22_p7.png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celular_s23_p4.png" /><Relationship Id="rId5" Type="http://schemas.openxmlformats.org/officeDocument/2006/relationships/image" Target="../media/celular_s23_p7.png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celular_s24_p6.png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celular_s25_p7.png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celular_s26_p6.png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celular_s27_p6.png" /><Relationship Id="rId5" Type="http://schemas.openxmlformats.org/officeDocument/2006/relationships/image" Target="../media/celular_s27_p7.png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celular_s28_p4.png" /><Relationship Id="rId5" Type="http://schemas.openxmlformats.org/officeDocument/2006/relationships/image" Target="../media/celular_s28_p7.png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celular_s29_p6.png" /><Relationship Id="rId5" Type="http://schemas.openxmlformats.org/officeDocument/2006/relationships/image" Target="../media/celular_s29_p7.png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5" Type="http://schemas.openxmlformats.org/officeDocument/2006/relationships/image" Target="../media/celular_s30_p7.png" /><Relationship Id="rId6" Type="http://schemas.openxmlformats.org/officeDocument/2006/relationships/image" Target="../media/celular_s30_p4.png" /><Relationship Id="rId7" Type="http://schemas.openxmlformats.org/officeDocument/2006/relationships/image" Target="../media/celular_s30_p9.png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celular_s31_p4.png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celular_s32_p6.png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celular_s33_p7.png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celular_s34_p4.png" /><Relationship Id="rId5" Type="http://schemas.openxmlformats.org/officeDocument/2006/relationships/image" Target="../media/celular_s34_p8.png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celular_s35_p6.png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celular_s36_p7.png" /><Relationship Id="rId5" Type="http://schemas.openxmlformats.org/officeDocument/2006/relationships/image" Target="../media/celular_s36_p4.png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celular_s37_p7.png" /><Relationship Id="rId5" Type="http://schemas.openxmlformats.org/officeDocument/2006/relationships/image" Target="../media/celular_s37_p3.png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celular_s38_p7.png" /><Relationship Id="rId5" Type="http://schemas.openxmlformats.org/officeDocument/2006/relationships/image" Target="../media/celular_s38_p8.png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5" Type="http://schemas.openxmlformats.org/officeDocument/2006/relationships/image" Target="../media/celular_s39_p4.png" /><Relationship Id="rId6" Type="http://schemas.openxmlformats.org/officeDocument/2006/relationships/image" Target="../media/celular_s39_p7.png" /><Relationship Id="rId7" Type="http://schemas.openxmlformats.org/officeDocument/2006/relationships/image" Target="../media/celular_s39_p9.png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7" Type="http://schemas.openxmlformats.org/officeDocument/2006/relationships/image" Target="../media/celular_s40_p3.png" /><Relationship Id="rId8" Type="http://schemas.openxmlformats.org/officeDocument/2006/relationships/image" Target="../media/celular_s40_p8.png" /><Relationship Id="rId9" Type="http://schemas.openxmlformats.org/officeDocument/2006/relationships/image" Target="../media/celular_s40_p9.png" /><Relationship Id="rId10" Type="http://schemas.openxmlformats.org/officeDocument/2006/relationships/image" Target="../media/celular_s40_p10.png" /><Relationship Id="rId11" Type="http://schemas.openxmlformats.org/officeDocument/2006/relationships/image" Target="../media/celular_s40_p11.png" /></Relationships>
</file>

<file path=ppt/slides/_rels/slide4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5" Type="http://schemas.openxmlformats.org/officeDocument/2006/relationships/image" Target="../media/celular_s41_p3.png" /><Relationship Id="rId6" Type="http://schemas.openxmlformats.org/officeDocument/2006/relationships/image" Target="../media/celular_s41_p10.png" /><Relationship Id="rId7" Type="http://schemas.openxmlformats.org/officeDocument/2006/relationships/image" Target="../media/celular_s41_p7.png" /></Relationships>
</file>

<file path=ppt/slides/_rels/slide4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8956176-055A-4F41-9A1C-5A8ABC57A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</p:spPr>
        <p:txBody>
          <a:bodyPr>
            <a:normAutofit/>
          </a:bodyPr>
          <a:lstStyle/>
          <a:p>
            <a:pPr algn="ctr"/>
            <a:r>
              <a:rPr lang="en-US" smtClean="0">
                <a:solidFill>
                  <a:schemeClr val="bg1"/>
                </a:solidFill>
              </a:rPr>
              <a:t>MANUAL</a:t>
            </a:r>
            <a:br>
              <a:rPr lang="en-US" smtClean="0">
                <a:solidFill>
                  <a:schemeClr val="bg1"/>
                </a:solidFill>
              </a:rPr>
            </a:br>
            <a:r>
              <a:rPr lang="en-US" smtClean="0">
                <a:solidFill>
                  <a:schemeClr val="bg1"/>
                </a:solidFill>
              </a:rPr>
              <a:t>CELULAR BDDLOCAL REST · SQL SERVER · .NET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3D0C571E-A349-4667-927F-5916BE607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6" y="4809744"/>
            <a:ext cx="4261531" cy="1812758"/>
          </a:xfrm>
        </p:spPr>
        <p:txBody>
          <a:bodyPr>
            <a:normAutofit/>
          </a:bodyPr>
          <a:lstStyle/>
          <a:p>
            <a:r>
              <a:rPr lang="es-EC" b="1" smtClean="0">
                <a:solidFill>
                  <a:schemeClr val="bg1"/>
                </a:solidFill>
              </a:rPr>
              <a:t>Grupo 09 · NRC 36884</a:t>
            </a:r>
            <a:endParaRPr lang="es-EC" b="1">
              <a:solidFill>
                <a:schemeClr val="bg1"/>
              </a:solidFill>
            </a:endParaRPr>
          </a:p>
          <a:p>
            <a:r>
              <a:rPr lang="es-EC" smtClean="0">
                <a:solidFill>
                  <a:schemeClr val="bg1"/>
                </a:solidFill>
              </a:rPr>
              <a:t>Arquitectura de software</a:t>
            </a:r>
            <a:endParaRPr lang="es-EC">
              <a:solidFill>
                <a:schemeClr val="bg1"/>
              </a:solidFill>
            </a:endParaRPr>
          </a:p>
          <a:p>
            <a:r>
              <a:rPr lang="es-EC" smtClean="0">
                <a:solidFill>
                  <a:schemeClr val="bg1"/>
                </a:solidFill>
              </a:rPr>
              <a:t>CELULAR BDDLOCAL · 2026</a:t>
            </a:r>
            <a:endParaRPr lang="es-EC">
              <a:solidFill>
                <a:schemeClr val="bg1"/>
              </a:solidFill>
            </a:endParaRPr>
          </a:p>
          <a:p>
            <a:endParaRPr lang="es-EC">
              <a:solidFill>
                <a:schemeClr val="bg1"/>
              </a:solidFill>
            </a:endParaRPr>
          </a:p>
        </p:txBody>
      </p:sp>
      <p:pic>
        <p:nvPicPr>
          <p:cNvPr id="1026" name="Picture 2" descr="Resultado de imagen para espe">
            <a:extLst>
              <a:ext uri="{FF2B5EF4-FFF2-40B4-BE49-F238E27FC236}">
                <a16:creationId xmlns:a16="http://schemas.microsoft.com/office/drawing/2014/main" xmlns="" id="{F414D571-4BC8-480A-8CAB-8B16FE515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97" y="716302"/>
            <a:ext cx="11647502" cy="219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xmlns="" id="{1967A448-01D9-4956-A50F-F9BFFBEC42EB}"/>
              </a:ext>
            </a:extLst>
          </p:cNvPr>
          <p:cNvSpPr txBox="1">
            <a:spLocks/>
          </p:cNvSpPr>
          <p:nvPr/>
        </p:nvSpPr>
        <p:spPr>
          <a:xfrm>
            <a:off x="7863840" y="5301801"/>
            <a:ext cx="3931920" cy="1235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FECHA: 27/10/2026</a:t>
            </a:r>
            <a:endParaRPr lang="es-EC">
              <a:solidFill>
                <a:prstClr val="white"/>
              </a:solidFill>
              <a:latin typeface="Gill Sans MT" panose="020B0502020104020203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VARIANTE: .NET · REST</a:t>
            </a:r>
            <a:endParaRPr kumimoji="0" lang="es-EC" sz="1600" b="1" i="0" u="none" strike="noStrike" kern="120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8B78AAB0-61A1-4632-A25D-4FC9433D59B1}"/>
              </a:ext>
            </a:extLst>
          </p:cNvPr>
          <p:cNvSpPr txBox="1"/>
          <p:nvPr/>
        </p:nvSpPr>
        <p:spPr>
          <a:xfrm>
            <a:off x="11689659" y="6400896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06866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8F404549-B4DC-481C-926C-DED3EF1C58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1E8FD5CD-351E-4B06-8B78-BD5102D009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E7FCC8BE-29CF-4C4C-BE9D-AC08DC5E4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701336"/>
            <a:ext cx="3389726" cy="54242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>
                <a:solidFill>
                  <a:schemeClr val="bg1"/>
                </a:solidFill>
              </a:rPr>
              <a:t>DESARROLLO</a:t>
            </a:r>
            <a:endParaRPr lang="es-ES">
              <a:solidFill>
                <a:schemeClr val="bg1"/>
              </a:solidFill>
            </a:endParaRPr>
          </a:p>
          <a:p>
            <a:pPr lvl="1"/>
            <a:r>
              <a:rPr lang="es-ES" smtClean="0">
                <a:solidFill>
                  <a:schemeClr val="bg1"/>
                </a:solidFill>
              </a:rPr>
              <a:t>OBJETIVO Y ALCANCE</a:t>
            </a:r>
            <a:endParaRPr lang="es-ES">
              <a:solidFill>
                <a:schemeClr val="bg1"/>
              </a:solidFill>
            </a:endParaRPr>
          </a:p>
          <a:p>
            <a:pPr lvl="1"/>
            <a:r>
              <a:rPr lang="es-ES" smtClean="0">
                <a:solidFill>
                  <a:schemeClr val="bg1"/>
                </a:solidFill>
              </a:rPr>
              <a:t>CASOS DE USO</a:t>
            </a:r>
            <a:endParaRPr lang="es-ES">
              <a:solidFill>
                <a:schemeClr val="bg1"/>
              </a:solidFill>
            </a:endParaRPr>
          </a:p>
          <a:p>
            <a:pPr lvl="1"/>
            <a:r>
              <a:rPr lang="es-ES" smtClean="0">
                <a:solidFill>
                  <a:schemeClr val="bg1"/>
                </a:solidFill>
              </a:rPr>
              <a:t>MODELO CONCEPTUAL</a:t>
            </a:r>
            <a:endParaRPr lang="es-ES">
              <a:solidFill>
                <a:schemeClr val="bg1"/>
              </a:solidFill>
            </a:endParaRPr>
          </a:p>
          <a:p>
            <a:pPr lvl="1"/>
            <a:r>
              <a:rPr lang="es-ES" smtClean="0">
                <a:solidFill>
                  <a:schemeClr val="bg1"/>
                </a:solidFill>
              </a:rPr>
              <a:t>MODELO LÓGICO</a:t>
            </a:r>
            <a:endParaRPr lang="es-ES">
              <a:solidFill>
                <a:schemeClr val="bg1"/>
              </a:solidFill>
            </a:endParaRPr>
          </a:p>
          <a:p>
            <a:pPr marL="763200" lvl="1">
              <a:defRPr/>
            </a:pPr>
            <a:r>
              <a:rPr lang="es-ES" sz="1800" smtClean="0">
                <a:solidFill>
                  <a:schemeClr val="bg1"/>
                </a:solidFill>
              </a:rPr>
              <a:t>MODELO FÍSICO · SQL SERVER</a:t>
            </a:r>
            <a:endParaRPr lang="es-ES" sz="1800">
              <a:solidFill>
                <a:schemeClr val="bg1"/>
              </a:solidFill>
            </a:endParaRPr>
          </a:p>
          <a:p>
            <a:pPr marL="763200" lvl="1">
              <a:defRPr/>
            </a:pPr>
            <a:r>
              <a:rPr lang="es-ES" sz="1800" smtClean="0">
                <a:solidFill>
                  <a:schemeClr val="bg1"/>
                </a:solidFill>
              </a:rPr>
              <a:t>CONFIGURAR BASE DE DATOS</a:t>
            </a:r>
            <a:endParaRPr lang="es-ES" sz="1800">
              <a:solidFill>
                <a:schemeClr val="bg1"/>
              </a:solidFill>
            </a:endParaRPr>
          </a:p>
          <a:p>
            <a:pPr marL="763200" lvl="1">
              <a:defRPr/>
            </a:pPr>
            <a:r>
              <a:rPr lang="es-ES" sz="1800" smtClean="0">
                <a:solidFill>
                  <a:schemeClr val="bg1"/>
                </a:solidFill>
              </a:rPr>
              <a:t>API REST Y PERSISTENCIA</a:t>
            </a:r>
            <a:endParaRPr lang="es-ES" sz="1800">
              <a:solidFill>
                <a:schemeClr val="bg1"/>
              </a:solidFill>
            </a:endParaRPr>
          </a:p>
          <a:p>
            <a:pPr marL="763200" lvl="1">
              <a:defRPr/>
            </a:pPr>
            <a:r>
              <a:rPr lang="es-ES" sz="1800" smtClean="0">
                <a:solidFill>
                  <a:schemeClr val="bg1"/>
                </a:solidFill>
              </a:rPr>
              <a:t>ADMINISTRAR FOTOS</a:t>
            </a:r>
            <a:endParaRPr lang="es-ES" sz="1800">
              <a:solidFill>
                <a:schemeClr val="bg1"/>
              </a:solidFill>
            </a:endParaRPr>
          </a:p>
          <a:p>
            <a:pPr marL="763200" lvl="1">
              <a:defRPr/>
            </a:pPr>
            <a:r>
              <a:rPr lang="es-ES" sz="1800" smtClean="0">
                <a:solidFill>
                  <a:schemeClr val="bg1"/>
                </a:solidFill>
              </a:rPr>
              <a:t>CLIENTE CONSOLA</a:t>
            </a:r>
            <a:endParaRPr lang="es-ES" sz="1800">
              <a:solidFill>
                <a:schemeClr val="bg1"/>
              </a:solidFill>
            </a:endParaRPr>
          </a:p>
          <a:p>
            <a:pPr marL="763200" lvl="1">
              <a:defRPr/>
            </a:pPr>
            <a:r>
              <a:rPr lang="es-ES" sz="1800" smtClean="0">
                <a:solidFill>
                  <a:schemeClr val="bg1"/>
                </a:solidFill>
              </a:rPr>
              <a:t>CLIENTE ESCRITORIO WPF</a:t>
            </a:r>
            <a:endParaRPr lang="es-ES" sz="1800">
              <a:solidFill>
                <a:schemeClr val="bg1"/>
              </a:solidFill>
            </a:endParaRP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 smtClean="0">
                <a:solidFill>
                  <a:schemeClr val="bg1"/>
                </a:solidFill>
              </a:rPr>
              <a:t>CLIENTE WEB Y MÓVIL</a:t>
            </a:r>
            <a:endParaRPr lang="es-ES">
              <a:solidFill>
                <a:schemeClr val="bg1"/>
              </a:solidFill>
            </a:endParaRP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 smtClean="0">
                <a:solidFill>
                  <a:schemeClr val="bg1"/>
                </a:solidFill>
              </a:rPr>
              <a:t>CONCLUSIONES Y RECOMENDACIONES</a:t>
            </a:r>
            <a:endParaRPr lang="es-ES">
              <a:solidFill>
                <a:schemeClr val="bg1"/>
              </a:solidFill>
            </a:endParaRP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 smtClean="0">
                <a:solidFill>
                  <a:schemeClr val="bg1"/>
                </a:solidFill>
              </a:rPr>
              <a:t>BIBLIOGRAFÍA</a:t>
            </a:r>
            <a:endParaRPr lang="es-ES">
              <a:solidFill>
                <a:schemeClr val="bg1"/>
              </a:solidFill>
            </a:endParaRPr>
          </a:p>
        </p:txBody>
      </p:sp>
      <p:pic>
        <p:nvPicPr>
          <p:cNvPr id="6" name="Picture 2" descr="Resultado de imagen para AGENDA PNG">
            <a:extLst>
              <a:ext uri="{FF2B5EF4-FFF2-40B4-BE49-F238E27FC236}">
                <a16:creationId xmlns:a16="http://schemas.microsoft.com/office/drawing/2014/main" xmlns="" id="{BEAB8E00-371D-4C0F-B6B7-9BEE622AF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91522" y="1935576"/>
            <a:ext cx="6489819" cy="300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xmlns="" id="{2A76E918-E1AF-47F5-B0A9-06C8BD2DAC04}"/>
              </a:ext>
            </a:extLst>
          </p:cNvPr>
          <p:cNvSpPr txBox="1"/>
          <p:nvPr/>
        </p:nvSpPr>
        <p:spPr>
          <a:xfrm>
            <a:off x="11689659" y="6400896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937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2.1 OBJETIVO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Desarrollar una tienda .NET 10 para administrar celulares, fotos y ventas mediante una API REST común.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SQL Server 2025 Express conserva catálogo, imágenes y facturas; BanQuito gestiona el crédito aparte.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xmlns="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1142147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1380851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2.2 MODELO CONCEPTUAL Y LÓGICO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CELULAR se relaciona con FACTURA. Cada factura guarda un celular; la foto es opcional y se almacena en SQL Server.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4" name="Imagen 3" descr="Modelo conceptual de datos de la comercializadora de celulares GR09." title="Modelo conceptual de datos de la comercializadora de celulares GR09.">
            <a:extLst>
              <a:ext uri="{FF2B5EF4-FFF2-40B4-BE49-F238E27FC236}">
                <ns2:creationId id="{1FD01580-FB65-8EA9-91BA-B66940DFA0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2256970" y="3429000"/>
            <a:ext cx="5222131" cy="3274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ns5:creationId val="865893597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2.3 PREPARAR SQL SERVER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Cree ComercializadoraCelulares en SQL Server 2025 Express; proteja la cadena y aplique migración de fotos.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7" name="Imagen 6" descr="Modelo físico SQL Server de la comercializadora de celulares GR09." title="Modelo físico SQL Server de la comercializadora de celulares GR09.">
            <a:extLst>
              <a:ext uri="{FF2B5EF4-FFF2-40B4-BE49-F238E27FC236}">
                <ns2:creationId id="{8C30E6B5-32FE-F0CB-2CDD-61154C4A1F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395980" y="5339869"/>
            <a:ext cx="5400040" cy="815975"/>
          </a:xfrm>
          <a:prstGeom prst="rect">
            <a:avLst/>
          </a:prstGeom>
        </p:spPr>
      </p:pic>
      <p:pic>
        <p:nvPicPr>
          <p:cNvPr id="6" name="Imagen 5" descr="Modelo lógico del catálogo y facturas de la comercializadora de celulares GR09." title="Modelo lógico del catálogo y facturas de la comercializadora de celulares GR09.">
            <a:extLst>
              <a:ext uri="{FF2B5EF4-FFF2-40B4-BE49-F238E27FC236}">
                <ns2:creationId id="{13EA5F8F-CD8E-5CB9-AA7A-A14DB91A90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91821" y="3353592"/>
            <a:ext cx="5031703" cy="1866771"/>
          </a:xfrm>
          <a:prstGeom prst="rect">
            <a:avLst/>
          </a:prstGeom>
        </p:spPr>
      </p:pic>
    </p:spTree>
    <p:extLst>
      <p:ext uri="{BB962C8B-B14F-4D97-AF65-F5344CB8AC3E}">
        <ns4:creationId val="2372064775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modelo comercial usa CELULAR y FACTURA. Cada factura corresponde a un celular; no se maneja inventario.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7" name="Imagen 6" descr="Modelo físico SQL Server de la comercializadora de celulares GR09." title="Modelo físico SQL Server de la comercializadora de celulares GR09.">
            <a:extLst>
              <a:ext uri="{FF2B5EF4-FFF2-40B4-BE49-F238E27FC236}">
                <ns2:creationId id="{D972EEE5-D78B-2BA6-D9CE-E1E7EC3710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332646" y="3636331"/>
            <a:ext cx="3086531" cy="514422"/>
          </a:xfrm>
          <a:prstGeom prst="rect">
            <a:avLst/>
          </a:prstGeom>
        </p:spPr>
      </p:pic>
    </p:spTree>
    <p:extLst>
      <p:ext uri="{BB962C8B-B14F-4D97-AF65-F5344CB8AC3E}">
        <ns4:creationId val="1570658669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9497"/>
            <a:ext cx="8589441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Revise claves y relaciones. IMAGEN e IMAGEN_TIPO quedan nulas cuando el producto no tiene foto.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8" name="Imagen 7" descr="Modelo lógico del catálogo y facturas de la comercializadora de celulares GR09." title="Modelo lógico del catálogo y facturas de la comercializadora de celulares GR09.">
            <a:extLst>
              <a:ext uri="{FF2B5EF4-FFF2-40B4-BE49-F238E27FC236}">
                <ns2:creationId id="{67B0C4C5-6F2C-BC7D-D7A3-C692E4AD9E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41498" y="2998838"/>
            <a:ext cx="4560340" cy="3298723"/>
          </a:xfrm>
          <a:prstGeom prst="rect">
            <a:avLst/>
          </a:prstGeom>
        </p:spPr>
      </p:pic>
      <p:pic>
        <p:nvPicPr>
          <p:cNvPr id="10" name="Imagen 9" descr="Modelo físico SQL Server de la comercializadora de celulares GR09." title="Modelo físico SQL Server de la comercializadora de celulares GR09.">
            <a:extLst>
              <a:ext uri="{FF2B5EF4-FFF2-40B4-BE49-F238E27FC236}">
                <ns2:creationId id="{F4E1E97C-317C-9A8A-F2F1-64D19DE7C4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096000" y="2858556"/>
            <a:ext cx="2343477" cy="3439005"/>
          </a:xfrm>
          <a:prstGeom prst="rect">
            <a:avLst/>
          </a:prstGeom>
        </p:spPr>
      </p:pic>
    </p:spTree>
    <p:extLst>
      <p:ext uri="{BB962C8B-B14F-4D97-AF65-F5344CB8AC3E}">
        <ns4:creationId val="97457025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48998"/>
            <a:ext cx="8589441" cy="763187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imágenes autorizadas. Acepte JPEG, PNG y WebP de hasta 5 MiB; la API valida firma, tipo y tamaño.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7" name="Imagen 6" descr="Modelo conceptual de datos de la comercializadora de celulares GR09." title="Modelo conceptual de datos de la comercializadora de celulares GR09.">
            <a:extLst>
              <a:ext uri="{FF2B5EF4-FFF2-40B4-BE49-F238E27FC236}">
                <ns2:creationId id="{6A2036C3-F8DA-5CFD-F276-C506AA9B37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730477" y="2752601"/>
            <a:ext cx="6848300" cy="3472893"/>
          </a:xfrm>
          <a:prstGeom prst="rect">
            <a:avLst/>
          </a:prstGeom>
        </p:spPr>
      </p:pic>
    </p:spTree>
    <p:extLst>
      <p:ext uri="{BB962C8B-B14F-4D97-AF65-F5344CB8AC3E}">
        <ns4:creationId val="2559156449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2.4 SERVICIO REST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.NET 10 · ASP.NET Core valida catálogo, imágenes y facturas. ADO.NET accede a SQL Server; HttpClient integra BanQuito.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Rutas: /api/celulares · /api/facturas · /api/credito.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4" name="Imagen 3" descr="Arquitectura cliente-servidor de la comercializadora de celulares GR09." title="Arquitectura cliente-servidor de la comercializadora de celulares GR09.">
            <a:extLst>
              <a:ext uri="{FF2B5EF4-FFF2-40B4-BE49-F238E27FC236}">
                <ns2:creationId id="{7574C6E1-040A-44C3-A68A-91B469C0B0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1105" y="4094831"/>
            <a:ext cx="3200400" cy="1104900"/>
          </a:xfrm>
          <a:prstGeom prst="rect">
            <a:avLst/>
          </a:prstGeom>
        </p:spPr>
      </p:pic>
      <p:pic>
        <p:nvPicPr>
          <p:cNvPr id="8" name="Imagen 7" descr="Diagrama de clases, capas y servicios de la comercializadora de celulares GR09." title="Diagrama de clases, capas y servicios de la comercializadora de celulares GR09.">
            <a:extLst>
              <a:ext uri="{FF2B5EF4-FFF2-40B4-BE49-F238E27FC236}">
                <ns2:creationId id="{C8BE97F0-C8CF-200B-E95C-7CFB4162B2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976222" y="3290058"/>
            <a:ext cx="5052757" cy="3407521"/>
          </a:xfrm>
          <a:prstGeom prst="rect">
            <a:avLst/>
          </a:prstGeom>
        </p:spPr>
      </p:pic>
    </p:spTree>
    <p:extLst>
      <p:ext uri="{BB962C8B-B14F-4D97-AF65-F5344CB8AC3E}">
        <ns4:creationId val="3663893953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692" y="1962876"/>
            <a:ext cx="8589441" cy="609601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API .NET 10 · SQL Server 2025 Express · ASP.NET Core REST · BanQuito HTTP independiente.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6" name="Imagen 5" descr="Diagrama de clases, capas y servicios de la comercializadora de celulares GR09." title="Diagrama de clases, capas y servicios de la comercializadora de celulares GR09.">
            <a:extLst>
              <a:ext uri="{FF2B5EF4-FFF2-40B4-BE49-F238E27FC236}">
                <ns2:creationId id="{41490704-DF8F-1A58-6D46-602A9D1806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33454" y="2819397"/>
            <a:ext cx="5400040" cy="3704590"/>
          </a:xfrm>
          <a:prstGeom prst="rect">
            <a:avLst/>
          </a:prstGeom>
        </p:spPr>
      </p:pic>
    </p:spTree>
    <p:extLst>
      <p:ext uri="{BB962C8B-B14F-4D97-AF65-F5344CB8AC3E}">
        <ns4:creationId val="4261152526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242" y="2009047"/>
            <a:ext cx="8589441" cy="60080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Configure ConnectionStrings__BaseDatos y Servicios__BanQuitoUrl solo en servidor. No copie secretos a clientes ni capturas.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6" name="Imagen 5" descr="Modelo físico SQL Server de la comercializadora de celulares GR09." title="Modelo físico SQL Server de la comercializadora de celulares GR09.">
            <a:extLst>
              <a:ext uri="{FF2B5EF4-FFF2-40B4-BE49-F238E27FC236}">
                <ns2:creationId id="{A3FAA425-4E17-9542-8870-EF195166CF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06169" y="2609850"/>
            <a:ext cx="5400040" cy="3792855"/>
          </a:xfrm>
          <a:prstGeom prst="rect">
            <a:avLst/>
          </a:prstGeom>
        </p:spPr>
      </p:pic>
    </p:spTree>
    <p:extLst>
      <p:ext uri="{BB962C8B-B14F-4D97-AF65-F5344CB8AC3E}">
        <ns4:creationId val="2065198200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948226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Aplique 01_CrearBases.sql, 02_DatosPrueba.sql y 03_MigrarImagenes.sql; verifique esquema y servicios.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4" name="Imagen 3" descr="Diagrama de diagrama para administrar catálogo e imágenes." title="Diagrama de diagrama para administrar catálogo e imágenes.">
            <a:extLst>
              <a:ext uri="{FF2B5EF4-FFF2-40B4-BE49-F238E27FC236}">
                <ns2:creationId id="{6DD3F292-7A44-2D15-84D0-BC501BF722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282425" y="3283739"/>
            <a:ext cx="5400040" cy="2872105"/>
          </a:xfrm>
          <a:prstGeom prst="rect">
            <a:avLst/>
          </a:prstGeom>
        </p:spPr>
      </p:pic>
    </p:spTree>
    <p:extLst>
      <p:ext uri="{BB962C8B-B14F-4D97-AF65-F5344CB8AC3E}">
        <ns4:creationId val="2070467638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48226"/>
            <a:ext cx="8589441" cy="160046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Separar responsabilidades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MVC; consola, WPF y MAUI separan vista, controlador y servicio.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mtClean="0"/>
              <a:t>API separa controladores, servicios y dominio. Usa ADO.NET e inyección de dependencias; no Entity Framework Core.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6" name="Imagen 5" descr="Diagrama de clases, capas y servicios de la comercializadora de celulares GR09." title="Diagrama de clases, capas y servicios de la comercializadora de celulares GR09.">
            <a:extLst>
              <a:ext uri="{FF2B5EF4-FFF2-40B4-BE49-F238E27FC236}">
                <ns2:creationId id="{8AC83F06-4DD4-9C34-B6D1-B96B11440D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23697" y="4081752"/>
            <a:ext cx="3752215" cy="1268730"/>
          </a:xfrm>
          <a:prstGeom prst="rect">
            <a:avLst/>
          </a:prstGeom>
        </p:spPr>
      </p:pic>
      <p:pic>
        <p:nvPicPr>
          <p:cNvPr id="7" name="Imagen 6" descr="Arquitectura cliente-servidor de la comercializadora de celulares GR09." title="Arquitectura cliente-servidor de la comercializadora de celulares GR09.">
            <a:extLst>
              <a:ext uri="{FF2B5EF4-FFF2-40B4-BE49-F238E27FC236}">
                <ns2:creationId id="{BC050511-8D70-4DC1-9A22-F5D1004A1D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596279" y="4081752"/>
            <a:ext cx="3067050" cy="1428750"/>
          </a:xfrm>
          <a:prstGeom prst="rect">
            <a:avLst/>
          </a:prstGeom>
        </p:spPr>
      </p:pic>
    </p:spTree>
    <p:extLst>
      <p:ext uri="{BB962C8B-B14F-4D97-AF65-F5344CB8AC3E}">
        <ns4:creationId val="2326254396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3860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CELULAR conserva precio y foto. FACTURA registra un celular, descuento, pago y crédito sin controlar existencias.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6" name="Imagen 5" descr="Modelo lógico del catálogo y facturas de la comercializadora de celulares GR09." title="Modelo lógico del catálogo y facturas de la comercializadora de celulares GR09.">
            <a:extLst>
              <a:ext uri="{FF2B5EF4-FFF2-40B4-BE49-F238E27FC236}">
                <ns2:creationId id="{1914A090-4456-A30A-8AA2-90E1D27244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20674" y="3268388"/>
            <a:ext cx="4865705" cy="3372922"/>
          </a:xfrm>
          <a:prstGeom prst="rect">
            <a:avLst/>
          </a:prstGeom>
        </p:spPr>
      </p:pic>
    </p:spTree>
    <p:extLst>
      <p:ext uri="{BB962C8B-B14F-4D97-AF65-F5344CB8AC3E}">
        <ns4:creationId val="2478630053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ADO.NET parametriza SQL y libera recursos. Solo API conecta SQL Server; clientes consumen HTTP.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4" name="Imagen 3" descr="Modelo físico SQL Server de la comercializadora de celulares GR09." title="Modelo físico SQL Server de la comercializadora de celulares GR09.">
            <a:extLst>
              <a:ext uri="{FF2B5EF4-FFF2-40B4-BE49-F238E27FC236}">
                <ns2:creationId id="{BC09C35C-55B6-030F-B1C4-A0ECABBCD4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20587" y="3039899"/>
            <a:ext cx="4323715" cy="3115945"/>
          </a:xfrm>
          <a:prstGeom prst="rect">
            <a:avLst/>
          </a:prstGeom>
        </p:spPr>
      </p:pic>
    </p:spTree>
    <p:extLst>
      <p:ext uri="{BB962C8B-B14F-4D97-AF65-F5344CB8AC3E}">
        <ns4:creationId val="3310875422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Contado descuenta 42%. Crédito requiere elegibilidad, plazo de 3 a 18 meses y tasa anual de 16,5%.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7" name="Imagen 6" descr="Diagrama de diagrama para administrar catálogo e imágenes." title="Diagrama de diagrama para administrar catálogo e imágenes.">
            <a:extLst>
              <a:ext uri="{FF2B5EF4-FFF2-40B4-BE49-F238E27FC236}">
                <ns2:creationId id="{6047989B-7E20-DA6A-F63C-7A6A90C48B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19800" y="3270359"/>
            <a:ext cx="4552315" cy="2249805"/>
          </a:xfrm>
          <a:prstGeom prst="rect">
            <a:avLst/>
          </a:prstGeom>
        </p:spPr>
      </p:pic>
    </p:spTree>
    <p:extLst>
      <p:ext uri="{BB962C8B-B14F-4D97-AF65-F5344CB8AC3E}">
        <ns4:creationId val="3144295167"/>
      </p:ext>
    </p:extLst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2487"/>
            <a:ext cx="8589441" cy="77125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 Ejecute dotnet test y dotnet build; inicie SQL Server, BanQuito y API antes de abrir clientes.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6" name="Imagen 5" descr="Arquitectura cliente-servidor de la comercializadora de celulares GR09." title="Arquitectura cliente-servidor de la comercializadora de celulares GR09.">
            <a:extLst>
              <a:ext uri="{FF2B5EF4-FFF2-40B4-BE49-F238E27FC236}">
                <ns2:creationId id="{B0231F20-C27A-2FDB-EEC4-F401ADB679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6061" y="3274647"/>
            <a:ext cx="7559702" cy="1559233"/>
          </a:xfrm>
          <a:prstGeom prst="rect">
            <a:avLst/>
          </a:prstGeom>
        </p:spPr>
      </p:pic>
    </p:spTree>
    <p:extLst>
      <p:ext uri="{BB962C8B-B14F-4D97-AF65-F5344CB8AC3E}">
        <ns4:creationId val="3802611624"/>
      </p:ext>
    </p:extLst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2.5 CLIENTE DE CONSOLA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Menú .NET administra catálogo, fotos, ventas y facturas mediante la API REST.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6" name="Imagen 5" descr="Diagrama general de casos de uso del sistema de venta de celulares." title="Diagrama general de casos de uso del sistema de venta de celulares.">
            <a:extLst>
              <a:ext uri="{FF2B5EF4-FFF2-40B4-BE49-F238E27FC236}">
                <ns2:creationId id="{D2E7A110-14B3-518E-3AEB-85D14D35E8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19267" y="2937697"/>
            <a:ext cx="5449247" cy="301770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Diagrama de casos de uso para administrar catálogo e imágenes." title="Diagrama de casos de uso para administrar catálogo e imágenes.">
            <a:extLst>
              <a:ext uri="{FF2B5EF4-FFF2-40B4-BE49-F238E27FC236}">
                <ns2:creationId id="{5799CFED-916B-D491-ED40-480DB09338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081578" y="3325141"/>
            <a:ext cx="3152140" cy="224282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ns4:creationId val="2048556783"/>
      </p:ext>
    </p:extLst>
  </p:cSld>
  <p:clrMapOvr>
    <a:masterClrMapping/>
  </p:clrMapOvr>
</p:sld>
</file>

<file path=ppt/slides/slide1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Elija una foto desde ruta, valide antes de PUT multipart y permita reemplazarla o quitarla. Límite: 5 MiB.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6" name="Imagen 5" descr="Diagrama de secuencia para administrar catálogo e imágenes." title="Diagrama de secuencia para administrar catálogo e imágenes.">
            <a:extLst>
              <a:ext uri="{FF2B5EF4-FFF2-40B4-BE49-F238E27FC236}">
                <ns2:creationId id="{AE9D8A04-3BFA-87A4-70EA-155D2C78EF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73374" y="4071492"/>
            <a:ext cx="3848100" cy="92646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Diagrama de actividad para administrar catálogo e imágenes." title="Diagrama de actividad para administrar catálogo e imágenes.">
            <a:extLst>
              <a:ext uri="{FF2B5EF4-FFF2-40B4-BE49-F238E27FC236}">
                <ns2:creationId id="{6AAA6066-7FF7-909E-3F2C-BFC929D6E3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02350" y="3429000"/>
            <a:ext cx="4608289" cy="236997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ns4:creationId val="1022546901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8" name="Imagen 7" descr="Diagrama de casos de uso para consultar elegibilidad de crédito." title="Diagrama de casos de uso para consultar elegibilidad de crédito.">
            <a:extLst>
              <a:ext uri="{FF2B5EF4-FFF2-40B4-BE49-F238E27FC236}">
                <ns2:creationId id="{497D8138-9E22-356E-F48C-2A0AB16304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59315" y="2418112"/>
            <a:ext cx="5456094" cy="329507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Imagen 8" descr="Diagrama de secuencia para consultar elegibilidad de crédito." title="Diagrama de secuencia para consultar elegibilidad de crédito.">
            <a:extLst>
              <a:ext uri="{FF2B5EF4-FFF2-40B4-BE49-F238E27FC236}">
                <ns2:creationId id="{70DD3D62-D1FA-1A2C-B1F5-3B6E423E84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161969" y="2703645"/>
            <a:ext cx="2714625" cy="24384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ns4:creationId val="1460837190"/>
      </p:ext>
    </p:extLst>
  </p:cSld>
  <p:clrMapOvr>
    <a:masterClrMapping/>
  </p:clrMapOvr>
</p:sld>
</file>

<file path=ppt/slides/slide2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mtClean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MVC web; consola, WPF y MAUI mantienen vista, controlador y servicio. SQL queda en API.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6" name="Imagen 5" descr="Diagrama de clases, capas y servicios de la comercializadora de celulares GR09." title="Diagrama de clases, capas y servicios de la comercializadora de celulares GR09.">
            <a:extLst>
              <a:ext uri="{FF2B5EF4-FFF2-40B4-BE49-F238E27FC236}">
                <ns2:creationId id="{4AD823BB-6ABD-13D9-55A6-6AE4C64EA1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55343" y="3054226"/>
            <a:ext cx="4529079" cy="226355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ns4:creationId val="96770226"/>
      </p:ext>
    </p:extLst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mtClean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Cliente compartido encapsula HttpClient y JSON, valida respuestas y limpia recursos de cada operación.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4" name="Imagen 3" descr="Arquitectura cliente-servidor de la comercializadora de celulares GR09." title="Arquitectura cliente-servidor de la comercializadora de celulares GR09.">
            <a:extLst>
              <a:ext uri="{FF2B5EF4-FFF2-40B4-BE49-F238E27FC236}">
                <ns2:creationId id="{A2818FF7-1B64-9D9C-F97B-72B22F5CBB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44498" y="2973517"/>
            <a:ext cx="4848783" cy="33693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Diagrama de secuencia para registrar venta a crédito." title="Diagrama de secuencia para registrar venta a crédito.">
            <a:extLst>
              <a:ext uri="{FF2B5EF4-FFF2-40B4-BE49-F238E27FC236}">
                <ns2:creationId id="{B161932C-C548-79D3-91E0-CF2D8C929D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718695" y="3009737"/>
            <a:ext cx="3220720" cy="33331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ns4:creationId val="2944665658"/>
      </p:ext>
    </p:extLst>
  </p:cSld>
  <p:clrMapOvr>
    <a:masterClrMapping/>
  </p:clrMapOvr>
</p:sld>
</file>

<file path=ppt/slides/slide2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mtClean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Valide campos, formato y firma real. Rechace archivo vacío, tipo falso, formato no permitido y más de 5 MiB.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4" name="Imagen 3" descr="Diagrama de casos de uso para consultar elegibilidad de crédito." title="Diagrama de casos de uso para consultar elegibilidad de crédito.">
            <a:extLst>
              <a:ext uri="{FF2B5EF4-FFF2-40B4-BE49-F238E27FC236}">
                <ns2:creationId id="{F00D934E-05EC-64DA-8B5A-50467C0DED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6400" y="3214428"/>
            <a:ext cx="4044950" cy="27946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Diagrama de actividad para consultar elegibilidad de crédito." title="Diagrama de actividad para consultar elegibilidad de crédito.">
            <a:extLst>
              <a:ext uri="{FF2B5EF4-FFF2-40B4-BE49-F238E27FC236}">
                <ns2:creationId id="{5F8B1FD7-0543-373D-96F9-AE466880C2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64414" y="2518820"/>
            <a:ext cx="4442171" cy="401533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ns4:creationId val="2655309640"/>
      </p:ext>
    </p:extLst>
  </p:cSld>
  <p:clrMapOvr>
    <a:masterClrMapping/>
  </p:clrMapOvr>
</p:sld>
</file>

<file path=ppt/slides/slide2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16" y="1870471"/>
            <a:ext cx="8654883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mtClean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menú ofrece catálogo, fotos, venta de contado y crédito, factura y amortización.</a:t>
            </a:r>
            <a:endParaRPr lang="es-ES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6" name="Imagen 5" descr="Diagrama de casos de uso para administrar catálogo e imágenes." title="Diagrama de casos de uso para administrar catálogo e imágenes.">
            <a:extLst>
              <a:ext uri="{FF2B5EF4-FFF2-40B4-BE49-F238E27FC236}">
                <ns2:creationId id="{D166A81D-9268-8960-A3D2-5E430FCE15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47996" y="2908531"/>
            <a:ext cx="4978400" cy="35109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ns4:creationId val="141034882"/>
      </p:ext>
    </p:extLst>
  </p:cSld>
  <p:clrMapOvr>
    <a:masterClrMapping/>
  </p:clrMapOvr>
</p:sld>
</file>

<file path=ppt/slides/slide2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18112"/>
            <a:ext cx="2808303" cy="287758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Contado aplica 42% de descuento. Crédito llama a BanQuito; la factura se confirma solo tras aprobación.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7" name="Imagen 6" descr="Diagrama de actividad para registrar venta en efectivo." title="Diagrama de actividad para registrar venta en efectivo.">
            <a:extLst>
              <a:ext uri="{FF2B5EF4-FFF2-40B4-BE49-F238E27FC236}">
                <ns2:creationId id="{F9D00737-8829-49A4-ADA0-2E1AEE2D45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61931" y="2571678"/>
            <a:ext cx="4765592" cy="2877584"/>
          </a:xfrm>
          <a:prstGeom prst="rect">
            <a:avLst/>
          </a:prstGeom>
        </p:spPr>
      </p:pic>
    </p:spTree>
    <p:extLst>
      <p:ext uri="{BB962C8B-B14F-4D97-AF65-F5344CB8AC3E}">
        <ns4:creationId val="2563100257"/>
      </p:ext>
    </p:extLst>
  </p:cSld>
  <p:clrMapOvr>
    <a:masterClrMapping/>
  </p:clrMapOvr>
</p:sld>
</file>

<file path=ppt/slides/slide2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mtClean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2.6 CLIENTE DE ESCRITORIO · WPF administra catálogo y fotos sin abrir conexión directa a SQL Server.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rgbClr val="FFFF00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rgbClr val="FFFF00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6" name="Imagen 5" descr="Diagrama de casos de uso para administrar catálogo e imágenes." title="Diagrama de casos de uso para administrar catálogo e imágenes.">
            <a:extLst>
              <a:ext uri="{FF2B5EF4-FFF2-40B4-BE49-F238E27FC236}">
                <ns2:creationId id="{BF232F94-7352-F734-E713-539D7E6BA9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67777" y="2844482"/>
            <a:ext cx="6552248" cy="357848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ns4:creationId val="4057489758"/>
      </p:ext>
    </p:extLst>
  </p:cSld>
  <p:clrMapOvr>
    <a:masterClrMapping/>
  </p:clrMapOvr>
</p:sld>
</file>

<file path=ppt/slides/slide2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Seleccione una foto, revise la vista previa, reemplace o quite. Confirme la eliminación y espere respuesta del API.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rgbClr val="FFFF00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rgbClr val="FFFF00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6" name="Imagen 5" descr="Diagrama de actividad para administrar catálogo e imágenes." title="Diagrama de actividad para administrar catálogo e imágenes.">
            <a:extLst>
              <a:ext uri="{FF2B5EF4-FFF2-40B4-BE49-F238E27FC236}">
                <ns2:creationId id="{2A701B25-F947-DB0C-8AE4-26FEF2508B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81191" y="3045073"/>
            <a:ext cx="3999843" cy="286096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Diagrama de secuencia para administrar catálogo e imágenes." title="Diagrama de secuencia para administrar catálogo e imágenes.">
            <a:extLst>
              <a:ext uri="{FF2B5EF4-FFF2-40B4-BE49-F238E27FC236}">
                <ns2:creationId id="{C6EB490A-A215-ED2F-0E5E-EABD82BC08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012981" y="3045073"/>
            <a:ext cx="3999843" cy="286096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ns4:creationId val="2202720890"/>
      </p:ext>
    </p:extLst>
  </p:cSld>
  <p:clrMapOvr>
    <a:masterClrMapping/>
  </p:clrMapOvr>
</p:sld>
</file>

<file path=ppt/slides/slide2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HttpClient comparte el contrato REST. El cliente libera streams y respuestas, y muestra errores de carga.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rgbClr val="FFFF00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rgbClr val="FFFF00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4" name="Imagen 3" descr="Arquitectura cliente-servidor de la comercializadora de celulares GR09." title="Arquitectura cliente-servidor de la comercializadora de celulares GR09.">
            <a:extLst>
              <a:ext uri="{FF2B5EF4-FFF2-40B4-BE49-F238E27FC236}">
                <ns2:creationId id="{36CE2F60-2930-DC9D-2C80-99DC16394C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0465" y="2481871"/>
            <a:ext cx="5885498" cy="405346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Diagrama de secuencia para registrar venta a crédito." title="Diagrama de secuencia para registrar venta a crédito.">
            <a:extLst>
              <a:ext uri="{FF2B5EF4-FFF2-40B4-BE49-F238E27FC236}">
                <ns2:creationId id="{2D512829-27C3-38FD-F40E-3D51596E18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894464" y="3237323"/>
            <a:ext cx="2118360" cy="209931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ns4:creationId val="1493150460"/>
      </p:ext>
    </p:extLst>
  </p:cSld>
  <p:clrMapOvr>
    <a:masterClrMapping/>
  </p:clrMapOvr>
</p:sld>
</file>

<file path=ppt/slides/slide2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Rechace extensión engañosa, MIME falso, firma inválida, archivo vacío y tamaño sobre 5 MiB.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rgbClr val="FFFF00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rgbClr val="FFFF00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6" name="Imagen 5" descr="Diagrama de actividad para consultar elegibilidad de crédito." title="Diagrama de actividad para consultar elegibilidad de crédito.">
            <a:extLst>
              <a:ext uri="{FF2B5EF4-FFF2-40B4-BE49-F238E27FC236}">
                <ns2:creationId id="{3A5E7599-42B0-0F10-393F-2F4A93F255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81192" y="2481871"/>
            <a:ext cx="5879118" cy="405448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Diagrama de casos de uso para consultar elegibilidad de crédito." title="Diagrama de casos de uso para consultar elegibilidad de crédito.">
            <a:extLst>
              <a:ext uri="{FF2B5EF4-FFF2-40B4-BE49-F238E27FC236}">
                <ns2:creationId id="{D7837778-A24A-9417-B220-05B938ABB3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950453" y="3980842"/>
            <a:ext cx="1943100" cy="790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ns4:creationId val="921519402"/>
      </p:ext>
    </p:extLst>
  </p:cSld>
  <p:clrMapOvr>
    <a:masterClrMapping/>
  </p:clrMapOvr>
</p:sld>
</file>

<file path=ppt/slides/slide3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Reemplace foto con PUT; descárguela sin caché y use DELETE para quitarla sin borrar el celular.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rgbClr val="FFFF00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rgbClr val="FFFF00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7" name="Imagen 6" descr="Diagrama de actividad para registrar venta a crédito." title="Diagrama de actividad para registrar venta a crédito.">
            <a:extLst>
              <a:ext uri="{FF2B5EF4-FFF2-40B4-BE49-F238E27FC236}">
                <ns2:creationId id="{D7837778-A24A-9417-B220-05B938ABB3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950453" y="3980842"/>
            <a:ext cx="1943100" cy="790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Imagen 3" descr="Diagrama de secuencia para registrar venta a crédito." title="Diagrama de secuencia para registrar venta a crédito.">
            <a:extLst>
              <a:ext uri="{FF2B5EF4-FFF2-40B4-BE49-F238E27FC236}">
                <ns2:creationId id="{67AB6615-7985-5929-08A6-7B7AD1C9AAE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96993" y="3896452"/>
            <a:ext cx="1933575" cy="3905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Imagen 8" descr="Diagrama de actividad para registrar venta a crédito." title="Diagrama de actividad para registrar venta a crédito.">
            <a:extLst>
              <a:ext uri="{FF2B5EF4-FFF2-40B4-BE49-F238E27FC236}">
                <ns2:creationId id="{65B52587-E477-EC5A-8B08-8F29F47FA93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620712" y="2266047"/>
            <a:ext cx="6677957" cy="4220164"/>
          </a:xfrm>
          <a:prstGeom prst="rect">
            <a:avLst/>
          </a:prstGeom>
        </p:spPr>
      </p:pic>
    </p:spTree>
    <p:extLst>
      <p:ext uri="{BB962C8B-B14F-4D97-AF65-F5344CB8AC3E}">
        <ns4:creationId val="36210345"/>
      </p:ext>
    </p:extLst>
  </p:cSld>
  <p:clrMapOvr>
    <a:masterClrMapping/>
  </p:clrMapOvr>
</p:sld>
</file>

<file path=ppt/slides/slide3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Catálogo WPF: administre altas, cambios y estado; cargue, reemplace o quite foto desde la ficha.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rgbClr val="FFFF00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rgbClr val="FFFF00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4" name="Imagen 3" descr="Diagrama de casos de uso para administrar catálogo e imágenes." title="Diagrama de casos de uso para administrar catálogo e imágenes.">
            <a:extLst>
              <a:ext uri="{FF2B5EF4-FFF2-40B4-BE49-F238E27FC236}">
                <ns2:creationId id="{D8E289ED-8FCA-7DEC-8A86-26ED50A437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98975" y="1981199"/>
            <a:ext cx="3998384" cy="4165601"/>
          </a:xfrm>
          <a:prstGeom prst="rect">
            <a:avLst/>
          </a:prstGeom>
        </p:spPr>
      </p:pic>
    </p:spTree>
    <p:extLst>
      <p:ext uri="{BB962C8B-B14F-4D97-AF65-F5344CB8AC3E}">
        <ns4:creationId val="795099191"/>
      </p:ext>
    </p:extLst>
  </p:cSld>
  <p:clrMapOvr>
    <a:masterClrMapping/>
  </p:clrMapOvr>
</p:sld>
</file>

<file path=ppt/slides/slide3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0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Contado: presente precio de lista, descuento del 42%, total y celular seleccionado.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rgbClr val="FFFF00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rgbClr val="FFFF00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6" name="Imagen 5" descr="Diagrama de secuencia para registrar venta en efectivo." title="Diagrama de secuencia para registrar venta en efectivo.">
            <a:extLst>
              <a:ext uri="{FF2B5EF4-FFF2-40B4-BE49-F238E27FC236}">
                <ns2:creationId id="{341C6BD8-E966-7907-C55E-66B8B17CDA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58695" y="2940931"/>
            <a:ext cx="5248276" cy="2401360"/>
          </a:xfrm>
          <a:prstGeom prst="rect">
            <a:avLst/>
          </a:prstGeom>
        </p:spPr>
      </p:pic>
    </p:spTree>
    <p:extLst>
      <p:ext uri="{BB962C8B-B14F-4D97-AF65-F5344CB8AC3E}">
        <ns4:creationId val="3037220131"/>
      </p:ext>
    </p:extLst>
  </p:cSld>
  <p:clrMapOvr>
    <a:masterClrMapping/>
  </p:clrMapOvr>
</p:sld>
</file>

<file path=ppt/slides/slide3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0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 Crédito: valide elegibilidad y plazo; emita factura solo después de aprobación bancaria.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rgbClr val="FFFF00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rgbClr val="FFFF00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7" name="Imagen 6" descr="Diagrama de casos de uso para registrar venta a crédito." title="Diagrama de casos de uso para registrar venta a crédito.">
            <a:extLst>
              <a:ext uri="{FF2B5EF4-FFF2-40B4-BE49-F238E27FC236}">
                <ns2:creationId id="{AEE4BBB0-DD51-2508-3207-8099A067AB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53791" y="1920457"/>
            <a:ext cx="4420032" cy="4508917"/>
          </a:xfrm>
          <a:prstGeom prst="rect">
            <a:avLst/>
          </a:prstGeom>
        </p:spPr>
      </p:pic>
    </p:spTree>
    <p:extLst>
      <p:ext uri="{BB962C8B-B14F-4D97-AF65-F5344CB8AC3E}">
        <ns4:creationId val="2132145110"/>
      </p:ext>
    </p:extLst>
  </p:cSld>
  <p:clrMapOvr>
    <a:masterClrMapping/>
  </p:clrMapOvr>
</p:sld>
</file>

<file path=ppt/slides/slide3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715956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2.7 CLIENTE WEB · ASP.NET CORE MVC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0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Tienda responsive con tema claro y oscuro; la API valida catálogo, fotos y facturas.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4" name="Imagen 3" descr="Captura de la tienda web de celulares en tema oscuro." title="Captura de la tienda web de celulares en tema oscuro.">
            <a:extLst>
              <a:ext uri="{FF2B5EF4-FFF2-40B4-BE49-F238E27FC236}">
                <ns2:creationId id="{C8192789-2796-8DE1-5DB1-9F7E7EFA1F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162372" y="3158736"/>
            <a:ext cx="5220335" cy="2381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Imagen 7" descr="Arquitectura cliente-servidor de la comercializadora de celulares GR09." title="Arquitectura cliente-servidor de la comercializadora de celulares GR09.">
            <a:extLst>
              <a:ext uri="{FF2B5EF4-FFF2-40B4-BE49-F238E27FC236}">
                <ns2:creationId id="{ED07517D-C6B1-8130-7675-1E1C74DC11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985524" y="3699265"/>
            <a:ext cx="5482076" cy="2955944"/>
          </a:xfrm>
          <a:prstGeom prst="rect">
            <a:avLst/>
          </a:prstGeom>
        </p:spPr>
      </p:pic>
    </p:spTree>
    <p:extLst>
      <p:ext uri="{BB962C8B-B14F-4D97-AF65-F5344CB8AC3E}">
        <ns4:creationId val="3022903355"/>
      </p:ext>
    </p:extLst>
  </p:cSld>
  <p:clrMapOvr>
    <a:masterClrMapping/>
  </p:clrMapOvr>
</p:sld>
</file>

<file path=ppt/slides/slide3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986220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0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Controlador MVC coordina vistas y servicio API. El formulario valida y previsualiza la imagen antes de cargarla.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6" name="Imagen 5" descr="Captura de la tienda web de celulares en tema oscuro." title="Captura de la tienda web de celulares en tema oscuro.">
            <a:extLst>
              <a:ext uri="{FF2B5EF4-FFF2-40B4-BE49-F238E27FC236}">
                <ns2:creationId id="{7041D818-6BBF-6A53-1139-1147808530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52912" y="1986220"/>
            <a:ext cx="3071813" cy="3812009"/>
          </a:xfrm>
          <a:prstGeom prst="rect">
            <a:avLst/>
          </a:prstGeom>
        </p:spPr>
      </p:pic>
    </p:spTree>
    <p:extLst>
      <p:ext uri="{BB962C8B-B14F-4D97-AF65-F5344CB8AC3E}">
        <ns4:creationId val="2320291172"/>
      </p:ext>
    </p:extLst>
  </p:cSld>
  <p:clrMapOvr>
    <a:masterClrMapping/>
  </p:clrMapOvr>
</p:sld>
</file>

<file path=ppt/slides/slide3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ns2:creationId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000" smtClean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Tema claro y oscuro mantienen contraste, etiquetas y navegación por teclado. La vista no expone credenciales.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7" name="Imagen 6" descr="Captura de la tienda web de celulares en tema oscuro." title="Captura de la tienda web de celulares en tema oscuro.">
            <a:extLst>
              <a:ext uri="{FF2B5EF4-FFF2-40B4-BE49-F238E27FC236}">
                <ns2:creationId id="{9094C0C4-F4D8-FA33-3567-2E0A400396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6106" y="2504142"/>
            <a:ext cx="5591770" cy="3921745"/>
          </a:xfrm>
          <a:prstGeom prst="rect">
            <a:avLst/>
          </a:prstGeom>
        </p:spPr>
      </p:pic>
      <p:pic>
        <p:nvPicPr>
          <p:cNvPr id="4" name="Imagen 3" descr="Diagrama de clases, capas y servicios de la comercializadora de celulares GR09." title="Diagrama de clases, capas y servicios de la comercializadora de celulares GR09.">
            <a:extLst>
              <a:ext uri="{FF2B5EF4-FFF2-40B4-BE49-F238E27FC236}">
                <ns2:creationId id="{AB2DE2E3-3CCE-8F06-88CC-D4ECF8510D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113161" y="3044648"/>
            <a:ext cx="3588456" cy="3717926"/>
          </a:xfrm>
          <a:prstGeom prst="rect">
            <a:avLst/>
          </a:prstGeom>
        </p:spPr>
      </p:pic>
    </p:spTree>
    <p:extLst>
      <p:ext uri="{BB962C8B-B14F-4D97-AF65-F5344CB8AC3E}">
        <ns4:creationId val="73835740"/>
      </p:ext>
    </p:extLst>
  </p:cSld>
  <p:clrMapOvr>
    <a:masterClrMapping/>
  </p:clrMapOvr>
</p:sld>
</file>

<file path=ppt/slides/slide3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ns2:creationId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41167"/>
            <a:ext cx="5504256" cy="92392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0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Foto opcional: vista previa antes de cargar; reemplazo conserva producto y valida el formato.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Imagen 6" descr="Captura de la tienda web de celulares en tema oscuro." title="Captura de la tienda web de celulares en tema oscuro.">
            <a:extLst>
              <a:ext uri="{FF2B5EF4-FFF2-40B4-BE49-F238E27FC236}">
                <ns2:creationId id="{48914179-74A8-1C71-0B00-7612BC38C2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6061" y="2238474"/>
            <a:ext cx="5748921" cy="4097008"/>
          </a:xfrm>
          <a:prstGeom prst="rect">
            <a:avLst/>
          </a:prstGeom>
        </p:spPr>
      </p:pic>
      <p:pic>
        <p:nvPicPr>
          <p:cNvPr id="3" name="Imagen 2" descr="Diagrama de casos de uso para administrar catálogo e imágenes." title="Diagrama de casos de uso para administrar catálogo e imágenes.">
            <a:extLst>
              <a:ext uri="{FF2B5EF4-FFF2-40B4-BE49-F238E27FC236}">
                <ns2:creationId id="{B53AB292-B6FA-9A42-D9A0-54A2C5EA59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411640" y="4961113"/>
            <a:ext cx="7802387" cy="1380773"/>
          </a:xfrm>
          <a:prstGeom prst="rect">
            <a:avLst/>
          </a:prstGeom>
        </p:spPr>
      </p:pic>
    </p:spTree>
    <p:extLst>
      <p:ext uri="{BB962C8B-B14F-4D97-AF65-F5344CB8AC3E}">
        <ns4:creationId val="504871624"/>
      </p:ext>
    </p:extLst>
  </p:cSld>
  <p:clrMapOvr>
    <a:masterClrMapping/>
  </p:clrMapOvr>
</p:sld>
</file>

<file path=ppt/slides/slide3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ns2:creationId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02233"/>
            <a:ext cx="4562308" cy="385338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0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Estados de interfaz: sin foto, vista previa, cargando, error y confirmación al quitar.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Imagen 6" descr="Captura de la tienda web de celulares en tema oscuro." title="Captura de la tienda web de celulares en tema oscuro.">
            <a:extLst>
              <a:ext uri="{FF2B5EF4-FFF2-40B4-BE49-F238E27FC236}">
                <ns2:creationId id="{F042EBD9-631A-D937-753D-5DAC025CAC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1774" y="2395395"/>
            <a:ext cx="6496676" cy="4172494"/>
          </a:xfrm>
          <a:prstGeom prst="rect">
            <a:avLst/>
          </a:prstGeom>
        </p:spPr>
      </p:pic>
      <p:pic>
        <p:nvPicPr>
          <p:cNvPr id="8" name="Imagen 7" descr="Diagrama de actividad para administrar catálogo e imágenes." title="Diagrama de actividad para administrar catálogo e imágenes.">
            <a:extLst>
              <a:ext uri="{FF2B5EF4-FFF2-40B4-BE49-F238E27FC236}">
                <ns2:creationId id="{1535DBD8-3054-4ABB-5E2C-B1B5F299FB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98404" y="3038172"/>
            <a:ext cx="3773988" cy="2886940"/>
          </a:xfrm>
          <a:prstGeom prst="rect">
            <a:avLst/>
          </a:prstGeom>
        </p:spPr>
      </p:pic>
    </p:spTree>
    <p:extLst>
      <p:ext uri="{BB962C8B-B14F-4D97-AF65-F5344CB8AC3E}">
        <ns4:creationId val="1598552259"/>
      </p:ext>
    </p:extLst>
  </p:cSld>
  <p:clrMapOvr>
    <a:masterClrMapping/>
  </p:clrMapOvr>
</p:sld>
</file>

<file path=ppt/slides/slide3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rgbClr val="FFFF00"/>
                </a:solidFill>
                <a:latin typeface="Gill Sans MT" panose="020B0502020104020203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ns2:creationId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98" y="1867247"/>
            <a:ext cx="8451972" cy="433401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CLIENTE MÓVIL · .NET MAUI: use FilePicker para cargar, reemplazar o quitar la foto.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n 3" descr="Diagrama de casos de uso para administrar catálogo e imágenes." title="Diagrama de casos de uso para administrar catálogo e imágenes.">
            <a:extLst>
              <a:ext uri="{FF2B5EF4-FFF2-40B4-BE49-F238E27FC236}">
                <ns2:creationId id="{BD6314B6-FC3A-EFB4-96AA-A8BA51504C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82425" y="2389313"/>
            <a:ext cx="5400040" cy="530225"/>
          </a:xfrm>
          <a:prstGeom prst="rect">
            <a:avLst/>
          </a:prstGeom>
        </p:spPr>
      </p:pic>
      <p:pic>
        <p:nvPicPr>
          <p:cNvPr id="7" name="Imagen 6" descr="Captura de la tienda web de celulares en tema oscuro." title="Captura de la tienda web de celulares en tema oscuro.">
            <a:extLst>
              <a:ext uri="{FF2B5EF4-FFF2-40B4-BE49-F238E27FC236}">
                <ns2:creationId id="{C282C153-9AC7-291A-103F-7F586099392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41315" y="3008203"/>
            <a:ext cx="4714875" cy="1381086"/>
          </a:xfrm>
          <a:prstGeom prst="rect">
            <a:avLst/>
          </a:prstGeom>
        </p:spPr>
      </p:pic>
      <p:pic>
        <p:nvPicPr>
          <p:cNvPr id="9" name="Imagen 8" descr="Diagrama de casos de uso para administrar catálogo e imágenes." title="Diagrama de casos de uso para administrar catálogo e imágenes.">
            <a:extLst>
              <a:ext uri="{FF2B5EF4-FFF2-40B4-BE49-F238E27FC236}">
                <ns2:creationId id="{C7C5FAB0-BA9F-55AE-DB29-83177A3657D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872230" y="4131310"/>
            <a:ext cx="5400040" cy="2602865"/>
          </a:xfrm>
          <a:prstGeom prst="rect">
            <a:avLst/>
          </a:prstGeom>
        </p:spPr>
      </p:pic>
    </p:spTree>
    <p:extLst>
      <p:ext uri="{BB962C8B-B14F-4D97-AF65-F5344CB8AC3E}">
        <ns4:creationId val="278960470"/>
      </p:ext>
    </p:extLst>
  </p:cSld>
  <p:clrMapOvr>
    <a:masterClrMapping/>
  </p:clrMapOvr>
</p:sld>
</file>

<file path=ppt/slides/slide4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rgbClr val="FFFF00"/>
                </a:solidFill>
                <a:latin typeface="Gill Sans MT" panose="020B0502020104020203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ns2:creationId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000" smtClean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Vista, controlador y servicio REST separan selección, validación, transferencia y estado de pantalla.</a:t>
            </a:r>
            <a:endParaRPr lang="es-ES" sz="200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Diagrama de actividad para administrar catálogo e imágenes." title="Diagrama de actividad para administrar catálogo e imágenes.">
            <a:extLst>
              <a:ext uri="{FF2B5EF4-FFF2-40B4-BE49-F238E27FC236}">
                <ns2:creationId id="{50478F29-34EC-59AA-7B16-69C927D26ED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04957" y="3201128"/>
            <a:ext cx="3790950" cy="2171700"/>
          </a:xfrm>
          <a:prstGeom prst="rect">
            <a:avLst/>
          </a:prstGeom>
        </p:spPr>
      </p:pic>
      <p:pic>
        <p:nvPicPr>
          <p:cNvPr id="8" name="Imagen 7" descr="Diagrama de secuencia para administrar catálogo e imágenes." title="Diagrama de secuencia para administrar catálogo e imágenes.">
            <a:extLst>
              <a:ext uri="{FF2B5EF4-FFF2-40B4-BE49-F238E27FC236}">
                <ns2:creationId id="{63485D15-1D9F-8369-0DEE-20F539E5CF4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043487" y="2915487"/>
            <a:ext cx="3133725" cy="581025"/>
          </a:xfrm>
          <a:prstGeom prst="rect">
            <a:avLst/>
          </a:prstGeom>
        </p:spPr>
      </p:pic>
      <p:pic>
        <p:nvPicPr>
          <p:cNvPr id="9" name="Imagen 8" descr="Diagrama de actividad para administrar catálogo e imágenes." title="Diagrama de actividad para administrar catálogo e imágenes.">
            <a:extLst>
              <a:ext uri="{FF2B5EF4-FFF2-40B4-BE49-F238E27FC236}">
                <ns2:creationId id="{C7094555-217C-B36C-897F-637365B7610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031579" y="3666694"/>
            <a:ext cx="1909763" cy="525185"/>
          </a:xfrm>
          <a:prstGeom prst="rect">
            <a:avLst/>
          </a:prstGeom>
        </p:spPr>
      </p:pic>
      <p:pic>
        <p:nvPicPr>
          <p:cNvPr id="10" name="Imagen 9" descr="Diagrama de secuencia para administrar catálogo e imágenes." title="Diagrama de secuencia para administrar catálogo e imágenes.">
            <a:extLst>
              <a:ext uri="{FF2B5EF4-FFF2-40B4-BE49-F238E27FC236}">
                <ns2:creationId id="{FF8E3F3C-9F73-AB0B-EBD4-03A0A34CC11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043487" y="4500787"/>
            <a:ext cx="2466106" cy="536423"/>
          </a:xfrm>
          <a:prstGeom prst="rect">
            <a:avLst/>
          </a:prstGeom>
        </p:spPr>
      </p:pic>
      <p:pic>
        <p:nvPicPr>
          <p:cNvPr id="11" name="Imagen 10" descr="Diagrama de actividad para administrar catálogo e imágenes." title="Diagrama de actividad para administrar catálogo e imágenes.">
            <a:extLst>
              <a:ext uri="{FF2B5EF4-FFF2-40B4-BE49-F238E27FC236}">
                <ns2:creationId id="{31B59A67-36C8-1728-081C-7FE6B1F9CA8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5043052" y="5336593"/>
            <a:ext cx="1524000" cy="600075"/>
          </a:xfrm>
          <a:prstGeom prst="rect">
            <a:avLst/>
          </a:prstGeom>
        </p:spPr>
      </p:pic>
    </p:spTree>
    <p:extLst>
      <p:ext uri="{BB962C8B-B14F-4D97-AF65-F5344CB8AC3E}">
        <ns4:creationId val="2247966254"/>
      </p:ext>
    </p:extLst>
  </p:cSld>
  <p:clrMapOvr>
    <a:masterClrMapping/>
  </p:clrMapOvr>
</p:sld>
</file>

<file path=ppt/slides/slide41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ns2:creationId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rgbClr val="FFFF00"/>
                </a:solidFill>
                <a:latin typeface="Gill Sans MT" panose="020B0502020104020203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ns2:creationId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Android: use IP alcanzable desde emulador o teléfono. Instalación exige emulador activo o dispositivo conectado.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Arquitectura cliente-servidor de la comercializadora de celulares GR09." title="Arquitectura cliente-servidor de la comercializadora de celulares GR09.">
            <a:extLst>
              <a:ext uri="{FF2B5EF4-FFF2-40B4-BE49-F238E27FC236}">
                <ns2:creationId id="{46DCAA37-DC4A-8B86-5B7A-7E85D5C312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581192" y="2804540"/>
            <a:ext cx="1640059" cy="373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 descr="Diagrama de secuencia para administrar catálogo e imágenes." title="Diagrama de secuencia para administrar catálogo e imágenes.">
            <a:extLst>
              <a:ext uri="{FF2B5EF4-FFF2-40B4-BE49-F238E27FC236}">
                <ns2:creationId id="{81F325D0-14D7-9490-F13D-162309064F5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4512949" y="3429000"/>
            <a:ext cx="4552315" cy="19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 descr="Diagrama de actividad para administrar catálogo e imágenes." title="Diagrama de actividad para administrar catálogo e imágenes.">
            <a:extLst>
              <a:ext uri="{FF2B5EF4-FFF2-40B4-BE49-F238E27FC236}">
                <ns2:creationId id="{FE83EB40-7CA2-9AF3-50DC-47580408368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>
          <a:xfrm>
            <a:off x="2444040" y="2797144"/>
            <a:ext cx="1640058" cy="3738023"/>
          </a:xfrm>
          <a:prstGeom prst="rect">
            <a:avLst/>
          </a:prstGeom>
        </p:spPr>
      </p:pic>
    </p:spTree>
    <p:extLst>
      <p:ext uri="{BB962C8B-B14F-4D97-AF65-F5344CB8AC3E}">
        <ns5:creationId val="27562674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API ASP.NET Core REST persiste celulares, fotos y facturas en SQL Server 2025 Express; cuatro clientes comparten servicio.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JPEG, PNG y WebP hasta 5 MiB. BanQuito conserva el crédito en su servicio independiente.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xmlns="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19916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3DBC33A-CD42-4FC7-A6A8-7EDA27FD2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D80960AD-F226-4240-9557-9B1A56633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6" y="1857178"/>
            <a:ext cx="8500664" cy="2429799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Aplique scripts SQL y 03_MigrarImagenes.sql antes de iniciar la API.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mtClean="0"/>
              <a:t>Pruebe tamaño, firma falsa, reemplazo, eliminación y fallos de SQL Server o BanQuito.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MAUI compila; instalación y uso real requieren emulador o dispositivo Android conectado.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xmlns="" id="{054452AF-173F-4A3B-AAAA-2E1E26784C6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5761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7290989-CA87-4621-A0C3-233A33CC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DB0FD96C-3240-4673-A01D-AB9F82CF6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8571686" cy="3678303"/>
          </a:xfrm>
        </p:spPr>
        <p:txBody>
          <a:bodyPr>
            <a:normAutofit/>
          </a:bodyPr>
          <a:lstStyle/>
          <a:p>
            <a:pPr marL="243840" marR="0" indent="-24384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243840" algn="l"/>
              </a:tabLst>
            </a:pPr>
            <a:r>
              <a:rPr lang="es-MX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 Grupo 09. Examen complexivo práctico: comercializadora de celulares, enunciado y reglas (2026).</a:t>
            </a:r>
            <a:endParaRPr lang="en-U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s-EC" sz="1800" smtClean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Proyecto CELULAR BDDLOCAL RESTFUL .NET: ERS, ECUD, manual técnico y documentación Microsoft .NET / SQL Server.</a:t>
            </a:r>
            <a:endParaRPr lang="en-U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xmlns="" id="{1C9745E7-07CB-4EAD-AB25-DF4CD32FFD3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DE DATOS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SQL SERVER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API 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CONSOLA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WPF</a:t>
            </a:r>
            <a:endParaRPr lang="es-ES" sz="1200" b="1">
              <a:solidFill>
                <a:schemeClr val="bg1"/>
              </a:solidFill>
              <a:latin typeface="Gill Sans MT" panose="020B0502020104020203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CLIENTE WEB MVC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smtClean="0">
                <a:solidFill>
                  <a:schemeClr val="bg1"/>
                </a:solidFill>
                <a:latin typeface="Gill Sans MT" panose="020B0502020104020203"/>
              </a:rPr>
              <a:t>CLIENTE MAUI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422643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2003</Words>
  <Application>Microsoft Office PowerPoint</Application>
  <PresentationFormat>Panorámica</PresentationFormat>
  <Paragraphs>665</Paragraphs>
  <Slides>44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51" baseType="lpstr">
      <vt:lpstr>Calibri</vt:lpstr>
      <vt:lpstr>Cambria</vt:lpstr>
      <vt:lpstr>Gill Sans MT</vt:lpstr>
      <vt:lpstr>Symbol</vt:lpstr>
      <vt:lpstr>Times New Roman</vt:lpstr>
      <vt:lpstr>Wingdings 2</vt:lpstr>
      <vt:lpstr>Dividendo</vt:lpstr>
      <vt:lpstr>MANUAL CELULAR BDDLOCAL REST · SQL SERVER · .NET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  <vt:lpstr>Bibliografía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CELULAR BDDLOCAL RESTFUL · .NET · Grupo 09</dc:title>
  <dc:subject>Arquitectura de software · NRC 36884 · SQL Server</dc:subject>
  <dc:creator>Grupo 09 · NRC 36884</dc:creator>
  <cp:keywords>CELULAR, Grupo 09, NRC 36884, REST, .NET, SQL Server</cp:keywords>
  <dc:description>Presentación del proyecto de venta de celulares del grupo 09, NRC 36884.</dc:description>
  <cp:lastModifiedBy>usuario01</cp:lastModifiedBy>
  <cp:revision>4</cp:revision>
  <dcterms:created xsi:type="dcterms:W3CDTF">2020-08-13T07:15:02Z</dcterms:created>
  <dcterms:modified xsi:type="dcterms:W3CDTF">2026-10-27T18:15:26Z</dcterms:modified>
</cp:coreProperties>
</file>