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46" r:id="rId15"/>
    <p:sldId id="347" r:id="rId16"/>
    <p:sldId id="387" r:id="rId17"/>
    <p:sldId id="350" r:id="rId18"/>
    <p:sldId id="352" r:id="rId19"/>
    <p:sldId id="353" r:id="rId20"/>
    <p:sldId id="354" r:id="rId21"/>
    <p:sldId id="358" r:id="rId22"/>
    <p:sldId id="385" r:id="rId23"/>
    <p:sldId id="386" r:id="rId24"/>
    <p:sldId id="360" r:id="rId25"/>
    <p:sldId id="362" r:id="rId26"/>
    <p:sldId id="363" r:id="rId27"/>
    <p:sldId id="364" r:id="rId28"/>
    <p:sldId id="365" r:id="rId29"/>
    <p:sldId id="366" r:id="rId30"/>
    <p:sldId id="384" r:id="rId31"/>
    <p:sldId id="367" r:id="rId32"/>
    <p:sldId id="368" r:id="rId33"/>
    <p:sldId id="369" r:id="rId34"/>
    <p:sldId id="370" r:id="rId35"/>
    <p:sldId id="371" r:id="rId36"/>
    <p:sldId id="373" r:id="rId37"/>
    <p:sldId id="377" r:id="rId38"/>
    <p:sldId id="378" r:id="rId39"/>
    <p:sldId id="380" r:id="rId40"/>
    <p:sldId id="381" r:id="rId41"/>
    <p:sldId id="383" r:id="rId42"/>
    <p:sldId id="324" r:id="rId43"/>
    <p:sldId id="262" r:id="rId44"/>
    <p:sldId id="263" r:id="rId4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F79BE-009C-4351-AE72-D725BD6CB2E5}" v="35" dt="2024-12-09T13:31:28.384"/>
    <p1510:client id="{E96F6CC8-2945-2AC7-4049-9F4E9634ABF6}" v="11" dt="2024-12-09T13:51:29.801"/>
    <p1510:client id="{FBE15C73-4593-071E-EB60-B2DA758EDEBF}" v="56" dt="2024-12-09T13:48:08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MANUAL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EUREKA BANK CON SOAP Y BASE DE DATOS-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</p:spPr>
        <p:txBody>
          <a:bodyPr>
            <a:normAutofit/>
          </a:bodyPr>
          <a:lstStyle/>
          <a:p>
            <a:r>
              <a:rPr lang="es-EC" b="1">
                <a:solidFill>
                  <a:schemeClr val="bg1"/>
                </a:solidFill>
              </a:rPr>
              <a:t>Integrantes:</a:t>
            </a:r>
            <a:r>
              <a:rPr lang="es-EC">
                <a:solidFill>
                  <a:schemeClr val="bg1"/>
                </a:solidFill>
              </a:rPr>
              <a:t> 	</a:t>
            </a:r>
          </a:p>
          <a:p>
            <a:r>
              <a:rPr lang="es-EC">
                <a:solidFill>
                  <a:schemeClr val="bg1"/>
                </a:solidFill>
              </a:rPr>
              <a:t>ANDRANGO CHRISTIAN</a:t>
            </a:r>
          </a:p>
          <a:p>
            <a:r>
              <a:rPr lang="es-EC">
                <a:solidFill>
                  <a:schemeClr val="bg1"/>
                </a:solidFill>
              </a:rPr>
              <a:t>CALAPAQUI GENESIS</a:t>
            </a:r>
          </a:p>
          <a:p>
            <a:r>
              <a:rPr lang="es-EC">
                <a:solidFill>
                  <a:schemeClr val="bg1"/>
                </a:solidFill>
              </a:rPr>
              <a:t>QUILUMBAQUIN JAIRO</a:t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 </a:t>
            </a:r>
            <a:r>
              <a:rPr lang="es-EC" b="1">
                <a:solidFill>
                  <a:prstClr val="white"/>
                </a:solidFill>
                <a:latin typeface="Gill Sans MT" panose="020B0502020104020203"/>
              </a:rPr>
              <a:t>09/12/2024</a:t>
            </a:r>
            <a:endParaRPr lang="es-EC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Ing</a:t>
            </a: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</a:t>
            </a:r>
            <a:r>
              <a:rPr kumimoji="0" lang="es-EC" sz="16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Campaña mauricio</a:t>
            </a:r>
            <a:endParaRPr kumimoji="0" lang="es-EC" sz="16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s-ES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CONCEPTUAL DE LA BASE DE DATOS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CREAR BASE DE DATOS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CREAR BASE DE DATOS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CONSOLA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ESCRITORIO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WEB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MOVIL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	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e implementar un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SOAP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mediante JAVA para realizar el registro y consulta de movimientos monetarios, ilustrando los pasos generales para su creación.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	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 continuación, se presente el modelo conceptual de la base de datos “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	CREAR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Al abrir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SQL, se seleccionará el nombre del servidor en el cual se alojará la base de datos y se procede a conectar.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8C30E6B5-32FE-F0CB-2CDD-61154C4A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980" y="5339869"/>
            <a:ext cx="5400040" cy="815975"/>
          </a:xfrm>
          <a:prstGeom prst="rect">
            <a:avLst/>
          </a:prstGeom>
        </p:spPr>
      </p:pic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13EA5F8F-CD8E-5CB9-AA7A-A14DB91A9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1" y="3353592"/>
            <a:ext cx="5031703" cy="18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Para usar la base de datos,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debemos escribir el siguiente comando. 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972EEE5-D78B-2BA6-D9CE-E1E7EC37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646" y="3636331"/>
            <a:ext cx="308653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procede a abrir nuestro script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Crea_DB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copiamos su contenido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PEGAMOS en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MySqlWorkbench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Usando el comando show tables verificamos que todo esta OK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7B0C4C5-6F2C-BC7D-D7A3-C692E4AD9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98" y="2998838"/>
            <a:ext cx="4560340" cy="329872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4E1E97C-317C-9A8A-F2F1-64D19DE7C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58556"/>
            <a:ext cx="234347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Ahora para insertar datos deberemos usar nuestro script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Carga_Datos.sql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copiamos y PEGAMOS su contenido en nuestra consola y verificamos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A2036C3-F8DA-5CFD-F276-C506AA9B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7" y="2752601"/>
            <a:ext cx="6848300" cy="34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	Creación del Servidor SOAP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El siguiente paso del proyecto es crear el servidor de la aplicación, recordando que este debe ser necesariamente web, además de que debe ser creado y guardado en la carpeta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WS_EUREKA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crea entonces un proyecto seleccionando la opción File &gt; New Project.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574C6E1-040A-44C3-A68A-91B469C0B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05" y="4094831"/>
            <a:ext cx="3200400" cy="11049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BE97F0-C8CF-200B-E95C-7CFB4162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222" y="3290058"/>
            <a:ext cx="5052757" cy="34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Luego ajustar las configuraciones del servidor.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1490704-DF8F-1A58-6D46-602A9D180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54" y="281939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salta la ventana de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dejando todo por defecto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3FAA425-4E17-9542-8870-EF195166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69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Se verifica que todo salió bien cuando en el IDE se muestra el siguiente archivo.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DD3F292-7A44-2D15-84D0-BC501BF72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3283739"/>
            <a:ext cx="5400040" cy="28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Como siguiente paso, se crean los paquetes necesarios para la aplicación basándose en MVC, los cuales son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db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modelo, vista, controlador, prueba, servicio y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la creación de un paquete se debe realizar lo siguiente, después todos los paquetes que se quieran crear siguen la misma lógica, iniciando por la selección de la carpeta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presionando clic derecho para luego escoger la opción New &gt;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AC83F06-4DD4-9C34-B6D1-B96B11440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97" y="4081752"/>
            <a:ext cx="3752215" cy="1268730"/>
          </a:xfrm>
          <a:prstGeom prst="rect">
            <a:avLst/>
          </a:prstGeom>
        </p:spPr>
      </p:pic>
      <p:pic>
        <p:nvPicPr>
          <p:cNvPr id="7" name="Imagen 6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BC050511-8D70-4DC1-9A22-F5D1004A1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279" y="4081752"/>
            <a:ext cx="30670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Se procede a codificar la nueva clase llamada Movimiento la codificación está en la Tabla 5, creada la clase movimiento, se procede a implementar los servicios, para ello se crea una nueva clase llamada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dentro del paquete servicio.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, Correo electrónico&#10;&#10;Descripción generada automáticamente">
            <a:extLst>
              <a:ext uri="{FF2B5EF4-FFF2-40B4-BE49-F238E27FC236}">
                <a16:creationId xmlns:a16="http://schemas.microsoft.com/office/drawing/2014/main" id="{1914A090-4456-A30A-8AA2-90E1D272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674" y="3268388"/>
            <a:ext cx="4865705" cy="33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Una vez creada la clase, se procede a agregar los métodos de leer movimientos y registrar depósitos.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C09C35C-55B6-030F-B1C4-A0ECABBCD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587" y="3039899"/>
            <a:ext cx="4323715" cy="31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	Una vez modelo, servicio estén activos, deberemos escribir el siguiente código y posteriormente Correr nuestro servidor.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047989B-7E20-DA6A-F63C-7A6A90C4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800" y="3270359"/>
            <a:ext cx="4552315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9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	Para verificar su funcionamiento, se procede a ejecutar el proyecto y como resultado, se obtendrá una ventana similar a la siguiente.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B0231F20-C27A-2FDB-EEC4-F401ADB6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61" y="3274647"/>
            <a:ext cx="7559702" cy="15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	CREACIÓN DEL PROYECTO – CLIENTE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Creamos un nuevo proyecto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aplicacion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especificamente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este orden,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-&gt;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2E7A110-14B3-518E-3AEB-85D14D35E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67" y="2937697"/>
            <a:ext cx="5449247" cy="3017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cliente de servicio web. Tomar en cuenta que el proyecto servidor debe estar desplegado, el siguiente paso es presionar en proyecto y explorar y buscar el servicio de nuestro servidor previamente desplegado.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AE9D8A04-3BFA-87A4-70EA-155D2C78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4" y="4071492"/>
            <a:ext cx="3848100" cy="9264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497D8138-9E22-356E-F48C-2A0AB1630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15" y="2418112"/>
            <a:ext cx="5456094" cy="32950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0DD3D62-D1FA-1A2C-B1F5-3B6E423E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969" y="2703645"/>
            <a:ext cx="2714625" cy="2438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procede a implementar los servicios, para ello se crea una nueva clase llamada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EurekaService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dentro del paquete servicio. 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crear el controlador, es necesario crear un paquete y crear una nueva clase llamada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EurekaController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Ahora vamos a codificar nuestro main, ya que al tratarse de una aplicación únicamente consola, vamos a usar lo siguiente: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La vista de Registrar Deposito desplegará un formulario para llenar el campo Cuenta y la cantidad de importe.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9D00737-8829-49A4-ADA0-2E1AEE2D4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31" y="2571678"/>
            <a:ext cx="4765592" cy="287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Realizado el servidor se avanza a la aplicación cliente, para ello se crea un nuevo proyecto de tipo Java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llamado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WSEurekaClient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F232F94-7352-F734-E713-539D7E6B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77" y="2844482"/>
            <a:ext cx="6552248" cy="357848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cliente de servicio web.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701B25-F947-DB0C-8AE4-26FEF2508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6EB490A-A215-ED2F-0E5E-EABD82BC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98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crea la capa de servicio para llamar los métodos del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6CE2F60-2930-DC9D-2C80-99DC1639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65" y="2481871"/>
            <a:ext cx="5885498" cy="40534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D512829-27C3-38FD-F40E-3D51596E1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464" y="3237323"/>
            <a:ext cx="2118360" cy="2099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Para la creación de la capa de pruebas es necesario crear un nuevo paquete.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Para crear el controlador, es necesario crear un paquete y crear una nueva clase.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 Principal Aplicación Escritorio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D8E289ED-8FCA-7DEC-8A86-26ED50A4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975" y="1981199"/>
            <a:ext cx="3998384" cy="41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Movimientos Escritorio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1C6BD8-E966-7907-C55E-66B8B17C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695" y="2940931"/>
            <a:ext cx="5248276" cy="24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Pestaña Movimientos.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E4BBB0-DD51-2508-3207-8099A067A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791" y="1920457"/>
            <a:ext cx="4420032" cy="45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Como tercer paso, se crea el proyecto web que permite un funcionamiento multiplataforma.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deben tener en cuenta los siguientes pasos para desarrollar el proyecto.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Texto&#10;&#10;Descripción generada automáticamente">
            <a:extLst>
              <a:ext uri="{FF2B5EF4-FFF2-40B4-BE49-F238E27FC236}">
                <a16:creationId xmlns:a16="http://schemas.microsoft.com/office/drawing/2014/main" id="{ED07517D-C6B1-8130-7675-1E1C74DC1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524" y="3699265"/>
            <a:ext cx="5482076" cy="29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Estructura WEB.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Vista principal index.html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94C0C4-F4D8-FA33-3567-2E0A4003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06" y="2504142"/>
            <a:ext cx="5591770" cy="3921745"/>
          </a:xfrm>
          <a:prstGeom prst="rect">
            <a:avLst/>
          </a:prstGeom>
        </p:spPr>
      </p:pic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B2DE2E3-3CCE-8F06-88CC-D4ECF8510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161" y="3044648"/>
            <a:ext cx="3588456" cy="37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Vista realizarConsultas.html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914179-74A8-1C71-0B00-7612BC38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1" y="2238474"/>
            <a:ext cx="5748921" cy="4097008"/>
          </a:xfrm>
          <a:prstGeom prst="rect">
            <a:avLst/>
          </a:prstGeom>
        </p:spPr>
      </p:pic>
      <p:pic>
        <p:nvPicPr>
          <p:cNvPr id="3" name="Imagen 2" descr="Imagen que contiene Tabla&#10;&#10;Descripción generada automáticamente">
            <a:extLst>
              <a:ext uri="{FF2B5EF4-FFF2-40B4-BE49-F238E27FC236}">
                <a16:creationId xmlns:a16="http://schemas.microsoft.com/office/drawing/2014/main" id="{B53AB292-B6FA-9A42-D9A0-54A2C5EA5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40" y="4961113"/>
            <a:ext cx="7802387" cy="13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Pestaña principal Deposito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42EBD9-631A-D937-753D-5DAC025C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4" y="2395395"/>
            <a:ext cx="6496676" cy="41724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535DBD8-3054-4ABB-5E2C-B1B5F299FB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36" t="29069" r="26879" b="12060"/>
          <a:stretch/>
        </p:blipFill>
        <p:spPr>
          <a:xfrm>
            <a:off x="5498404" y="3038172"/>
            <a:ext cx="3773988" cy="28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Creación proyecto cliente móvil.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MVC, clases en diferentes paquetes</a:t>
            </a:r>
          </a:p>
        </p:txBody>
      </p:sp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</a:t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DCAA37-DC4A-8B86-5B7A-7E85D5C312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804540"/>
            <a:ext cx="1640059" cy="3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Tabla&#10;&#10;Descripción generada automáticamente">
            <a:extLst>
              <a:ext uri="{FF2B5EF4-FFF2-40B4-BE49-F238E27FC236}">
                <a16:creationId xmlns:a16="http://schemas.microsoft.com/office/drawing/2014/main" id="{81F325D0-14D7-9490-F13D-162309064F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49" y="3429000"/>
            <a:ext cx="455231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FE83EB40-7CA2-9AF3-50DC-475804083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040" y="2797144"/>
            <a:ext cx="1640058" cy="373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SOAP (Simple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Access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Protocol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es un protocolo estandarizado que define cómo los mensajes deben ser enviados y recibidos. Es más estricto y pesado que REST, pero proporciona robustez y seguridad adicional.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 ofrece una amplia gama de herramientas y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trabajar con SOAP, como JAX-WS (Java API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XML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y Apache CXF, que simplifican la creación y consumo de servicios SOAP.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Utilizar las capacidades integradas de Apache NetBeans para desarrollar y consumir servicios SOAP con JAX-WS. NetBeans proporciona asistentes y plantillas que facilitan la generación de servicios y clientes SOAP.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Desplegar los servicios SOAP en servidores de aplicaciones como Apache Tomcat o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GlassFish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que son compatibles y están bien integrados con NetBeans.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/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	«Desarrollo y servicios Web.,» 26 SEP 2019. [En línea].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http://www.eumed.net/tesis-doctorales/2007/cavl/Desarrollo%20y%20servicios%20Web.htm. .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	M.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Rodríguez, “SOA vs. SOAP y REST”, Adictos al trabajo, 2014. . 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Microsoft Office PowerPoint</Application>
  <PresentationFormat>Panorámica</PresentationFormat>
  <Paragraphs>665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9" baseType="lpstr">
      <vt:lpstr>Cambria</vt:lpstr>
      <vt:lpstr>Gill Sans MT</vt:lpstr>
      <vt:lpstr>Symbol</vt:lpstr>
      <vt:lpstr>Wingdings 2</vt:lpstr>
      <vt:lpstr>Dividendo</vt:lpstr>
      <vt:lpstr>MANUAL EUREKA BANK CON SOAP Y BASE DE DATOS-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Aplicación web con MVC implementado en JAVA Caso Practico Saltos “MONSTER”</dc:title>
  <dc:creator>Michael Villarruel</dc:creator>
  <cp:lastModifiedBy>Genesis Calapaqui</cp:lastModifiedBy>
  <cp:revision>3</cp:revision>
  <dcterms:created xsi:type="dcterms:W3CDTF">2020-08-13T07:15:02Z</dcterms:created>
  <dcterms:modified xsi:type="dcterms:W3CDTF">2024-12-10T02:54:03Z</dcterms:modified>
</cp:coreProperties>
</file>