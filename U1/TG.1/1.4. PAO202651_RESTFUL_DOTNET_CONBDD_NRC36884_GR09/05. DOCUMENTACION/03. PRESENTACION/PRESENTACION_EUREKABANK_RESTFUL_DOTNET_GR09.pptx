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1" r:id="rId4"/>
    <p:sldId id="325" r:id="rId5"/>
    <p:sldId id="326" r:id="rId6"/>
    <p:sldId id="327" r:id="rId7"/>
    <p:sldId id="328" r:id="rId8"/>
    <p:sldId id="329" r:id="rId9"/>
    <p:sldId id="331" r:id="rId10"/>
    <p:sldId id="332" r:id="rId11"/>
    <p:sldId id="333" r:id="rId12"/>
    <p:sldId id="334" r:id="rId13"/>
    <p:sldId id="344" r:id="rId14"/>
    <p:sldId id="346" r:id="rId15"/>
    <p:sldId id="347" r:id="rId16"/>
    <p:sldId id="387" r:id="rId17"/>
    <p:sldId id="350" r:id="rId18"/>
    <p:sldId id="352" r:id="rId19"/>
    <p:sldId id="353" r:id="rId20"/>
    <p:sldId id="354" r:id="rId21"/>
    <p:sldId id="358" r:id="rId22"/>
    <p:sldId id="385" r:id="rId23"/>
    <p:sldId id="386" r:id="rId24"/>
    <p:sldId id="360" r:id="rId25"/>
    <p:sldId id="362" r:id="rId26"/>
    <p:sldId id="363" r:id="rId27"/>
    <p:sldId id="364" r:id="rId28"/>
    <p:sldId id="365" r:id="rId29"/>
    <p:sldId id="366" r:id="rId30"/>
    <p:sldId id="384" r:id="rId31"/>
    <p:sldId id="367" r:id="rId32"/>
    <p:sldId id="368" r:id="rId33"/>
    <p:sldId id="369" r:id="rId34"/>
    <p:sldId id="370" r:id="rId35"/>
    <p:sldId id="371" r:id="rId36"/>
    <p:sldId id="373" r:id="rId37"/>
    <p:sldId id="377" r:id="rId38"/>
    <p:sldId id="378" r:id="rId39"/>
    <p:sldId id="380" r:id="rId40"/>
    <p:sldId id="381" r:id="rId41"/>
    <p:sldId id="383" r:id="rId42"/>
    <p:sldId id="324" r:id="rId43"/>
    <p:sldId id="262" r:id="rId44"/>
    <p:sldId id="263" r:id="rId4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 Villarruel" initials="MV" lastIdx="2" clrIdx="0">
    <p:extLst>
      <p:ext uri="{19B8F6BF-5375-455C-9EA6-DF929625EA0E}">
        <p15:presenceInfo xmlns:p15="http://schemas.microsoft.com/office/powerpoint/2012/main" userId="Michael Villarru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EF79BE-009C-4351-AE72-D725BD6CB2E5}" v="35" dt="2024-12-09T13:31:28.384"/>
    <p1510:client id="{E96F6CC8-2945-2AC7-4049-9F4E9634ABF6}" v="11" dt="2024-12-09T13:51:29.801"/>
    <p1510:client id="{FBE15C73-4593-071E-EB60-B2DA758EDEBF}" v="56" dt="2024-12-09T13:48:08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commentAuthors" Target="commentAuthors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0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4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56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8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7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0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3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41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0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9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025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951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66.pn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7.png" /><Relationship Id="rId5" Type="http://schemas.openxmlformats.org/officeDocument/2006/relationships/image" Target="../media/image68.pn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69.png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0.png" /><Relationship Id="rId5" Type="http://schemas.openxmlformats.org/officeDocument/2006/relationships/image" Target="../media/image71.png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72.pn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3.png" /><Relationship Id="rId5" Type="http://schemas.openxmlformats.org/officeDocument/2006/relationships/image" Target="../media/image74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75.png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76.png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77.png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8.png" /><Relationship Id="rId5" Type="http://schemas.openxmlformats.org/officeDocument/2006/relationships/image" Target="../media/image79.png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80.png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81.png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82.png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83.png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4.png" /><Relationship Id="rId5" Type="http://schemas.openxmlformats.org/officeDocument/2006/relationships/image" Target="../media/image85.pn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6.png" /><Relationship Id="rId5" Type="http://schemas.openxmlformats.org/officeDocument/2006/relationships/image" Target="../media/image87.pn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8.png" /><Relationship Id="rId5" Type="http://schemas.openxmlformats.org/officeDocument/2006/relationships/image" Target="../media/image89.pn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90.pn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91.png" /><Relationship Id="rId5" Type="http://schemas.openxmlformats.org/officeDocument/2006/relationships/image" Target="../media/image92.png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93.png" /><Relationship Id="rId5" Type="http://schemas.openxmlformats.org/officeDocument/2006/relationships/image" Target="../media/image94.png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95.png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96.png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97.png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98.png" /><Relationship Id="rId5" Type="http://schemas.openxmlformats.org/officeDocument/2006/relationships/image" Target="../media/image99.png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00.png" /><Relationship Id="rId5" Type="http://schemas.openxmlformats.org/officeDocument/2006/relationships/image" Target="../media/image101.png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02.png" /><Relationship Id="rId5" Type="http://schemas.openxmlformats.org/officeDocument/2006/relationships/image" Target="../media/image103.png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04.png" /><Relationship Id="rId6" Type="http://schemas.openxmlformats.org/officeDocument/2006/relationships/image" Target="../media/image105.png" /><Relationship Id="rId7" Type="http://schemas.openxmlformats.org/officeDocument/2006/relationships/image" Target="../media/image106.png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07.png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08.png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09.png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0.png" /><Relationship Id="rId5" Type="http://schemas.openxmlformats.org/officeDocument/2006/relationships/image" Target="../media/image111.png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12.png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3.png" /><Relationship Id="rId5" Type="http://schemas.openxmlformats.org/officeDocument/2006/relationships/image" Target="../media/image114.png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5.png" /><Relationship Id="rId5" Type="http://schemas.openxmlformats.org/officeDocument/2006/relationships/image" Target="../media/image116.png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7.png" /><Relationship Id="rId5" Type="http://schemas.openxmlformats.org/officeDocument/2006/relationships/image" Target="../media/image118.png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19.png" /><Relationship Id="rId6" Type="http://schemas.openxmlformats.org/officeDocument/2006/relationships/image" Target="../media/image120.png" /><Relationship Id="rId7" Type="http://schemas.openxmlformats.org/officeDocument/2006/relationships/image" Target="../media/image121.png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7" Type="http://schemas.openxmlformats.org/officeDocument/2006/relationships/image" Target="../media/image122.png" /><Relationship Id="rId8" Type="http://schemas.openxmlformats.org/officeDocument/2006/relationships/image" Target="../media/image123.png" /><Relationship Id="rId9" Type="http://schemas.openxmlformats.org/officeDocument/2006/relationships/image" Target="../media/image124.png" /><Relationship Id="rId10" Type="http://schemas.openxmlformats.org/officeDocument/2006/relationships/image" Target="../media/image125.png" /><Relationship Id="rId11" Type="http://schemas.openxmlformats.org/officeDocument/2006/relationships/image" Target="../media/image126.png" /></Relationships>
</file>

<file path=ppt/slides/_rels/slide4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27.png" /><Relationship Id="rId6" Type="http://schemas.openxmlformats.org/officeDocument/2006/relationships/image" Target="../media/image128.png" /><Relationship Id="rId7" Type="http://schemas.openxmlformats.org/officeDocument/2006/relationships/image" Target="../media/image129.png" 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56176-055A-4F41-9A1C-5A8ABC57A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</p:spPr>
        <p:txBody>
          <a:bodyPr>
            <a:normAutofit/>
          </a:bodyPr>
          <a:lstStyle/>
          <a:p>
            <a:pPr algn="ctr"/>
            <a:r>
              <a:rPr lang="es-ES">
                <a:solidFill>
                  <a:schemeClr val="bg1"/>
                </a:solidFill>
              </a:rPr>
              <a:t>MANUAL</a:t>
            </a:r>
            <a:br>
              <a:rPr lang="es-ES">
                <a:solidFill>
                  <a:schemeClr val="bg1"/>
                </a:solidFill>
              </a:rPr>
            </a:br>
            <a:r>
              <a:rPr lang="es-ES">
                <a:solidFill>
                  <a:schemeClr val="bg1"/>
                </a:solidFill>
              </a:rPr>
              <a:t>EUREKABANK CON REST · SQL SERVER · .NET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0C571E-A349-4667-927F-5916BE607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6" y="4809744"/>
            <a:ext cx="4261531" cy="1812758"/>
          </a:xfrm>
        </p:spPr>
        <p:txBody>
          <a:bodyPr>
            <a:normAutofit/>
          </a:bodyPr>
          <a:lstStyle/>
          <a:p>
            <a:r>
              <a:rPr lang="es-EC" b="1">
                <a:solidFill>
                  <a:schemeClr val="bg1"/>
                </a:solidFill>
              </a:rPr>
              <a:t>Grupo 09 · NRC 36884</a:t>
            </a:r>
            <a:r>
              <a:rPr lang="es-EC">
                <a:solidFill>
                  <a:schemeClr val="bg1"/>
                </a:solidFill>
              </a:rPr>
              <a:t/>
            </a:r>
          </a:p>
          <a:p>
            <a:r>
              <a:rPr lang="es-EC">
                <a:solidFill>
                  <a:schemeClr val="bg1"/>
                </a:solidFill>
              </a:rPr>
              <a:t>Arquitectura de software</a:t>
            </a:r>
          </a:p>
          <a:p>
            <a:r>
              <a:rPr lang="es-EC">
                <a:solidFill>
                  <a:schemeClr val="bg1"/>
                </a:solidFill>
              </a:rPr>
              <a:t>EurekaBank · 2026</a:t>
            </a:r>
          </a:p>
          <a:p>
            <a:r>
              <a:rPr lang="es-EC">
                <a:solidFill>
                  <a:schemeClr val="bg1"/>
                </a:solidFill>
              </a:rPr>
              <a:t/>
            </a:r>
          </a:p>
        </p:txBody>
      </p:sp>
      <p:pic>
        <p:nvPicPr>
          <p:cNvPr id="1026" name="Picture 2" descr="Resultado de imagen para espe">
            <a:extLst>
              <a:ext uri="{FF2B5EF4-FFF2-40B4-BE49-F238E27FC236}">
                <a16:creationId xmlns:a16="http://schemas.microsoft.com/office/drawing/2014/main" id="{F414D571-4BC8-480A-8CAB-8B16FE515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97" y="716302"/>
            <a:ext cx="11647502" cy="219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1967A448-01D9-4956-A50F-F9BFFBEC42EB}"/>
              </a:ext>
            </a:extLst>
          </p:cNvPr>
          <p:cNvSpPr txBox="1">
            <a:spLocks/>
          </p:cNvSpPr>
          <p:nvPr/>
        </p:nvSpPr>
        <p:spPr>
          <a:xfrm>
            <a:off x="7863840" y="5301801"/>
            <a:ext cx="3931920" cy="1235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FECHA: 22/10/2026</a:t>
            </a:r>
            <a:r>
              <a:rPr lang="es-EC" b="1">
                <a:solidFill>
                  <a:prstClr val="white"/>
                </a:solidFill>
                <a:latin typeface="Gill Sans MT" panose="020B0502020104020203"/>
              </a:rPr>
              <a:t/>
            </a:r>
            <a:endParaRPr lang="es-EC">
              <a:solidFill>
                <a:prstClr val="white"/>
              </a:solidFill>
              <a:latin typeface="Gill Sans MT" panose="020B0502020104020203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VARIANTE: .NET · REST</a:t>
            </a:r>
            <a:r>
              <a:rPr kumimoji="0" lang="es-EC" sz="16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/>
            </a:r>
            <a:r>
              <a:rPr kumimoji="0" lang="es-EC" sz="1600" b="0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/>
            </a:r>
            <a:endParaRPr kumimoji="0" lang="es-EC" sz="1600" b="1" i="0" u="none" strike="noStrike" kern="120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78AAB0-61A1-4632-A25D-4FC9433D59B1}"/>
              </a:ext>
            </a:extLst>
          </p:cNvPr>
          <p:cNvSpPr txBox="1"/>
          <p:nvPr/>
        </p:nvSpPr>
        <p:spPr>
          <a:xfrm>
            <a:off x="11689659" y="6400896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0686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FCC8BE-29CF-4C4C-BE9D-AC08DC5E4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701336"/>
            <a:ext cx="3389726" cy="54242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DESARROLLO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OBJETIVO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MODELO CONCEPTUAL Y LÓGICO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MODELO FÍSICO Y TRANSFERENCIAS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CONFIGURAR BASE DE DATOS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APLICAR ESQUEMA Y RESTRICCIONES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SERVICIO REST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PERSISTENCIA Y SEGURIDAD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CLIENTE DE CONSOLA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CLIENTE DE ESCRITORIO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CLIENTE WEB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CLIENTE MÓVIL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CONCLUSIONES Y RECOMENDACIONES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BIBLIOGRAFÍA</a:t>
            </a:r>
          </a:p>
        </p:txBody>
      </p:sp>
      <p:pic>
        <p:nvPicPr>
          <p:cNvPr id="6" name="Picture 2" descr="Resultado de imagen para AGENDA PNG">
            <a:extLst>
              <a:ext uri="{FF2B5EF4-FFF2-40B4-BE49-F238E27FC236}">
                <a16:creationId xmlns:a16="http://schemas.microsoft.com/office/drawing/2014/main" id="{BEAB8E00-371D-4C0F-B6B7-9BEE622AF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1522" y="1935576"/>
            <a:ext cx="6489819" cy="300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A76E918-E1AF-47F5-B0A9-06C8BD2DAC04}"/>
              </a:ext>
            </a:extLst>
          </p:cNvPr>
          <p:cNvSpPr txBox="1"/>
          <p:nvPr/>
        </p:nvSpPr>
        <p:spPr>
          <a:xfrm>
            <a:off x="11689659" y="6400896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937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2.1 OBJETIVO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Documentar EurekaBank con REST y .NET: acceso, movimientos, depósitos y transferencias. El servicio valida las reglas bancarias; cuatro clientes comparten el mismo contrato.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14114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138085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2.2 MODELO CONCEPTUAL DE LA BASE DE DATOS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modelo vincula titular, cuentas y movimientos. Transferencia conserva origen y destino y genera débito y crédito.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.NET · REST · conceptual" title="EurekaBank Grupo 09 · .NET · REST · conceptual">
            <a:extLst>
              <a:ext uri="{FF2B5EF4-FFF2-40B4-BE49-F238E27FC236}">
                <a16:creationId xmlns:a16="http://schemas.microsoft.com/office/drawing/2014/main" id="{1FD01580-FB65-8EA9-91BA-B66940DFA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970" y="3429000"/>
            <a:ext cx="5222131" cy="3274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5893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2.3 PREPARAR LA BASE DE DATOS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Cree el esquema de EurekaBank en SQL Server. Mantenga usuario y contraseña en variables de entorno.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.NET · REST · db_setup" title="EurekaBank Grupo 09 · .NET · REST · db_setup">
            <a:extLst>
              <a:ext uri="{FF2B5EF4-FFF2-40B4-BE49-F238E27FC236}">
                <a16:creationId xmlns:a16="http://schemas.microsoft.com/office/drawing/2014/main" id="{8C30E6B5-32FE-F0CB-2CDD-61154C4A1F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395980" y="5339869"/>
            <a:ext cx="5400040" cy="815975"/>
          </a:xfrm>
          <a:prstGeom prst="rect">
            <a:avLst/>
          </a:prstGeom>
        </p:spPr>
      </p:pic>
      <p:pic>
        <p:nvPicPr>
          <p:cNvPr id="6" name="Imagen 5" descr="EurekaBank Grupo 09 · .NET · REST · transfer_schema" title="EurekaBank Grupo 09 · .NET · REST · transfer_schema">
            <a:extLst>
              <a:ext uri="{FF2B5EF4-FFF2-40B4-BE49-F238E27FC236}">
                <a16:creationId xmlns:a16="http://schemas.microsoft.com/office/drawing/2014/main" id="{13EA5F8F-CD8E-5CB9-AA7A-A14DB91A90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91821" y="3353592"/>
            <a:ext cx="5031703" cy="186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64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Defina tablas, claves y relaciones. Las 19 entidades incluyen cuentas, movimientos y Transferencia.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.NET · REST · conceptual_destination" title="EurekaBank Grupo 09 · .NET · REST · conceptual_destination">
            <a:extLst>
              <a:ext uri="{FF2B5EF4-FFF2-40B4-BE49-F238E27FC236}">
                <a16:creationId xmlns:a16="http://schemas.microsoft.com/office/drawing/2014/main" id="{D972EEE5-D78B-2BA6-D9CE-E1E7EC3710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332646" y="3636331"/>
            <a:ext cx="3086531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5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9497"/>
            <a:ext cx="8589441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Revise claves, estados, saldos y unicidad de la clave idempotente antes de habilitar operaciones.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8" name="Imagen 7" descr="EurekaBank Grupo 09 · .NET · REST · physical" title="EurekaBank Grupo 09 · .NET · REST · physical">
            <a:extLst>
              <a:ext uri="{FF2B5EF4-FFF2-40B4-BE49-F238E27FC236}">
                <a16:creationId xmlns:a16="http://schemas.microsoft.com/office/drawing/2014/main" id="{67B0C4C5-6F2C-BC7D-D7A3-C692E4AD9E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41498" y="2998838"/>
            <a:ext cx="4560340" cy="3298723"/>
          </a:xfrm>
          <a:prstGeom prst="rect">
            <a:avLst/>
          </a:prstGeom>
        </p:spPr>
      </p:pic>
      <p:pic>
        <p:nvPicPr>
          <p:cNvPr id="10" name="Imagen 9" descr="EurekaBank Grupo 09 · .NET · REST · activity_login" title="EurekaBank Grupo 09 · .NET · REST · activity_login">
            <a:extLst>
              <a:ext uri="{FF2B5EF4-FFF2-40B4-BE49-F238E27FC236}">
                <a16:creationId xmlns:a16="http://schemas.microsoft.com/office/drawing/2014/main" id="{F4E1E97C-317C-9A8A-F2F1-64D19DE7C4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096000" y="2858556"/>
            <a:ext cx="2343477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7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48998"/>
            <a:ext cx="8589441" cy="763187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datos autorizados. No incluya contraseñas, tokens ni cadenas de conexión en capturas o material compartido.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.NET · REST · physical_transfer" title="EurekaBank Grupo 09 · .NET · REST · physical_transfer">
            <a:extLst>
              <a:ext uri="{FF2B5EF4-FFF2-40B4-BE49-F238E27FC236}">
                <a16:creationId xmlns:a16="http://schemas.microsoft.com/office/drawing/2014/main" id="{6A2036C3-F8DA-5CFD-F276-C506AA9B37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30477" y="2752601"/>
            <a:ext cx="6848300" cy="34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56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2.4 SERVICIO REST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.NET 10 · ASP.NET Core. El servidor concentra autenticación, reglas y persistencia en SQL Server.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Endpoint: http://localhost:5081/api/eureka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.NET · REST · conceptual" title="EurekaBank Grupo 09 · .NET · REST · conceptual">
            <a:extLst>
              <a:ext uri="{FF2B5EF4-FFF2-40B4-BE49-F238E27FC236}">
                <a16:creationId xmlns:a16="http://schemas.microsoft.com/office/drawing/2014/main" id="{7574C6E1-040A-44C3-A68A-91B469C0B0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1105" y="4094831"/>
            <a:ext cx="3200400" cy="1104900"/>
          </a:xfrm>
          <a:prstGeom prst="rect">
            <a:avLst/>
          </a:prstGeom>
        </p:spPr>
      </p:pic>
      <p:pic>
        <p:nvPicPr>
          <p:cNvPr id="8" name="Imagen 7" descr="EurekaBank Grupo 09 · .NET · REST · sequence_login" title="EurekaBank Grupo 09 · .NET · REST · sequence_login">
            <a:extLst>
              <a:ext uri="{FF2B5EF4-FFF2-40B4-BE49-F238E27FC236}">
                <a16:creationId xmlns:a16="http://schemas.microsoft.com/office/drawing/2014/main" id="{C8BE97F0-C8CF-200B-E95C-7CFB4162B2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976222" y="3290058"/>
            <a:ext cx="5052757" cy="340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93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692" y="1962876"/>
            <a:ext cx="8589441" cy="60960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Servidor .NET 10 · ASP.NET Core · endpoint http://localhost:5081/api/eureka · base SQL Server.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REST · case_summary" title="EurekaBank Grupo 09 · .NET · REST · case_summary">
            <a:extLst>
              <a:ext uri="{FF2B5EF4-FFF2-40B4-BE49-F238E27FC236}">
                <a16:creationId xmlns:a16="http://schemas.microsoft.com/office/drawing/2014/main" id="{41490704-DF8F-1A58-6D46-602A9D1806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33454" y="2819397"/>
            <a:ext cx="5400040" cy="370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52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242" y="2009047"/>
            <a:ext cx="8589441" cy="60080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solo en servidor: EUREKABANK_DB_CONNECTION_STRING. Nunca las incluya en clientes ni capturas.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REST · sequence_login" title="EurekaBank Grupo 09 · .NET · REST · sequence_login">
            <a:extLst>
              <a:ext uri="{FF2B5EF4-FFF2-40B4-BE49-F238E27FC236}">
                <a16:creationId xmlns:a16="http://schemas.microsoft.com/office/drawing/2014/main" id="{A3FAA425-4E17-9542-8870-EF195166CF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06169" y="2609850"/>
            <a:ext cx="5400040" cy="379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98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948226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Confirme contrato o rutas, puerto, conexión a SQL Server y esquema actualizado antes de probar clientes.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.NET · REST · logical" title="EurekaBank Grupo 09 · .NET · REST · logical">
            <a:extLst>
              <a:ext uri="{FF2B5EF4-FFF2-40B4-BE49-F238E27FC236}">
                <a16:creationId xmlns:a16="http://schemas.microsoft.com/office/drawing/2014/main" id="{6DD3F292-7A44-2D15-84D0-BC501BF722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282425" y="3283739"/>
            <a:ext cx="5400040" cy="287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67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48226"/>
            <a:ext cx="8589441" cy="160046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Separar responsabilidades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MVC mantiene vista, controlador y modelo; persistencia queda en servidor.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t>Espacios de nombres .NET separan controladores, servicios, modelos y repositorios.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REST · architecture" title="EurekaBank Grupo 09 · .NET · REST · architecture">
            <a:extLst>
              <a:ext uri="{FF2B5EF4-FFF2-40B4-BE49-F238E27FC236}">
                <a16:creationId xmlns:a16="http://schemas.microsoft.com/office/drawing/2014/main" id="{8AC83F06-4DD4-9C34-B6D1-B96B11440D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23697" y="4081752"/>
            <a:ext cx="3752215" cy="1268730"/>
          </a:xfrm>
          <a:prstGeom prst="rect">
            <a:avLst/>
          </a:prstGeom>
        </p:spPr>
      </p:pic>
      <p:pic>
        <p:nvPicPr>
          <p:cNvPr id="7" name="Imagen 6" descr="EurekaBank Grupo 09 · .NET · REST · conceptual" title="EurekaBank Grupo 09 · .NET · REST · conceptual">
            <a:extLst>
              <a:ext uri="{FF2B5EF4-FFF2-40B4-BE49-F238E27FC236}">
                <a16:creationId xmlns:a16="http://schemas.microsoft.com/office/drawing/2014/main" id="{BC050511-8D70-4DC1-9A22-F5D1004A1D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596279" y="4081752"/>
            <a:ext cx="30670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54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3860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Movimiento registra cuenta, fecha, importe y tipo. Transferencia enlaza los dos apuntes contables de una operación.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REST · logical_movements" title="EurekaBank Grupo 09 · .NET · REST · logical_movements">
            <a:extLst>
              <a:ext uri="{FF2B5EF4-FFF2-40B4-BE49-F238E27FC236}">
                <a16:creationId xmlns:a16="http://schemas.microsoft.com/office/drawing/2014/main" id="{1914A090-4456-A30A-8AA2-90E1D27244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20674" y="3268388"/>
            <a:ext cx="4865705" cy="337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30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Repositorio usa consultas parametrizadas y libera conexión, comandos y lectores al terminar.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.NET · REST · sequence_movements" title="EurekaBank Grupo 09 · .NET · REST · sequence_movements">
            <a:extLst>
              <a:ext uri="{FF2B5EF4-FFF2-40B4-BE49-F238E27FC236}">
                <a16:creationId xmlns:a16="http://schemas.microsoft.com/office/drawing/2014/main" id="{BC09C35C-55B6-030F-B1C4-A0ECABBCD4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20587" y="3039899"/>
            <a:ext cx="4323715" cy="311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75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Valide titularidad, cuentas activas, moneda, saldo e importe. Confirme juntos débito 009 y crédito 008.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.NET · REST · logical_transfer" title="EurekaBank Grupo 09 · .NET · REST · logical_transfer">
            <a:extLst>
              <a:ext uri="{FF2B5EF4-FFF2-40B4-BE49-F238E27FC236}">
                <a16:creationId xmlns:a16="http://schemas.microsoft.com/office/drawing/2014/main" id="{6047989B-7E20-DA6A-F63C-7A6A90C48B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19800" y="3270359"/>
            <a:ext cx="4552315" cy="224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95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2487"/>
            <a:ext cx="8589441" cy="77125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 Prepare dotnet build · dotnet test · servicio .NET 10; inicie servicio y configure http://localhost:5081/api/eureka. Pruebas requieren servidor y base activos.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REST · architecture" title="EurekaBank Grupo 09 · .NET · REST · architecture">
            <a:extLst>
              <a:ext uri="{FF2B5EF4-FFF2-40B4-BE49-F238E27FC236}">
                <a16:creationId xmlns:a16="http://schemas.microsoft.com/office/drawing/2014/main" id="{B0231F20-C27A-2FDB-EEC4-F401ADB679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6061" y="3274647"/>
            <a:ext cx="7559702" cy="155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11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2.5 CLIENTE DE CONSOLA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consola .NET usa MVC, consulta el servicio REST y presenta sesión, movimientos, depósitos y transferencias.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REST · interface" title="EurekaBank Grupo 09 · .NET · REST · interface">
            <a:extLst>
              <a:ext uri="{FF2B5EF4-FFF2-40B4-BE49-F238E27FC236}">
                <a16:creationId xmlns:a16="http://schemas.microsoft.com/office/drawing/2014/main" id="{D2E7A110-14B3-518E-3AEB-85D14D35E8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19267" y="2937697"/>
            <a:ext cx="5449247" cy="301770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.NET · REST · case_summary" title="EurekaBank Grupo 09 · .NET · REST · case_summary">
            <a:extLst>
              <a:ext uri="{FF2B5EF4-FFF2-40B4-BE49-F238E27FC236}">
                <a16:creationId xmlns:a16="http://schemas.microsoft.com/office/drawing/2014/main" id="{5799CFED-916B-D491-ED40-480DB09338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081578" y="3325141"/>
            <a:ext cx="3152140" cy="224282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48556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HTTP, JSON y token Bearer; endpoint configurable: http://localhost:5081/api/eureka. El fallo de red muestra un mensaje útil y permite reintentar.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REST · case_login" title="EurekaBank Grupo 09 · .NET · REST · case_login">
            <a:extLst>
              <a:ext uri="{FF2B5EF4-FFF2-40B4-BE49-F238E27FC236}">
                <a16:creationId xmlns:a16="http://schemas.microsoft.com/office/drawing/2014/main" id="{AE9D8A04-3BFA-87A4-70EA-155D2C78EF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73374" y="4071492"/>
            <a:ext cx="3848100" cy="92646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.NET · REST · sequence_login" title="EurekaBank Grupo 09 · .NET · REST · sequence_login">
            <a:extLst>
              <a:ext uri="{FF2B5EF4-FFF2-40B4-BE49-F238E27FC236}">
                <a16:creationId xmlns:a16="http://schemas.microsoft.com/office/drawing/2014/main" id="{6AAA6066-7FF7-909E-3F2C-BFC929D6E3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02350" y="3429000"/>
            <a:ext cx="4608289" cy="236997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22546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8" name="Imagen 7" descr="EurekaBank Grupo 09 · .NET · REST · conceptual_transfer" title="EurekaBank Grupo 09 · .NET · REST · conceptual_transfer">
            <a:extLst>
              <a:ext uri="{FF2B5EF4-FFF2-40B4-BE49-F238E27FC236}">
                <a16:creationId xmlns:a16="http://schemas.microsoft.com/office/drawing/2014/main" id="{497D8138-9E22-356E-F48C-2A0AB16304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59315" y="2418112"/>
            <a:ext cx="5456094" cy="329507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Imagen 8" descr="EurekaBank Grupo 09 · .NET · REST · interface" title="EurekaBank Grupo 09 · .NET · REST · interface">
            <a:extLst>
              <a:ext uri="{FF2B5EF4-FFF2-40B4-BE49-F238E27FC236}">
                <a16:creationId xmlns:a16="http://schemas.microsoft.com/office/drawing/2014/main" id="{70DD3D62-D1FA-1A2C-B1F5-3B6E423E84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161969" y="2703645"/>
            <a:ext cx="2714625" cy="24384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60837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MVC: vista presenta datos; controlador valida interacción; modelo conserva estado mínimo. El servidor aplica reglas bancarias.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REST · logical" title="EurekaBank Grupo 09 · .NET · REST · logical">
            <a:extLst>
              <a:ext uri="{FF2B5EF4-FFF2-40B4-BE49-F238E27FC236}">
                <a16:creationId xmlns:a16="http://schemas.microsoft.com/office/drawing/2014/main" id="{4AD823BB-6ABD-13D9-55A6-6AE4C64EA1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55343" y="3054226"/>
            <a:ext cx="4529079" cy="226355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6770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adaptador encapsula REST; la sesión conserva token temporal y borra contraseña tras autenticar.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.NET · REST · sequence_login" title="EurekaBank Grupo 09 · .NET · REST · sequence_login">
            <a:extLst>
              <a:ext uri="{FF2B5EF4-FFF2-40B4-BE49-F238E27FC236}">
                <a16:creationId xmlns:a16="http://schemas.microsoft.com/office/drawing/2014/main" id="{A2818FF7-1B64-9D9C-F97B-72B22F5CBB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44498" y="2973517"/>
            <a:ext cx="4848783" cy="33693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.NET · REST · interface" title="EurekaBank Grupo 09 · .NET · REST · interface">
            <a:extLst>
              <a:ext uri="{FF2B5EF4-FFF2-40B4-BE49-F238E27FC236}">
                <a16:creationId xmlns:a16="http://schemas.microsoft.com/office/drawing/2014/main" id="{B161932C-C548-79D3-91E0-CF2D8C929D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718695" y="3009737"/>
            <a:ext cx="3220720" cy="33331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944665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Valide cuenta de ocho dígitos e importe positivo con máximo dos decimales. Rechace origen igual a destino.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.NET · REST · logical_transfer" title="EurekaBank Grupo 09 · .NET · REST · logical_transfer">
            <a:extLst>
              <a:ext uri="{FF2B5EF4-FFF2-40B4-BE49-F238E27FC236}">
                <a16:creationId xmlns:a16="http://schemas.microsoft.com/office/drawing/2014/main" id="{F00D934E-05EC-64DA-8B5A-50467C0DED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6400" y="3214428"/>
            <a:ext cx="4044950" cy="27946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.NET · REST · logical_movements" title="EurekaBank Grupo 09 · .NET · REST · logical_movements">
            <a:extLst>
              <a:ext uri="{FF2B5EF4-FFF2-40B4-BE49-F238E27FC236}">
                <a16:creationId xmlns:a16="http://schemas.microsoft.com/office/drawing/2014/main" id="{5F8B1FD7-0543-373D-96F9-AE466880C2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64414" y="2518820"/>
            <a:ext cx="4442171" cy="401533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55309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16" y="1870471"/>
            <a:ext cx="8654883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menú ofrece movimientos, depósito y transferencias a cuentas propias o de terceros.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REST · case_summary" title="EurekaBank Grupo 09 · .NET · REST · case_summary">
            <a:extLst>
              <a:ext uri="{FF2B5EF4-FFF2-40B4-BE49-F238E27FC236}">
                <a16:creationId xmlns:a16="http://schemas.microsoft.com/office/drawing/2014/main" id="{D166A81D-9268-8960-A3D2-5E430FCE15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47996" y="2908531"/>
            <a:ext cx="4978400" cy="35109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1034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8112"/>
            <a:ext cx="2808303" cy="287758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Depósito acredita una cuenta. Transferencia debita origen y acredita destino en una transacción.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.NET · REST · sequence_movements" title="EurekaBank Grupo 09 · .NET · REST · sequence_movements">
            <a:extLst>
              <a:ext uri="{FF2B5EF4-FFF2-40B4-BE49-F238E27FC236}">
                <a16:creationId xmlns:a16="http://schemas.microsoft.com/office/drawing/2014/main" id="{F9D00737-8829-49A4-ADA0-2E1AEE2D45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61931" y="2571678"/>
            <a:ext cx="4765592" cy="287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00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2.6 CLIENTE DE ESCRITORIO · WPF: consume el servicio; no guarda credenciales ni accede a SQL Server.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REST · interface" title="EurekaBank Grupo 09 · .NET · REST · interface">
            <a:extLst>
              <a:ext uri="{FF2B5EF4-FFF2-40B4-BE49-F238E27FC236}">
                <a16:creationId xmlns:a16="http://schemas.microsoft.com/office/drawing/2014/main" id="{BF232F94-7352-F734-E713-539D7E6BA9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67777" y="2844482"/>
            <a:ext cx="6552248" cy="357848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57489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endpoint configurable y token temporal; borre credenciales al cerrar sesión.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REST · sequence_login" title="EurekaBank Grupo 09 · .NET · REST · sequence_login">
            <a:extLst>
              <a:ext uri="{FF2B5EF4-FFF2-40B4-BE49-F238E27FC236}">
                <a16:creationId xmlns:a16="http://schemas.microsoft.com/office/drawing/2014/main" id="{2A701B25-F947-DB0C-8AE4-26FEF2508B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81191" y="3045073"/>
            <a:ext cx="3999843" cy="28609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.NET · REST · sequence_movements" title="EurekaBank Grupo 09 · .NET · REST · sequence_movements">
            <a:extLst>
              <a:ext uri="{FF2B5EF4-FFF2-40B4-BE49-F238E27FC236}">
                <a16:creationId xmlns:a16="http://schemas.microsoft.com/office/drawing/2014/main" id="{C6EB490A-A215-ED2F-0E5E-EABD82BC08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012981" y="3045073"/>
            <a:ext cx="3999843" cy="28609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02720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cliente usa HttpClient y JSON, valida respuesta y libera recursos al finalizar la operación.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.NET · REST · sequence_transfer" title="EurekaBank Grupo 09 · .NET · REST · sequence_transfer">
            <a:extLst>
              <a:ext uri="{FF2B5EF4-FFF2-40B4-BE49-F238E27FC236}">
                <a16:creationId xmlns:a16="http://schemas.microsoft.com/office/drawing/2014/main" id="{36CE2F60-2930-DC9D-2C80-99DC16394C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0465" y="2481871"/>
            <a:ext cx="5885498" cy="405346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.NET · REST · interface" title="EurekaBank Grupo 09 · .NET · REST · interface">
            <a:extLst>
              <a:ext uri="{FF2B5EF4-FFF2-40B4-BE49-F238E27FC236}">
                <a16:creationId xmlns:a16="http://schemas.microsoft.com/office/drawing/2014/main" id="{2D512829-27C3-38FD-F40E-3D51596E18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894464" y="3237323"/>
            <a:ext cx="2118360" cy="209931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93150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Rechace campos vacíos, importe inválido, titular distinto, moneda diferente y saldo insuficiente.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REST · logical_transfer" title="EurekaBank Grupo 09 · .NET · REST · logical_transfer">
            <a:extLst>
              <a:ext uri="{FF2B5EF4-FFF2-40B4-BE49-F238E27FC236}">
                <a16:creationId xmlns:a16="http://schemas.microsoft.com/office/drawing/2014/main" id="{3A5E7599-42B0-0F10-393F-2F4A93F255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81192" y="2481871"/>
            <a:ext cx="5879118" cy="405448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.NET · REST · conceptual" title="EurekaBank Grupo 09 · .NET · REST · conceptual">
            <a:extLst>
              <a:ext uri="{FF2B5EF4-FFF2-40B4-BE49-F238E27FC236}">
                <a16:creationId xmlns:a16="http://schemas.microsoft.com/office/drawing/2014/main" id="{D7837778-A24A-9417-B220-05B938ABB3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950453" y="3980842"/>
            <a:ext cx="1943100" cy="790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21519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Confirme éxito tras respuesta del servicio. Reintente respuesta incierta con la misma clave idempotente.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.NET · REST · sequence_transfer" title="EurekaBank Grupo 09 · .NET · REST · sequence_transfer">
            <a:extLst>
              <a:ext uri="{FF2B5EF4-FFF2-40B4-BE49-F238E27FC236}">
                <a16:creationId xmlns:a16="http://schemas.microsoft.com/office/drawing/2014/main" id="{D7837778-A24A-9417-B220-05B938ABB3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950453" y="3980842"/>
            <a:ext cx="1943100" cy="790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Imagen 3" descr="EurekaBank Grupo 09 · .NET · REST · architecture" title="EurekaBank Grupo 09 · .NET · REST · architecture">
            <a:extLst>
              <a:ext uri="{FF2B5EF4-FFF2-40B4-BE49-F238E27FC236}">
                <a16:creationId xmlns:a16="http://schemas.microsoft.com/office/drawing/2014/main" id="{67AB6615-7985-5929-08A6-7B7AD1C9AAE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96993" y="3896452"/>
            <a:ext cx="1933575" cy="3905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Imagen 8" descr="EurekaBank Grupo 09 · .NET · REST · logical_transfer" title="EurekaBank Grupo 09 · .NET · REST · logical_transfer">
            <a:extLst>
              <a:ext uri="{FF2B5EF4-FFF2-40B4-BE49-F238E27FC236}">
                <a16:creationId xmlns:a16="http://schemas.microsoft.com/office/drawing/2014/main" id="{65B52587-E477-EC5A-8B08-8F29F47FA93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620712" y="2266047"/>
            <a:ext cx="6677957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3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Inicio de sesión: captura del formulario vacío; no acredita conexión ni autenticación exitosa.</a:t>
            </a:r>
            <a:r>
              <a:rPr lang="es-ES" sz="20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C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.NET · REST · interface" title="EurekaBank Grupo 09 · .NET · REST · interface">
            <a:extLst>
              <a:ext uri="{FF2B5EF4-FFF2-40B4-BE49-F238E27FC236}">
                <a16:creationId xmlns:a16="http://schemas.microsoft.com/office/drawing/2014/main" id="{D8E289ED-8FCA-7DEC-8A86-26ED50A437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98975" y="1981199"/>
            <a:ext cx="3998384" cy="416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99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Movimientos: muestre fecha, tipo e importe; 009 SALIDA es débito y 008 INGRESO es crédito.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REST · sequence_movements" title="EurekaBank Grupo 09 · .NET · REST · sequence_movements">
            <a:extLst>
              <a:ext uri="{FF2B5EF4-FFF2-40B4-BE49-F238E27FC236}">
                <a16:creationId xmlns:a16="http://schemas.microsoft.com/office/drawing/2014/main" id="{341C6BD8-E966-7907-C55E-66B8B17CDA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58695" y="2940931"/>
            <a:ext cx="5248276" cy="240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201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 Transferir: seleccione origen y destino, valide titularidad y fondos, y conserve la clave idempotente.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.NET · REST · sequence_transfer" title="EurekaBank Grupo 09 · .NET · REST · sequence_transfer">
            <a:extLst>
              <a:ext uri="{FF2B5EF4-FFF2-40B4-BE49-F238E27FC236}">
                <a16:creationId xmlns:a16="http://schemas.microsoft.com/office/drawing/2014/main" id="{AEE4BBB0-DD51-2508-3207-8099A067AB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53791" y="1920457"/>
            <a:ext cx="4420032" cy="450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145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715956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2.7 CLIENTE WEB · ASP.NET Core MVC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Protege sesión y consume el contrato REST compartido por las otras interfaces.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.NET · REST · sequence_login" title="EurekaBank Grupo 09 · .NET · REST · sequence_login">
            <a:extLst>
              <a:ext uri="{FF2B5EF4-FFF2-40B4-BE49-F238E27FC236}">
                <a16:creationId xmlns:a16="http://schemas.microsoft.com/office/drawing/2014/main" id="{C8192789-2796-8DE1-5DB1-9F7E7EFA1F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162372" y="3158736"/>
            <a:ext cx="5220335" cy="2381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Imagen 7" descr="EurekaBank Grupo 09 · .NET · REST · interface" title="EurekaBank Grupo 09 · .NET · REST · interface">
            <a:extLst>
              <a:ext uri="{FF2B5EF4-FFF2-40B4-BE49-F238E27FC236}">
                <a16:creationId xmlns:a16="http://schemas.microsoft.com/office/drawing/2014/main" id="{ED07517D-C6B1-8130-7675-1E1C74DC11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985524" y="3699265"/>
            <a:ext cx="5482076" cy="295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033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986220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Capas web: controladores, vistas y servicios ASP.NET Core MVC; el cliente no conecta directo a SQL Server.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REST · interface" title="EurekaBank Grupo 09 · .NET · REST · interface">
            <a:extLst>
              <a:ext uri="{FF2B5EF4-FFF2-40B4-BE49-F238E27FC236}">
                <a16:creationId xmlns:a16="http://schemas.microsoft.com/office/drawing/2014/main" id="{7041D818-6BBF-6A53-1139-1147808530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52912" y="1986220"/>
            <a:ext cx="3071813" cy="381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2911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Acceso web: proteja sesión, no exponga tokens y vuelva a login al revocar sesión.</a:t>
            </a: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.NET · REST · sequence_login" title="EurekaBank Grupo 09 · .NET · REST · sequence_login">
            <a:extLst>
              <a:ext uri="{FF2B5EF4-FFF2-40B4-BE49-F238E27FC236}">
                <a16:creationId xmlns:a16="http://schemas.microsoft.com/office/drawing/2014/main" id="{9094C0C4-F4D8-FA33-3567-2E0A400396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6106" y="2504142"/>
            <a:ext cx="5591770" cy="3921745"/>
          </a:xfrm>
          <a:prstGeom prst="rect">
            <a:avLst/>
          </a:prstGeom>
        </p:spPr>
      </p:pic>
      <p:pic>
        <p:nvPicPr>
          <p:cNvPr id="4" name="Imagen 3" descr="EurekaBank Grupo 09 · .NET · REST · interface" title="EurekaBank Grupo 09 · .NET · REST · interface">
            <a:extLst>
              <a:ext uri="{FF2B5EF4-FFF2-40B4-BE49-F238E27FC236}">
                <a16:creationId xmlns:a16="http://schemas.microsoft.com/office/drawing/2014/main" id="{AB2DE2E3-3CCE-8F06-88CC-D4ECF8510D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113161" y="3044648"/>
            <a:ext cx="3588456" cy="371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357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41167"/>
            <a:ext cx="5504256" cy="92392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Consultas: muestre movimientos de cuenta autorizada; no acepte titular manipulado.</a:t>
            </a:r>
          </a:p>
        </p:txBody>
      </p:sp>
      <p:pic>
        <p:nvPicPr>
          <p:cNvPr id="7" name="Imagen 6" descr="EurekaBank Grupo 09 · .NET · REST · sequence_movements" title="EurekaBank Grupo 09 · .NET · REST · sequence_movements">
            <a:extLst>
              <a:ext uri="{FF2B5EF4-FFF2-40B4-BE49-F238E27FC236}">
                <a16:creationId xmlns:a16="http://schemas.microsoft.com/office/drawing/2014/main" id="{48914179-74A8-1C71-0B00-7612BC38C2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6061" y="2238474"/>
            <a:ext cx="5748921" cy="4097008"/>
          </a:xfrm>
          <a:prstGeom prst="rect">
            <a:avLst/>
          </a:prstGeom>
        </p:spPr>
      </p:pic>
      <p:pic>
        <p:nvPicPr>
          <p:cNvPr id="3" name="Imagen 2" descr="EurekaBank Grupo 09 · .NET · REST · case_movements" title="EurekaBank Grupo 09 · .NET · REST · case_movements">
            <a:extLst>
              <a:ext uri="{FF2B5EF4-FFF2-40B4-BE49-F238E27FC236}">
                <a16:creationId xmlns:a16="http://schemas.microsoft.com/office/drawing/2014/main" id="{B53AB292-B6FA-9A42-D9A0-54A2C5EA59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411640" y="4961113"/>
            <a:ext cx="7802387" cy="13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71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02233"/>
            <a:ext cx="4562308" cy="385338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Operaciones: valide el formulario y muestre el resultado que confirma el servicio.</a:t>
            </a:r>
          </a:p>
        </p:txBody>
      </p:sp>
      <p:pic>
        <p:nvPicPr>
          <p:cNvPr id="7" name="Imagen 6" descr="EurekaBank Grupo 09 · .NET · REST · sequence_login" title="EurekaBank Grupo 09 · .NET · REST · sequence_login">
            <a:extLst>
              <a:ext uri="{FF2B5EF4-FFF2-40B4-BE49-F238E27FC236}">
                <a16:creationId xmlns:a16="http://schemas.microsoft.com/office/drawing/2014/main" id="{F042EBD9-631A-D937-753D-5DAC025CAC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1774" y="2395395"/>
            <a:ext cx="6496676" cy="4172494"/>
          </a:xfrm>
          <a:prstGeom prst="rect">
            <a:avLst/>
          </a:prstGeom>
        </p:spPr>
      </p:pic>
      <p:pic>
        <p:nvPicPr>
          <p:cNvPr id="8" name="Imagen 7" descr="EurekaBank Grupo 09 · .NET · REST · logical_movements" title="EurekaBank Grupo 09 · .NET · REST · logical_movements">
            <a:extLst>
              <a:ext uri="{FF2B5EF4-FFF2-40B4-BE49-F238E27FC236}">
                <a16:creationId xmlns:a16="http://schemas.microsoft.com/office/drawing/2014/main" id="{1535DBD8-3054-4ABB-5E2C-B1B5F299FB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98404" y="3038172"/>
            <a:ext cx="3773988" cy="288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52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98" y="1867247"/>
            <a:ext cx="8451972" cy="43340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CLIENTE MÓVIL · .NET MAUI: configure endpoint accesible y conserve solo token temporal.</a:t>
            </a:r>
          </a:p>
        </p:txBody>
      </p:sp>
      <p:pic>
        <p:nvPicPr>
          <p:cNvPr id="4" name="Imagen 3" descr="EurekaBank Grupo 09 · .NET · REST · mobile_endpoint" title="EurekaBank Grupo 09 · .NET · REST · mobile_endpoint">
            <a:extLst>
              <a:ext uri="{FF2B5EF4-FFF2-40B4-BE49-F238E27FC236}">
                <a16:creationId xmlns:a16="http://schemas.microsoft.com/office/drawing/2014/main" id="{BD6314B6-FC3A-EFB4-96AA-A8BA51504C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82425" y="2389313"/>
            <a:ext cx="5400040" cy="530225"/>
          </a:xfrm>
          <a:prstGeom prst="rect">
            <a:avLst/>
          </a:prstGeom>
        </p:spPr>
      </p:pic>
      <p:pic>
        <p:nvPicPr>
          <p:cNvPr id="7" name="Imagen 6" descr="EurekaBank Grupo 09 · .NET · REST · case_movements" title="EurekaBank Grupo 09 · .NET · REST · case_movements">
            <a:extLst>
              <a:ext uri="{FF2B5EF4-FFF2-40B4-BE49-F238E27FC236}">
                <a16:creationId xmlns:a16="http://schemas.microsoft.com/office/drawing/2014/main" id="{C282C153-9AC7-291A-103F-7F586099392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41315" y="3008203"/>
            <a:ext cx="4714875" cy="1381086"/>
          </a:xfrm>
          <a:prstGeom prst="rect">
            <a:avLst/>
          </a:prstGeom>
        </p:spPr>
      </p:pic>
      <p:pic>
        <p:nvPicPr>
          <p:cNvPr id="9" name="Imagen 8" descr="EurekaBank Grupo 09 · .NET · REST · conceptual" title="EurekaBank Grupo 09 · .NET · REST · conceptual">
            <a:extLst>
              <a:ext uri="{FF2B5EF4-FFF2-40B4-BE49-F238E27FC236}">
                <a16:creationId xmlns:a16="http://schemas.microsoft.com/office/drawing/2014/main" id="{C7C5FAB0-BA9F-55AE-DB29-83177A3657D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872230" y="4131310"/>
            <a:ext cx="5400040" cy="260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04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MVC: vista captura, controlador coordina cliente y modelo presenta respuesta; no persista secretos.</a:t>
            </a: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pic>
        <p:nvPicPr>
          <p:cNvPr id="3" name="Imagen 2" descr="EurekaBank Grupo 09 · .NET · REST · logical_transfer" title="EurekaBank Grupo 09 · .NET · REST · logical_transfer">
            <a:extLst>
              <a:ext uri="{FF2B5EF4-FFF2-40B4-BE49-F238E27FC236}">
                <a16:creationId xmlns:a16="http://schemas.microsoft.com/office/drawing/2014/main" id="{50478F29-34EC-59AA-7B16-69C927D26ED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04957" y="3201128"/>
            <a:ext cx="3790950" cy="2171700"/>
          </a:xfrm>
          <a:prstGeom prst="rect">
            <a:avLst/>
          </a:prstGeom>
        </p:spPr>
      </p:pic>
      <p:pic>
        <p:nvPicPr>
          <p:cNvPr id="8" name="Imagen 7" descr="EurekaBank Grupo 09 · .NET · REST · architecture" title="EurekaBank Grupo 09 · .NET · REST · architecture">
            <a:extLst>
              <a:ext uri="{FF2B5EF4-FFF2-40B4-BE49-F238E27FC236}">
                <a16:creationId xmlns:a16="http://schemas.microsoft.com/office/drawing/2014/main" id="{63485D15-1D9F-8369-0DEE-20F539E5CF4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043487" y="2915487"/>
            <a:ext cx="3133725" cy="581025"/>
          </a:xfrm>
          <a:prstGeom prst="rect">
            <a:avLst/>
          </a:prstGeom>
        </p:spPr>
      </p:pic>
      <p:pic>
        <p:nvPicPr>
          <p:cNvPr id="9" name="Imagen 8" descr="EurekaBank Grupo 09 · .NET · REST · case_transfer" title="EurekaBank Grupo 09 · .NET · REST · case_transfer">
            <a:extLst>
              <a:ext uri="{FF2B5EF4-FFF2-40B4-BE49-F238E27FC236}">
                <a16:creationId xmlns:a16="http://schemas.microsoft.com/office/drawing/2014/main" id="{C7094555-217C-B36C-897F-637365B7610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031579" y="3666694"/>
            <a:ext cx="1909763" cy="525185"/>
          </a:xfrm>
          <a:prstGeom prst="rect">
            <a:avLst/>
          </a:prstGeom>
        </p:spPr>
      </p:pic>
      <p:pic>
        <p:nvPicPr>
          <p:cNvPr id="10" name="Imagen 9" descr="EurekaBank Grupo 09 · .NET · REST · case_login" title="EurekaBank Grupo 09 · .NET · REST · case_login">
            <a:extLst>
              <a:ext uri="{FF2B5EF4-FFF2-40B4-BE49-F238E27FC236}">
                <a16:creationId xmlns:a16="http://schemas.microsoft.com/office/drawing/2014/main" id="{FF8E3F3C-9F73-AB0B-EBD4-03A0A34CC11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043487" y="4500787"/>
            <a:ext cx="2466106" cy="536423"/>
          </a:xfrm>
          <a:prstGeom prst="rect">
            <a:avLst/>
          </a:prstGeom>
        </p:spPr>
      </p:pic>
      <p:pic>
        <p:nvPicPr>
          <p:cNvPr id="11" name="Imagen 10" descr="EurekaBank Grupo 09 · .NET · REST · conceptual" title="EurekaBank Grupo 09 · .NET · REST · conceptual">
            <a:extLst>
              <a:ext uri="{FF2B5EF4-FFF2-40B4-BE49-F238E27FC236}">
                <a16:creationId xmlns:a16="http://schemas.microsoft.com/office/drawing/2014/main" id="{31B59A67-36C8-1728-081C-7FE6B1F9CA8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5043052" y="5336593"/>
            <a:ext cx="15240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9662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Red móvil: localhost refiere al dispositivo; use una dirección alcanzable desde emulador o teléfono.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200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EurekaBank Grupo 09 · .NET · REST · activity_login" title="EurekaBank Grupo 09 · .NET · REST · activity_login">
            <a:extLst>
              <a:ext uri="{FF2B5EF4-FFF2-40B4-BE49-F238E27FC236}">
                <a16:creationId xmlns:a16="http://schemas.microsoft.com/office/drawing/2014/main" id="{46DCAA37-DC4A-8B86-5B7A-7E85D5C312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2" y="2804540"/>
            <a:ext cx="1640059" cy="373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EurekaBank Grupo 09 · .NET · REST · sequence_transfer" title="EurekaBank Grupo 09 · .NET · REST · sequence_transfer">
            <a:extLst>
              <a:ext uri="{FF2B5EF4-FFF2-40B4-BE49-F238E27FC236}">
                <a16:creationId xmlns:a16="http://schemas.microsoft.com/office/drawing/2014/main" id="{81F325D0-14D7-9490-F13D-162309064F5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949" y="3429000"/>
            <a:ext cx="4552315" cy="19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 descr="EurekaBank Grupo 09 · .NET · REST · activity_transfer" title="EurekaBank Grupo 09 · .NET · REST · activity_transfer">
            <a:extLst>
              <a:ext uri="{FF2B5EF4-FFF2-40B4-BE49-F238E27FC236}">
                <a16:creationId xmlns:a16="http://schemas.microsoft.com/office/drawing/2014/main" id="{FE83EB40-7CA2-9AF3-50DC-4758040836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040" y="2797144"/>
            <a:ext cx="1640058" cy="373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674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EurekaBank expone recursos REST/JSON con .NET 10 · ASP.NET Core y persistencia en SQL Server. Consola, escritorio, web y móvil comparten rutas y sesión temporal.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transferencia valida titularidad, estado, moneda, saldo e importe. Registra 009 SALIDA y 008 INGRESO en una transacción; un error revierte ambos apuntes.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28919916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BC33A-CD42-4FC7-A6A8-7EDA27FD2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0960AD-F226-4240-9557-9B1A56633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6" y="1857178"/>
            <a:ext cx="8500664" cy="2429799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Configure .NET 10 y dotnet y SQL Server antes de abrir clientes. Use variables de entorno para endpoint y conexión; no copie secretos en capturas.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t>Pruebe titularidad, moneda, saldo insuficiente, doble solicitud y rollback. Mantenga la misma clave idempotente al resolver una respuesta incierta.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 producción use HTTPS, permisos mínimos y registros sin contraseñas ni tokens completos.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4452AF-173F-4A3B-AAAA-2E1E26784C6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1795761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90989-CA87-4621-A0C3-233A33CC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0FD96C-3240-4673-A01D-AB9F82CF6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8571686" cy="3678303"/>
          </a:xfrm>
        </p:spPr>
        <p:txBody>
          <a:bodyPr>
            <a:normAutofit/>
          </a:bodyPr>
          <a:lstStyle/>
          <a:p>
            <a:pPr marL="243840" marR="0" indent="-24384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243840" algn="l"/>
              </a:tabLst>
            </a:pP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 EurekaBank. Manual de implementación del servicio SOAP Java y base de datos local. Documento de referencia.</a:t>
            </a:r>
            <a:r>
              <a:rPr lang="es-EC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n-U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EurekaBank. Presentación de diseño conceptual y desarrollo del servicio SOAP Java. Documento de referencia.</a:t>
            </a:r>
            <a:r>
              <a:rPr lang="es-EC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n-U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C9745E7-07CB-4EAD-AB25-DF4CD32FFD3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51422643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3083</Words>
  <Application>Microsoft Office PowerPoint</Application>
  <PresentationFormat>Panorámica</PresentationFormat>
  <Paragraphs>665</Paragraphs>
  <Slides>44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49" baseType="lpstr">
      <vt:lpstr>Cambria</vt:lpstr>
      <vt:lpstr>Gill Sans MT</vt:lpstr>
      <vt:lpstr>Symbol</vt:lpstr>
      <vt:lpstr>Wingdings 2</vt:lpstr>
      <vt:lpstr>Dividendo</vt:lpstr>
      <vt:lpstr>MANUAL EUREKA BANK CON SOAP Y BASE DE DATOS- java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EurekaBank · REST · .NET · Grupo 09</dc:title>
  <dc:creator>Grupo 09 · NRC 36884</dc:creator>
  <cp:lastModifiedBy>Grupo 09</cp:lastModifiedBy>
  <cp:revision>3</cp:revision>
  <dcterms:created xsi:type="dcterms:W3CDTF">2020-08-13T07:15:02Z</dcterms:created>
  <dcterms:modified xsi:type="dcterms:W3CDTF">2024-12-10T02:54:03Z</dcterms:modified>
  <dc:subject>Arquitectura de software · NRC 36884 · SQL Server</dc:subject>
  <cp:keywords>EurekaBank, Grupo 09, NRC 36884, REST, .NET, transferencias</cp:keywords>
  <dc:description>Presentación EurekaBank Grupo 09 · NRC 36884.</dc:description>
</cp:coreProperties>
</file>