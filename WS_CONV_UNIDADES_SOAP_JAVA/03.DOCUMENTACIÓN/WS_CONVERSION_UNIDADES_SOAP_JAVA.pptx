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4"/>
  </p:notesMasterIdLst>
  <p:sldIdLst>
    <p:sldId id="386" r:id="rId2"/>
    <p:sldId id="257" r:id="rId3"/>
    <p:sldId id="258" r:id="rId4"/>
    <p:sldId id="259" r:id="rId5"/>
    <p:sldId id="260" r:id="rId6"/>
    <p:sldId id="261" r:id="rId7"/>
    <p:sldId id="387" r:id="rId8"/>
    <p:sldId id="291" r:id="rId9"/>
    <p:sldId id="390" r:id="rId10"/>
    <p:sldId id="388" r:id="rId11"/>
    <p:sldId id="394" r:id="rId12"/>
    <p:sldId id="389" r:id="rId13"/>
    <p:sldId id="395" r:id="rId14"/>
    <p:sldId id="391" r:id="rId15"/>
    <p:sldId id="408" r:id="rId16"/>
    <p:sldId id="409" r:id="rId17"/>
    <p:sldId id="410" r:id="rId18"/>
    <p:sldId id="411" r:id="rId19"/>
    <p:sldId id="412" r:id="rId20"/>
    <p:sldId id="413" r:id="rId21"/>
    <p:sldId id="414" r:id="rId22"/>
    <p:sldId id="415" r:id="rId23"/>
    <p:sldId id="416" r:id="rId24"/>
    <p:sldId id="417" r:id="rId25"/>
    <p:sldId id="418" r:id="rId26"/>
    <p:sldId id="419" r:id="rId27"/>
    <p:sldId id="420" r:id="rId28"/>
    <p:sldId id="421" r:id="rId29"/>
    <p:sldId id="422" r:id="rId30"/>
    <p:sldId id="423" r:id="rId31"/>
    <p:sldId id="424" r:id="rId32"/>
    <p:sldId id="425" r:id="rId33"/>
    <p:sldId id="426" r:id="rId34"/>
    <p:sldId id="428" r:id="rId35"/>
    <p:sldId id="429" r:id="rId36"/>
    <p:sldId id="431" r:id="rId37"/>
    <p:sldId id="432" r:id="rId38"/>
    <p:sldId id="433" r:id="rId39"/>
    <p:sldId id="434" r:id="rId40"/>
    <p:sldId id="435" r:id="rId41"/>
    <p:sldId id="436" r:id="rId42"/>
    <p:sldId id="437" r:id="rId43"/>
    <p:sldId id="438" r:id="rId44"/>
    <p:sldId id="439" r:id="rId45"/>
    <p:sldId id="440" r:id="rId46"/>
    <p:sldId id="441" r:id="rId47"/>
    <p:sldId id="442" r:id="rId48"/>
    <p:sldId id="445" r:id="rId49"/>
    <p:sldId id="443" r:id="rId50"/>
    <p:sldId id="444" r:id="rId51"/>
    <p:sldId id="446" r:id="rId52"/>
    <p:sldId id="447" r:id="rId53"/>
    <p:sldId id="448" r:id="rId54"/>
    <p:sldId id="449" r:id="rId55"/>
    <p:sldId id="452" r:id="rId56"/>
    <p:sldId id="453" r:id="rId57"/>
    <p:sldId id="454" r:id="rId58"/>
    <p:sldId id="455" r:id="rId59"/>
    <p:sldId id="456" r:id="rId60"/>
    <p:sldId id="457" r:id="rId61"/>
    <p:sldId id="458" r:id="rId62"/>
    <p:sldId id="459" r:id="rId63"/>
    <p:sldId id="460" r:id="rId64"/>
    <p:sldId id="463" r:id="rId65"/>
    <p:sldId id="464" r:id="rId66"/>
    <p:sldId id="461" r:id="rId67"/>
    <p:sldId id="462" r:id="rId68"/>
    <p:sldId id="465" r:id="rId69"/>
    <p:sldId id="466" r:id="rId70"/>
    <p:sldId id="467" r:id="rId71"/>
    <p:sldId id="468" r:id="rId72"/>
    <p:sldId id="469" r:id="rId73"/>
    <p:sldId id="470" r:id="rId74"/>
    <p:sldId id="471" r:id="rId75"/>
    <p:sldId id="472" r:id="rId76"/>
    <p:sldId id="475" r:id="rId77"/>
    <p:sldId id="476" r:id="rId78"/>
    <p:sldId id="477" r:id="rId79"/>
    <p:sldId id="479" r:id="rId80"/>
    <p:sldId id="283" r:id="rId81"/>
    <p:sldId id="284" r:id="rId82"/>
    <p:sldId id="355" r:id="rId8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BDE78D-845D-4615-9E84-82C40C1EA737}" v="44" dt="2021-03-22T21:24:59.8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A74F5E-A08B-4F3E-940E-AFA680B6F2C2}" type="datetimeFigureOut">
              <a:rPr lang="es-EC" smtClean="0"/>
              <a:t>13/7/2024</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EC5990-E573-4A74-BFC0-19A1B78F7E59}" type="slidenum">
              <a:rPr lang="es-EC" smtClean="0"/>
              <a:t>‹Nº›</a:t>
            </a:fld>
            <a:endParaRPr lang="es-EC"/>
          </a:p>
        </p:txBody>
      </p:sp>
    </p:spTree>
    <p:extLst>
      <p:ext uri="{BB962C8B-B14F-4D97-AF65-F5344CB8AC3E}">
        <p14:creationId xmlns:p14="http://schemas.microsoft.com/office/powerpoint/2010/main" val="1532716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AEEC5990-E573-4A74-BFC0-19A1B78F7E59}" type="slidenum">
              <a:rPr lang="es-EC" smtClean="0"/>
              <a:t>2</a:t>
            </a:fld>
            <a:endParaRPr lang="es-EC"/>
          </a:p>
        </p:txBody>
      </p:sp>
    </p:spTree>
    <p:extLst>
      <p:ext uri="{BB962C8B-B14F-4D97-AF65-F5344CB8AC3E}">
        <p14:creationId xmlns:p14="http://schemas.microsoft.com/office/powerpoint/2010/main" val="2048466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6B05794-DB7F-42A6-826E-1DDB88CF48D5}" type="datetimeFigureOut">
              <a:rPr lang="es-EC" smtClean="0"/>
              <a:t>13/7/2024</a:t>
            </a:fld>
            <a:endParaRPr lang="es-EC"/>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s-EC"/>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FF3F0503-9809-4249-A425-84ADE8BB0A58}" type="slidenum">
              <a:rPr lang="es-EC" smtClean="0"/>
              <a:t>‹Nº›</a:t>
            </a:fld>
            <a:endParaRPr lang="es-EC"/>
          </a:p>
        </p:txBody>
      </p:sp>
    </p:spTree>
    <p:extLst>
      <p:ext uri="{BB962C8B-B14F-4D97-AF65-F5344CB8AC3E}">
        <p14:creationId xmlns:p14="http://schemas.microsoft.com/office/powerpoint/2010/main" val="3793788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B05794-DB7F-42A6-826E-1DDB88CF48D5}" type="datetimeFigureOut">
              <a:rPr lang="es-EC" smtClean="0"/>
              <a:t>13/7/2024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a:xfrm>
            <a:off x="10558300" y="5956137"/>
            <a:ext cx="1052508" cy="365125"/>
          </a:xfrm>
        </p:spPr>
        <p:txBody>
          <a:bodyPr/>
          <a:lstStyle/>
          <a:p>
            <a:fld id="{FF3F0503-9809-4249-A425-84ADE8BB0A58}" type="slidenum">
              <a:rPr lang="es-EC" smtClean="0"/>
              <a:t>‹Nº›</a:t>
            </a:fld>
            <a:endParaRPr lang="es-EC"/>
          </a:p>
        </p:txBody>
      </p:sp>
    </p:spTree>
    <p:extLst>
      <p:ext uri="{BB962C8B-B14F-4D97-AF65-F5344CB8AC3E}">
        <p14:creationId xmlns:p14="http://schemas.microsoft.com/office/powerpoint/2010/main" val="324353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6B05794-DB7F-42A6-826E-1DDB88CF48D5}" type="datetimeFigureOut">
              <a:rPr lang="es-EC" smtClean="0"/>
              <a:t>13/7/2024</a:t>
            </a:fld>
            <a:endParaRPr lang="es-EC"/>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s-EC"/>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FF3F0503-9809-4249-A425-84ADE8BB0A58}" type="slidenum">
              <a:rPr lang="es-EC" smtClean="0"/>
              <a:t>‹Nº›</a:t>
            </a:fld>
            <a:endParaRPr lang="es-EC"/>
          </a:p>
        </p:txBody>
      </p:sp>
    </p:spTree>
    <p:extLst>
      <p:ext uri="{BB962C8B-B14F-4D97-AF65-F5344CB8AC3E}">
        <p14:creationId xmlns:p14="http://schemas.microsoft.com/office/powerpoint/2010/main" val="38961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B05794-DB7F-42A6-826E-1DDB88CF48D5}" type="datetimeFigureOut">
              <a:rPr lang="es-EC" smtClean="0"/>
              <a:t>13/7/2024</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FF3F0503-9809-4249-A425-84ADE8BB0A58}" type="slidenum">
              <a:rPr lang="es-EC" smtClean="0"/>
              <a:t>‹Nº›</a:t>
            </a:fld>
            <a:endParaRPr lang="es-EC"/>
          </a:p>
        </p:txBody>
      </p:sp>
    </p:spTree>
    <p:extLst>
      <p:ext uri="{BB962C8B-B14F-4D97-AF65-F5344CB8AC3E}">
        <p14:creationId xmlns:p14="http://schemas.microsoft.com/office/powerpoint/2010/main" val="94984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B05794-DB7F-42A6-826E-1DDB88CF48D5}" type="datetimeFigureOut">
              <a:rPr lang="es-EC" smtClean="0"/>
              <a:t>13/7/2024</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FF3F0503-9809-4249-A425-84ADE8BB0A58}" type="slidenum">
              <a:rPr lang="es-EC" smtClean="0"/>
              <a:t>‹Nº›</a:t>
            </a:fld>
            <a:endParaRPr lang="es-EC"/>
          </a:p>
        </p:txBody>
      </p:sp>
    </p:spTree>
    <p:extLst>
      <p:ext uri="{BB962C8B-B14F-4D97-AF65-F5344CB8AC3E}">
        <p14:creationId xmlns:p14="http://schemas.microsoft.com/office/powerpoint/2010/main" val="22148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6B05794-DB7F-42A6-826E-1DDB88CF48D5}" type="datetimeFigureOut">
              <a:rPr lang="es-EC" smtClean="0"/>
              <a:t>13/7/2024</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FF3F0503-9809-4249-A425-84ADE8BB0A58}" type="slidenum">
              <a:rPr lang="es-EC" smtClean="0"/>
              <a:t>‹Nº›</a:t>
            </a:fld>
            <a:endParaRPr lang="es-EC"/>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86226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B05794-DB7F-42A6-826E-1DDB88CF48D5}" type="datetimeFigureOut">
              <a:rPr lang="es-EC" smtClean="0"/>
              <a:t>13/7/2024</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FF3F0503-9809-4249-A425-84ADE8BB0A58}" type="slidenum">
              <a:rPr lang="es-EC" smtClean="0"/>
              <a:t>‹Nº›</a:t>
            </a:fld>
            <a:endParaRPr lang="es-EC"/>
          </a:p>
        </p:txBody>
      </p:sp>
    </p:spTree>
    <p:extLst>
      <p:ext uri="{BB962C8B-B14F-4D97-AF65-F5344CB8AC3E}">
        <p14:creationId xmlns:p14="http://schemas.microsoft.com/office/powerpoint/2010/main" val="1160503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6B05794-DB7F-42A6-826E-1DDB88CF48D5}" type="datetimeFigureOut">
              <a:rPr lang="es-EC" smtClean="0"/>
              <a:t>13/7/2024</a:t>
            </a:fld>
            <a:endParaRPr lang="es-EC"/>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s-EC"/>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F3F0503-9809-4249-A425-84ADE8BB0A58}" type="slidenum">
              <a:rPr lang="es-EC" smtClean="0"/>
              <a:t>‹Nº›</a:t>
            </a:fld>
            <a:endParaRPr lang="es-EC"/>
          </a:p>
        </p:txBody>
      </p:sp>
    </p:spTree>
    <p:extLst>
      <p:ext uri="{BB962C8B-B14F-4D97-AF65-F5344CB8AC3E}">
        <p14:creationId xmlns:p14="http://schemas.microsoft.com/office/powerpoint/2010/main" val="137084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B05794-DB7F-42A6-826E-1DDB88CF48D5}" type="datetimeFigureOut">
              <a:rPr lang="es-EC" smtClean="0"/>
              <a:t>13/7/2024</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FF3F0503-9809-4249-A425-84ADE8BB0A58}" type="slidenum">
              <a:rPr lang="es-EC" smtClean="0"/>
              <a:t>‹Nº›</a:t>
            </a:fld>
            <a:endParaRPr lang="es-EC"/>
          </a:p>
        </p:txBody>
      </p:sp>
    </p:spTree>
    <p:extLst>
      <p:ext uri="{BB962C8B-B14F-4D97-AF65-F5344CB8AC3E}">
        <p14:creationId xmlns:p14="http://schemas.microsoft.com/office/powerpoint/2010/main" val="1638979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B05794-DB7F-42A6-826E-1DDB88CF48D5}" type="datetimeFigureOut">
              <a:rPr lang="es-EC" smtClean="0"/>
              <a:t>13/7/2024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FF3F0503-9809-4249-A425-84ADE8BB0A58}" type="slidenum">
              <a:rPr lang="es-EC" smtClean="0"/>
              <a:t>‹Nº›</a:t>
            </a:fld>
            <a:endParaRPr lang="es-EC"/>
          </a:p>
        </p:txBody>
      </p:sp>
    </p:spTree>
    <p:extLst>
      <p:ext uri="{BB962C8B-B14F-4D97-AF65-F5344CB8AC3E}">
        <p14:creationId xmlns:p14="http://schemas.microsoft.com/office/powerpoint/2010/main" val="297330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6B05794-DB7F-42A6-826E-1DDB88CF48D5}" type="datetimeFigureOut">
              <a:rPr lang="es-EC" smtClean="0"/>
              <a:t>13/7/2024</a:t>
            </a:fld>
            <a:endParaRPr lang="es-EC"/>
          </a:p>
        </p:txBody>
      </p:sp>
      <p:sp>
        <p:nvSpPr>
          <p:cNvPr id="5" name="Footer Placeholder 4"/>
          <p:cNvSpPr>
            <a:spLocks noGrp="1"/>
          </p:cNvSpPr>
          <p:nvPr>
            <p:ph type="ftr" sz="quarter" idx="11"/>
          </p:nvPr>
        </p:nvSpPr>
        <p:spPr>
          <a:xfrm>
            <a:off x="774923" y="5951811"/>
            <a:ext cx="7896279" cy="365125"/>
          </a:xfrm>
        </p:spPr>
        <p:txBody>
          <a:bodyPr/>
          <a:lstStyle/>
          <a:p>
            <a:endParaRPr lang="es-EC"/>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FF3F0503-9809-4249-A425-84ADE8BB0A58}" type="slidenum">
              <a:rPr lang="es-EC" smtClean="0"/>
              <a:t>‹Nº›</a:t>
            </a:fld>
            <a:endParaRPr lang="es-EC"/>
          </a:p>
        </p:txBody>
      </p:sp>
    </p:spTree>
    <p:extLst>
      <p:ext uri="{BB962C8B-B14F-4D97-AF65-F5344CB8AC3E}">
        <p14:creationId xmlns:p14="http://schemas.microsoft.com/office/powerpoint/2010/main" val="517623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6B05794-DB7F-42A6-826E-1DDB88CF48D5}" type="datetimeFigureOut">
              <a:rPr lang="es-EC" smtClean="0"/>
              <a:t>13/7/2024</a:t>
            </a:fld>
            <a:endParaRPr lang="es-EC"/>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s-EC"/>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FF3F0503-9809-4249-A425-84ADE8BB0A58}" type="slidenum">
              <a:rPr lang="es-EC" smtClean="0"/>
              <a:t>‹Nº›</a:t>
            </a:fld>
            <a:endParaRPr lang="es-EC"/>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624808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5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5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5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6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6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67.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image" Target="../media/image120.jpeg"/><Relationship Id="rId1" Type="http://schemas.openxmlformats.org/officeDocument/2006/relationships/slideLayout" Target="../slideLayouts/slideLayout2.xml"/><Relationship Id="rId4" Type="http://schemas.openxmlformats.org/officeDocument/2006/relationships/image" Target="../media/image122.jpeg"/></Relationships>
</file>

<file path=ppt/slides/_rels/slide68.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image" Target="../media/image123.jpe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69.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28.jpeg"/><Relationship Id="rId1" Type="http://schemas.openxmlformats.org/officeDocument/2006/relationships/slideLayout" Target="../slideLayouts/slideLayout2.xml"/><Relationship Id="rId5" Type="http://schemas.openxmlformats.org/officeDocument/2006/relationships/image" Target="../media/image131.jpeg"/><Relationship Id="rId4" Type="http://schemas.openxmlformats.org/officeDocument/2006/relationships/image" Target="../media/image130.jpeg"/></Relationships>
</file>

<file path=ppt/slides/_rels/slide7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www.heflo.com/es/blog/bpm/que-es-bpm/" TargetMode="External"/><Relationship Id="rId2" Type="http://schemas.openxmlformats.org/officeDocument/2006/relationships/hyperlink" Target="https://www.theserverside.com/video/Step-by-step-SOAP-web-services-example-in-Java-using-Eclip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4005747"/>
            <a:ext cx="10993549" cy="678311"/>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dirty="0">
                <a:solidFill>
                  <a:schemeClr val="lt1"/>
                </a:solidFill>
              </a:rPr>
              <a:t>WEB SERVICE </a:t>
            </a:r>
            <a:r>
              <a:rPr lang="es-ES" dirty="0" err="1">
                <a:solidFill>
                  <a:schemeClr val="lt1"/>
                </a:solidFill>
              </a:rPr>
              <a:t>soap</a:t>
            </a:r>
            <a:r>
              <a:rPr lang="es-ES" dirty="0">
                <a:solidFill>
                  <a:schemeClr val="lt1"/>
                </a:solidFill>
              </a:rPr>
              <a:t> conversión de unidades</a:t>
            </a: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a:t>
            </a:r>
          </a:p>
          <a:p>
            <a:pPr marL="285750" lvl="0" indent="-285750" algn="l" rtl="0">
              <a:lnSpc>
                <a:spcPct val="100000"/>
              </a:lnSpc>
              <a:spcBef>
                <a:spcPts val="0"/>
              </a:spcBef>
              <a:spcAft>
                <a:spcPts val="0"/>
              </a:spcAft>
              <a:buSzPts val="1472"/>
              <a:buFont typeface="Arial" panose="020B0604020202020204" pitchFamily="34" charset="0"/>
              <a:buChar char="•"/>
            </a:pPr>
            <a:r>
              <a:rPr lang="es-ES" dirty="0">
                <a:solidFill>
                  <a:schemeClr val="lt1"/>
                </a:solidFill>
              </a:rPr>
              <a:t>SANTIAGO RISUEÑO</a:t>
            </a:r>
          </a:p>
          <a:p>
            <a:pPr marL="285750" lvl="0" indent="-285750" algn="l" rtl="0">
              <a:lnSpc>
                <a:spcPct val="100000"/>
              </a:lnSpc>
              <a:spcBef>
                <a:spcPts val="0"/>
              </a:spcBef>
              <a:spcAft>
                <a:spcPts val="0"/>
              </a:spcAft>
              <a:buSzPts val="1472"/>
              <a:buFont typeface="Arial" panose="020B0604020202020204" pitchFamily="34" charset="0"/>
              <a:buChar char="•"/>
            </a:pPr>
            <a:r>
              <a:rPr lang="es-ES" dirty="0">
                <a:solidFill>
                  <a:schemeClr val="lt1"/>
                </a:solidFill>
              </a:rPr>
              <a:t>GEORGINO TROYA</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NRC: 14962	</a:t>
            </a:r>
          </a:p>
          <a:p>
            <a:pPr marL="0" marR="0" lvl="0" indent="0" algn="l" rtl="0">
              <a:lnSpc>
                <a:spcPct val="100000"/>
              </a:lnSpc>
              <a:spcBef>
                <a:spcPts val="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ES" sz="1600" b="1" u="sng" dirty="0">
                <a:solidFill>
                  <a:schemeClr val="lt1"/>
                </a:solidFill>
                <a:latin typeface="Gill Sans"/>
                <a:ea typeface="Gill Sans"/>
                <a:cs typeface="Gill Sans"/>
                <a:sym typeface="Gill Sans"/>
              </a:rPr>
              <a:t>10</a:t>
            </a:r>
            <a:r>
              <a:rPr lang="es-ES" sz="1600" b="1" i="0" u="sng" strike="noStrike" cap="none" dirty="0">
                <a:solidFill>
                  <a:schemeClr val="lt1"/>
                </a:solidFill>
                <a:latin typeface="Gill Sans"/>
                <a:ea typeface="Gill Sans"/>
                <a:cs typeface="Gill Sans"/>
                <a:sym typeface="Gill Sans"/>
              </a:rPr>
              <a:t>/07/2024</a:t>
            </a:r>
          </a:p>
          <a:p>
            <a:pPr marL="0" marR="0" lvl="0" indent="0" algn="l" rtl="0">
              <a:lnSpc>
                <a:spcPct val="100000"/>
              </a:lnSpc>
              <a:spcBef>
                <a:spcPts val="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ndera Traslapada Azul De Las Letras Del ORDEN DEL DÍA Stock de  ilustración - Ilustración de azul, traslapada: 118490227">
            <a:extLst>
              <a:ext uri="{FF2B5EF4-FFF2-40B4-BE49-F238E27FC236}">
                <a16:creationId xmlns:a16="http://schemas.microsoft.com/office/drawing/2014/main" id="{7A07C550-FF5C-4C3F-A8DF-92AFE5E8E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130" y="614918"/>
            <a:ext cx="4676326" cy="1752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eneficios de usar una agenda de papel">
            <a:extLst>
              <a:ext uri="{FF2B5EF4-FFF2-40B4-BE49-F238E27FC236}">
                <a16:creationId xmlns:a16="http://schemas.microsoft.com/office/drawing/2014/main" id="{B0AD3F55-1124-4C71-B174-26B57FC332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800" y="2280033"/>
            <a:ext cx="7823200" cy="52154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525B0A4-3BB4-4568-959F-6AE8A7389556}"/>
              </a:ext>
            </a:extLst>
          </p:cNvPr>
          <p:cNvSpPr/>
          <p:nvPr/>
        </p:nvSpPr>
        <p:spPr>
          <a:xfrm>
            <a:off x="467833" y="614918"/>
            <a:ext cx="3900967" cy="61686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u="sng" dirty="0"/>
              <a:t>TEMA:</a:t>
            </a:r>
            <a:r>
              <a:rPr lang="es-ES" b="1" dirty="0"/>
              <a:t> WS SOAP JAVA CONVERSIÓN DE UNIDADES</a:t>
            </a:r>
            <a:endParaRPr lang="es-ES" b="1" u="sng" dirty="0"/>
          </a:p>
          <a:p>
            <a:pPr marL="342900" indent="-342900">
              <a:buFont typeface="+mj-lt"/>
              <a:buAutoNum type="arabicPeriod"/>
            </a:pPr>
            <a:r>
              <a:rPr lang="es-ES" dirty="0"/>
              <a:t>INTRODUCCIÓN	</a:t>
            </a:r>
          </a:p>
          <a:p>
            <a:pPr marL="342900" indent="-342900">
              <a:buFont typeface="+mj-lt"/>
              <a:buAutoNum type="arabicPeriod"/>
            </a:pPr>
            <a:r>
              <a:rPr lang="es-ES" dirty="0"/>
              <a:t>OBJETIVOS	</a:t>
            </a:r>
          </a:p>
          <a:p>
            <a:pPr marL="342900" indent="-342900">
              <a:buFont typeface="+mj-lt"/>
              <a:buAutoNum type="arabicPeriod"/>
            </a:pPr>
            <a:r>
              <a:rPr lang="es-ES" dirty="0"/>
              <a:t>MARCO TEÓRICO	</a:t>
            </a:r>
          </a:p>
          <a:p>
            <a:pPr marL="342900" indent="-342900">
              <a:buFont typeface="+mj-lt"/>
              <a:buAutoNum type="arabicPeriod"/>
            </a:pPr>
            <a:r>
              <a:rPr lang="es-ES" dirty="0"/>
              <a:t>CONFIGURACIÓN IP ESTÁTICA	</a:t>
            </a:r>
          </a:p>
          <a:p>
            <a:pPr marL="342900" indent="-342900">
              <a:buFont typeface="+mj-lt"/>
              <a:buAutoNum type="arabicPeriod"/>
            </a:pPr>
            <a:r>
              <a:rPr lang="es-ES" dirty="0"/>
              <a:t>CREACIÓN DEL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3" name="Imagen 2">
            <a:extLst>
              <a:ext uri="{FF2B5EF4-FFF2-40B4-BE49-F238E27FC236}">
                <a16:creationId xmlns:a16="http://schemas.microsoft.com/office/drawing/2014/main" id="{46A19886-A9D2-37EA-3F83-0E6A238B84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5331366" y="4032286"/>
            <a:ext cx="4237253" cy="265176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639323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0B5FB-8AA2-445A-813E-C34B598F2404}"/>
              </a:ext>
            </a:extLst>
          </p:cNvPr>
          <p:cNvSpPr>
            <a:spLocks noGrp="1"/>
          </p:cNvSpPr>
          <p:nvPr>
            <p:ph type="title"/>
          </p:nvPr>
        </p:nvSpPr>
        <p:spPr/>
        <p:txBody>
          <a:bodyPr/>
          <a:lstStyle/>
          <a:p>
            <a:r>
              <a:rPr lang="es-ES"/>
              <a:t>INTRODUCCIÓN</a:t>
            </a:r>
            <a:endParaRPr lang="es-EC"/>
          </a:p>
        </p:txBody>
      </p:sp>
      <p:sp>
        <p:nvSpPr>
          <p:cNvPr id="3" name="Content Placeholder 2">
            <a:extLst>
              <a:ext uri="{FF2B5EF4-FFF2-40B4-BE49-F238E27FC236}">
                <a16:creationId xmlns:a16="http://schemas.microsoft.com/office/drawing/2014/main" id="{F5E6977B-BE12-4521-B5E7-E88557E16CC3}"/>
              </a:ext>
            </a:extLst>
          </p:cNvPr>
          <p:cNvSpPr>
            <a:spLocks noGrp="1"/>
          </p:cNvSpPr>
          <p:nvPr>
            <p:ph idx="1"/>
          </p:nvPr>
        </p:nvSpPr>
        <p:spPr>
          <a:xfrm>
            <a:off x="581192" y="2180496"/>
            <a:ext cx="6372501" cy="4050183"/>
          </a:xfrm>
        </p:spPr>
        <p:txBody>
          <a:bodyPr/>
          <a:lstStyle/>
          <a:p>
            <a:pPr algn="just">
              <a:lnSpc>
                <a:spcPct val="106000"/>
              </a:lnSpc>
              <a:spcAft>
                <a:spcPts val="800"/>
              </a:spcAft>
            </a:pPr>
            <a:r>
              <a:rPr lang="es-EC" sz="1800">
                <a:effectLst/>
                <a:latin typeface="Times New Roman" panose="02020603050405020304" pitchFamily="18" charset="0"/>
                <a:ea typeface="Calibri" panose="020F0502020204030204" pitchFamily="34" charset="0"/>
                <a:cs typeface="Times New Roman" panose="02020603050405020304" pitchFamily="18" charset="0"/>
              </a:rPr>
              <a:t>Los servicios web son totalmente independientes de lenguajes y plataformas, un servicio web escrito en java puede ser accedido por clientes escritos en otros lenguajes o plataformas y viceversa.</a:t>
            </a:r>
          </a:p>
          <a:p>
            <a:pPr algn="just">
              <a:lnSpc>
                <a:spcPct val="106000"/>
              </a:lnSpc>
              <a:spcAft>
                <a:spcPts val="800"/>
              </a:spcAft>
            </a:pPr>
            <a:r>
              <a:rPr lang="es-EC" sz="1800">
                <a:effectLst/>
                <a:latin typeface="Times New Roman" panose="02020603050405020304" pitchFamily="18" charset="0"/>
                <a:ea typeface="Calibri" panose="020F0502020204030204" pitchFamily="34" charset="0"/>
                <a:cs typeface="Times New Roman" panose="02020603050405020304" pitchFamily="18" charset="0"/>
              </a:rPr>
              <a:t>NetBeans soporta la creación de servicios WEB usando los dos métodos, pero este capítulo se centrará en el desarrollo de servicios web usando SOAP para ello se usará un lenguaje de definición de servicios web.</a:t>
            </a:r>
          </a:p>
          <a:p>
            <a:pPr marL="0" indent="0">
              <a:buNone/>
            </a:pPr>
            <a:endParaRPr lang="es-EC"/>
          </a:p>
        </p:txBody>
      </p:sp>
      <p:sp>
        <p:nvSpPr>
          <p:cNvPr id="5" name="Rectangle 4">
            <a:extLst>
              <a:ext uri="{FF2B5EF4-FFF2-40B4-BE49-F238E27FC236}">
                <a16:creationId xmlns:a16="http://schemas.microsoft.com/office/drawing/2014/main" id="{5BAF65B0-A430-41CC-97D7-D374CA8AE373}"/>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rgbClr val="FFFF00"/>
                </a:solidFill>
              </a:rPr>
              <a:t>INTRODUCCIÓN</a:t>
            </a:r>
            <a:r>
              <a:rPr lang="es-ES" sz="1600" dirty="0"/>
              <a:t>	</a:t>
            </a:r>
          </a:p>
          <a:p>
            <a:pPr marL="342900" indent="-342900">
              <a:buFont typeface="+mj-lt"/>
              <a:buAutoNum type="arabicPeriod"/>
            </a:pPr>
            <a:r>
              <a:rPr lang="es-ES" sz="1600" dirty="0"/>
              <a:t>OBJETIVO	</a:t>
            </a:r>
          </a:p>
          <a:p>
            <a:pPr marL="342900" indent="-342900" algn="ctr">
              <a:buFont typeface="+mj-lt"/>
              <a:buAutoNum type="arabicPeriod"/>
            </a:pPr>
            <a:r>
              <a:rPr lang="es-ES" sz="1600" dirty="0"/>
              <a:t>MARCO TEÓRICO	</a:t>
            </a:r>
          </a:p>
          <a:p>
            <a:pPr marL="800100" lvl="1" indent="-342900">
              <a:buFont typeface="+mj-lt"/>
              <a:buAutoNum type="arabicPeriod"/>
            </a:pPr>
            <a:r>
              <a:rPr lang="es-ES" sz="1600" dirty="0"/>
              <a:t>Servicios Web	</a:t>
            </a:r>
          </a:p>
          <a:p>
            <a:pPr marL="800100" lvl="1" indent="-342900">
              <a:buFont typeface="+mj-lt"/>
              <a:buAutoNum type="arabicPeriod"/>
            </a:pPr>
            <a:r>
              <a:rPr lang="es-ES" sz="1600" dirty="0"/>
              <a:t>SOAP</a:t>
            </a:r>
          </a:p>
          <a:p>
            <a:pPr marL="800100" lvl="1" indent="-342900">
              <a:buFont typeface="+mj-lt"/>
              <a:buAutoNum type="arabicPeriod"/>
            </a:pPr>
            <a:r>
              <a:rPr lang="es-ES" sz="1600" dirty="0"/>
              <a:t>Web </a:t>
            </a:r>
            <a:r>
              <a:rPr lang="es-ES" sz="1600" dirty="0" err="1"/>
              <a:t>Service</a:t>
            </a:r>
            <a:r>
              <a:rPr lang="es-ES" sz="1600" dirty="0"/>
              <a:t> </a:t>
            </a:r>
            <a:r>
              <a:rPr lang="es-ES" sz="1600" dirty="0" err="1"/>
              <a:t>Soap</a:t>
            </a:r>
            <a:endParaRPr lang="es-ES" sz="1600" dirty="0"/>
          </a:p>
          <a:p>
            <a:pPr marL="342900" indent="-342900">
              <a:buFont typeface="+mj-lt"/>
              <a:buAutoNum type="arabicPeriod"/>
            </a:pPr>
            <a:r>
              <a:rPr lang="es-ES" sz="1600" dirty="0"/>
              <a:t>CONFIGURACIÓN IP ESTÁTICA	</a:t>
            </a:r>
          </a:p>
          <a:p>
            <a:pPr marL="342900" indent="-342900">
              <a:buFont typeface="+mj-lt"/>
              <a:buAutoNum type="arabicPeriod"/>
            </a:pPr>
            <a:r>
              <a:rPr lang="es-ES" sz="1600" dirty="0"/>
              <a:t>CREACIÓN DEL SERVIDOR</a:t>
            </a:r>
          </a:p>
          <a:p>
            <a:pPr marL="342900" indent="-342900">
              <a:buFont typeface="+mj-lt"/>
              <a:buAutoNum type="arabicPeriod"/>
            </a:pPr>
            <a:r>
              <a:rPr lang="es-ES" sz="1600" dirty="0"/>
              <a:t>CLIENTE CONSOLA</a:t>
            </a:r>
          </a:p>
          <a:p>
            <a:pPr marL="342900" indent="-342900">
              <a:buFont typeface="+mj-lt"/>
              <a:buAutoNum type="arabicPeriod"/>
            </a:pPr>
            <a:r>
              <a:rPr lang="es-ES" sz="1600" dirty="0"/>
              <a:t>CLLIENTE ESCRITORIO</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spTree>
    <p:extLst>
      <p:ext uri="{BB962C8B-B14F-4D97-AF65-F5344CB8AC3E}">
        <p14:creationId xmlns:p14="http://schemas.microsoft.com/office/powerpoint/2010/main" val="1727671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5C227-1B22-4D8D-AFBC-7D92FCF2025B}"/>
              </a:ext>
            </a:extLst>
          </p:cNvPr>
          <p:cNvSpPr>
            <a:spLocks noGrp="1"/>
          </p:cNvSpPr>
          <p:nvPr>
            <p:ph type="title"/>
          </p:nvPr>
        </p:nvSpPr>
        <p:spPr/>
        <p:txBody>
          <a:bodyPr/>
          <a:lstStyle/>
          <a:p>
            <a:r>
              <a:rPr lang="es-ES"/>
              <a:t>OBJETIVO</a:t>
            </a:r>
            <a:endParaRPr lang="es-EC"/>
          </a:p>
        </p:txBody>
      </p:sp>
      <p:sp>
        <p:nvSpPr>
          <p:cNvPr id="3" name="Content Placeholder 2">
            <a:extLst>
              <a:ext uri="{FF2B5EF4-FFF2-40B4-BE49-F238E27FC236}">
                <a16:creationId xmlns:a16="http://schemas.microsoft.com/office/drawing/2014/main" id="{B88B942E-A654-4903-A3CB-42812C454865}"/>
              </a:ext>
            </a:extLst>
          </p:cNvPr>
          <p:cNvSpPr>
            <a:spLocks noGrp="1"/>
          </p:cNvSpPr>
          <p:nvPr>
            <p:ph idx="1"/>
          </p:nvPr>
        </p:nvSpPr>
        <p:spPr>
          <a:xfrm>
            <a:off x="581192" y="1850886"/>
            <a:ext cx="8265096" cy="3890695"/>
          </a:xfrm>
        </p:spPr>
        <p:txBody>
          <a:bodyPr/>
          <a:lstStyle/>
          <a:p>
            <a:pPr marL="342900" lvl="0" indent="-342900" algn="just">
              <a:lnSpc>
                <a:spcPct val="115000"/>
              </a:lnSpc>
              <a:buFont typeface="Symbol" panose="05050102010706020507" pitchFamily="18"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Desarrollar un proyecto JAVA con Web </a:t>
            </a:r>
            <a:r>
              <a:rPr lang="es-EC" sz="1800" dirty="0" err="1">
                <a:effectLst/>
                <a:latin typeface="Times New Roman" panose="02020603050405020304" pitchFamily="18" charset="0"/>
                <a:ea typeface="Calibri" panose="020F0502020204030204" pitchFamily="34" charset="0"/>
                <a:cs typeface="Times New Roman" panose="02020603050405020304" pitchFamily="18" charset="0"/>
              </a:rPr>
              <a:t>Service</a:t>
            </a: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 utilizando SOAP mediante el IDE </a:t>
            </a:r>
            <a:r>
              <a:rPr lang="es-EC" sz="1800" dirty="0" err="1">
                <a:effectLst/>
                <a:latin typeface="Times New Roman" panose="02020603050405020304" pitchFamily="18" charset="0"/>
                <a:ea typeface="Calibri" panose="020F0502020204030204" pitchFamily="34" charset="0"/>
                <a:cs typeface="Times New Roman" panose="02020603050405020304" pitchFamily="18" charset="0"/>
              </a:rPr>
              <a:t>netbeans</a:t>
            </a: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 para simular transacciones de un banco, ilustrando los pasos generales para su creación.</a:t>
            </a:r>
          </a:p>
          <a:p>
            <a:pPr marL="666900" lvl="1" indent="-342900" algn="just">
              <a:lnSpc>
                <a:spcPct val="115000"/>
              </a:lnSpc>
              <a:buFont typeface="Symbol" panose="05050102010706020507" pitchFamily="18" charset="2"/>
              <a:buChar char=""/>
            </a:pPr>
            <a:r>
              <a:rPr lang="es-EC" dirty="0">
                <a:effectLst/>
                <a:latin typeface="Times New Roman" panose="02020603050405020304" pitchFamily="18" charset="0"/>
                <a:ea typeface="Calibri" panose="020F0502020204030204" pitchFamily="34" charset="0"/>
                <a:cs typeface="Times New Roman" panose="02020603050405020304" pitchFamily="18" charset="0"/>
              </a:rPr>
              <a:t>Desarrollar el sistema con el lenguaje de programación Java</a:t>
            </a:r>
          </a:p>
          <a:p>
            <a:pPr marL="666900" lvl="1" indent="-342900" algn="just">
              <a:lnSpc>
                <a:spcPct val="115000"/>
              </a:lnSpc>
              <a:buFont typeface="Symbol" panose="05050102010706020507" pitchFamily="18" charset="2"/>
              <a:buChar char=""/>
            </a:pPr>
            <a:r>
              <a:rPr lang="es-EC" dirty="0">
                <a:effectLst/>
                <a:latin typeface="Times New Roman" panose="02020603050405020304" pitchFamily="18" charset="0"/>
                <a:ea typeface="Calibri" panose="020F0502020204030204" pitchFamily="34" charset="0"/>
                <a:cs typeface="Times New Roman" panose="02020603050405020304" pitchFamily="18" charset="0"/>
              </a:rPr>
              <a:t>Hacer una demostración de cómo crear un Web </a:t>
            </a:r>
            <a:r>
              <a:rPr lang="es-EC" dirty="0" err="1">
                <a:effectLst/>
                <a:latin typeface="Times New Roman" panose="02020603050405020304" pitchFamily="18" charset="0"/>
                <a:ea typeface="Calibri" panose="020F0502020204030204" pitchFamily="34" charset="0"/>
                <a:cs typeface="Times New Roman" panose="02020603050405020304" pitchFamily="18" charset="0"/>
              </a:rPr>
              <a:t>Service</a:t>
            </a:r>
            <a:r>
              <a:rPr lang="es-EC" dirty="0">
                <a:effectLst/>
                <a:latin typeface="Times New Roman" panose="02020603050405020304" pitchFamily="18" charset="0"/>
                <a:ea typeface="Calibri" panose="020F0502020204030204" pitchFamily="34" charset="0"/>
                <a:cs typeface="Times New Roman" panose="02020603050405020304" pitchFamily="18" charset="0"/>
              </a:rPr>
              <a:t> Client</a:t>
            </a:r>
          </a:p>
          <a:p>
            <a:pPr marL="666900" lvl="1" indent="-342900" algn="just">
              <a:lnSpc>
                <a:spcPct val="115000"/>
              </a:lnSpc>
              <a:buFont typeface="Symbol" panose="05050102010706020507" pitchFamily="18" charset="2"/>
              <a:buChar char=""/>
            </a:pPr>
            <a:r>
              <a:rPr lang="es-EC" dirty="0">
                <a:effectLst/>
                <a:latin typeface="Times New Roman" panose="02020603050405020304" pitchFamily="18" charset="0"/>
                <a:ea typeface="Calibri" panose="020F0502020204030204" pitchFamily="34" charset="0"/>
                <a:cs typeface="Times New Roman" panose="02020603050405020304" pitchFamily="18" charset="0"/>
              </a:rPr>
              <a:t>Utilizar el patrón de diseño MVC</a:t>
            </a:r>
          </a:p>
          <a:p>
            <a:pPr marL="0" indent="0" algn="just">
              <a:lnSpc>
                <a:spcPct val="106000"/>
              </a:lnSpc>
              <a:spcAft>
                <a:spcPts val="800"/>
              </a:spcAft>
              <a:buNone/>
            </a:pPr>
            <a:endParaRPr lang="es-EC"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s-EC" dirty="0"/>
          </a:p>
        </p:txBody>
      </p:sp>
      <p:pic>
        <p:nvPicPr>
          <p:cNvPr id="3074" name="Picture 2" descr="1.2 Objetivos: objetivo general de la investigación y objetivos específicos  - 01 Carrillo Carrillo Cevallos EAC FGTCE04">
            <a:extLst>
              <a:ext uri="{FF2B5EF4-FFF2-40B4-BE49-F238E27FC236}">
                <a16:creationId xmlns:a16="http://schemas.microsoft.com/office/drawing/2014/main" id="{8C6477CA-0A52-4C80-A2DA-0E323B76D8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273" t="9507" r="18925" b="18363"/>
          <a:stretch/>
        </p:blipFill>
        <p:spPr bwMode="auto">
          <a:xfrm>
            <a:off x="5232400" y="4521201"/>
            <a:ext cx="3200400" cy="18034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00B876C-26C4-43D0-8C00-53BEB92F9E3C}"/>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rgbClr val="FFFF00"/>
                </a:solidFill>
              </a:rPr>
              <a:t>OBJETIVO	</a:t>
            </a:r>
          </a:p>
          <a:p>
            <a:pPr marL="342900" indent="-342900">
              <a:buFont typeface="+mj-lt"/>
              <a:buAutoNum type="arabicPeriod"/>
            </a:pPr>
            <a:r>
              <a:rPr lang="es-ES" sz="1600" dirty="0"/>
              <a:t>MARCO TEÓRICO	</a:t>
            </a:r>
          </a:p>
          <a:p>
            <a:pPr marL="800100" lvl="1" indent="-342900">
              <a:buFont typeface="+mj-lt"/>
              <a:buAutoNum type="arabicPeriod"/>
            </a:pPr>
            <a:r>
              <a:rPr lang="es-ES" sz="1600" dirty="0"/>
              <a:t>Servicios Web	</a:t>
            </a:r>
          </a:p>
          <a:p>
            <a:pPr marL="800100" lvl="1" indent="-342900">
              <a:buFont typeface="+mj-lt"/>
              <a:buAutoNum type="arabicPeriod"/>
            </a:pPr>
            <a:r>
              <a:rPr lang="es-ES" sz="1600" dirty="0"/>
              <a:t>SOAP</a:t>
            </a:r>
          </a:p>
          <a:p>
            <a:pPr marL="800100" lvl="1" indent="-342900">
              <a:buFont typeface="+mj-lt"/>
              <a:buAutoNum type="arabicPeriod"/>
            </a:pPr>
            <a:r>
              <a:rPr lang="es-ES" sz="1600" dirty="0"/>
              <a:t>Web </a:t>
            </a:r>
            <a:r>
              <a:rPr lang="es-ES" sz="1600" dirty="0" err="1"/>
              <a:t>Service</a:t>
            </a:r>
            <a:r>
              <a:rPr lang="es-ES" sz="1600" dirty="0"/>
              <a:t> </a:t>
            </a:r>
            <a:r>
              <a:rPr lang="es-ES" sz="1600" dirty="0" err="1"/>
              <a:t>Soap</a:t>
            </a:r>
            <a:endParaRPr lang="es-ES" sz="1600" dirty="0"/>
          </a:p>
          <a:p>
            <a:pPr marL="342900" indent="-342900">
              <a:buFont typeface="+mj-lt"/>
              <a:buAutoNum type="arabicPeriod"/>
            </a:pPr>
            <a:r>
              <a:rPr lang="es-ES" sz="1600" dirty="0"/>
              <a:t>CONFIGURACIÓN IP ESTÁTICA	</a:t>
            </a:r>
          </a:p>
          <a:p>
            <a:pPr marL="342900" indent="-342900">
              <a:buFont typeface="+mj-lt"/>
              <a:buAutoNum type="arabicPeriod"/>
            </a:pPr>
            <a:r>
              <a:rPr lang="es-ES" sz="1600" dirty="0"/>
              <a:t>CREACIÓN DEL SERVIDOR</a:t>
            </a:r>
          </a:p>
          <a:p>
            <a:pPr marL="342900" indent="-342900">
              <a:buFont typeface="+mj-lt"/>
              <a:buAutoNum type="arabicPeriod"/>
            </a:pPr>
            <a:r>
              <a:rPr lang="es-ES" sz="1600" dirty="0"/>
              <a:t>CLIENTE CONSOLA</a:t>
            </a:r>
          </a:p>
          <a:p>
            <a:pPr marL="342900" indent="-342900">
              <a:buFont typeface="+mj-lt"/>
              <a:buAutoNum type="arabicPeriod"/>
            </a:pPr>
            <a:r>
              <a:rPr lang="es-ES" sz="1600" dirty="0"/>
              <a:t>CLLIENTE ESCRITORIO</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spTree>
    <p:extLst>
      <p:ext uri="{BB962C8B-B14F-4D97-AF65-F5344CB8AC3E}">
        <p14:creationId xmlns:p14="http://schemas.microsoft.com/office/powerpoint/2010/main" val="1126599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81D45-18EA-40ED-BCF4-5A3AD8E6F64E}"/>
              </a:ext>
            </a:extLst>
          </p:cNvPr>
          <p:cNvSpPr>
            <a:spLocks noGrp="1"/>
          </p:cNvSpPr>
          <p:nvPr>
            <p:ph type="title"/>
          </p:nvPr>
        </p:nvSpPr>
        <p:spPr/>
        <p:txBody>
          <a:bodyPr/>
          <a:lstStyle/>
          <a:p>
            <a:r>
              <a:rPr lang="es-ES"/>
              <a:t>MARCO TEÓRICO</a:t>
            </a:r>
            <a:endParaRPr lang="es-EC"/>
          </a:p>
        </p:txBody>
      </p:sp>
      <p:sp>
        <p:nvSpPr>
          <p:cNvPr id="3" name="Content Placeholder 2">
            <a:extLst>
              <a:ext uri="{FF2B5EF4-FFF2-40B4-BE49-F238E27FC236}">
                <a16:creationId xmlns:a16="http://schemas.microsoft.com/office/drawing/2014/main" id="{793E27DD-49E0-431B-BD8A-199626713109}"/>
              </a:ext>
            </a:extLst>
          </p:cNvPr>
          <p:cNvSpPr>
            <a:spLocks noGrp="1"/>
          </p:cNvSpPr>
          <p:nvPr>
            <p:ph idx="1"/>
          </p:nvPr>
        </p:nvSpPr>
        <p:spPr>
          <a:xfrm>
            <a:off x="581191" y="2085233"/>
            <a:ext cx="8131985" cy="2222998"/>
          </a:xfrm>
        </p:spPr>
        <p:txBody>
          <a:bodyPr>
            <a:normAutofit fontScale="85000" lnSpcReduction="20000"/>
          </a:bodyPr>
          <a:lstStyle/>
          <a:p>
            <a:r>
              <a:rPr lang="es-ES" sz="2100" b="1" dirty="0">
                <a:solidFill>
                  <a:schemeClr val="tx1"/>
                </a:solidFill>
              </a:rPr>
              <a:t>3.1 SERVICIO WEB</a:t>
            </a:r>
          </a:p>
          <a:p>
            <a:pPr lvl="1"/>
            <a:r>
              <a:rPr lang="es-EC" sz="1800" dirty="0">
                <a:solidFill>
                  <a:srgbClr val="000000"/>
                </a:solidFill>
                <a:effectLst/>
                <a:latin typeface="Times New Roman" panose="02020603050405020304" pitchFamily="18" charset="0"/>
                <a:ea typeface="Times New Roman" panose="02020603050405020304" pitchFamily="18" charset="0"/>
              </a:rPr>
              <a:t>Un Servicio Web es un componente al que podemos acceder mediante protocolos Web estándar, utilizando XML para el intercambio de información.</a:t>
            </a:r>
            <a:endParaRPr lang="es-EC" sz="1800" dirty="0">
              <a:effectLst/>
              <a:latin typeface="Times New Roman" panose="02020603050405020304" pitchFamily="18" charset="0"/>
              <a:ea typeface="Times New Roman" panose="02020603050405020304" pitchFamily="18" charset="0"/>
            </a:endParaRPr>
          </a:p>
          <a:p>
            <a:pPr lvl="1"/>
            <a:r>
              <a:rPr lang="es-EC" sz="1800" dirty="0">
                <a:solidFill>
                  <a:schemeClr val="tx1"/>
                </a:solidFill>
                <a:effectLst/>
                <a:latin typeface="Times New Roman" panose="02020603050405020304" pitchFamily="18" charset="0"/>
                <a:ea typeface="Calibri" panose="020F0502020204030204" pitchFamily="34" charset="0"/>
              </a:rPr>
              <a:t>Un servicio debe poder ser accesible a través de la Web. Para ello debe utilizar protocolos de transporte estándares como HTTP</a:t>
            </a:r>
            <a:endParaRPr lang="es-ES" sz="1800" dirty="0">
              <a:solidFill>
                <a:schemeClr val="tx1"/>
              </a:solidFill>
              <a:effectLst/>
              <a:latin typeface="Times New Roman" panose="02020603050405020304" pitchFamily="18" charset="0"/>
              <a:ea typeface="Calibri" panose="020F0502020204030204" pitchFamily="34" charset="0"/>
            </a:endParaRPr>
          </a:p>
          <a:p>
            <a:pPr lvl="1"/>
            <a:r>
              <a:rPr lang="es-EC" sz="1800" dirty="0">
                <a:solidFill>
                  <a:schemeClr val="tx1"/>
                </a:solidFill>
                <a:effectLst/>
                <a:latin typeface="Times New Roman" panose="02020603050405020304" pitchFamily="18" charset="0"/>
                <a:ea typeface="Calibri" panose="020F0502020204030204" pitchFamily="34" charset="0"/>
              </a:rPr>
              <a:t>Un servicio debe contener una descripción de sí mismo</a:t>
            </a:r>
            <a:endParaRPr lang="es-ES" sz="1800" dirty="0">
              <a:solidFill>
                <a:schemeClr val="tx1"/>
              </a:solidFill>
              <a:latin typeface="Times New Roman" panose="02020603050405020304" pitchFamily="18" charset="0"/>
              <a:ea typeface="Calibri" panose="020F0502020204030204" pitchFamily="34" charset="0"/>
            </a:endParaRPr>
          </a:p>
          <a:p>
            <a:pPr lvl="1"/>
            <a:r>
              <a:rPr lang="es-EC" sz="1800" dirty="0">
                <a:solidFill>
                  <a:schemeClr val="tx1"/>
                </a:solidFill>
                <a:effectLst/>
                <a:latin typeface="Times New Roman" panose="02020603050405020304" pitchFamily="18" charset="0"/>
                <a:ea typeface="Calibri" panose="020F0502020204030204" pitchFamily="34" charset="0"/>
              </a:rPr>
              <a:t>Debe poder ser localizado. Deberemos tener algún mecanismo que nos permita encontrar un Servicio Web que realice una determinada función</a:t>
            </a:r>
            <a:endParaRPr lang="es-EC" dirty="0">
              <a:solidFill>
                <a:schemeClr val="tx1"/>
              </a:solidFill>
            </a:endParaRPr>
          </a:p>
        </p:txBody>
      </p:sp>
      <p:pic>
        <p:nvPicPr>
          <p:cNvPr id="5" name="Imagen 301" descr="Diferencia entre API y Servicio Web - beltranc - Medium">
            <a:extLst>
              <a:ext uri="{FF2B5EF4-FFF2-40B4-BE49-F238E27FC236}">
                <a16:creationId xmlns:a16="http://schemas.microsoft.com/office/drawing/2014/main" id="{4054656A-4730-4C55-882F-C92F571F4DB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5864" y="4422531"/>
            <a:ext cx="3915951" cy="2078208"/>
          </a:xfrm>
          <a:prstGeom prst="rect">
            <a:avLst/>
          </a:prstGeom>
          <a:ln>
            <a:noFill/>
          </a:ln>
          <a:effectLst>
            <a:outerShdw blurRad="190500" algn="tl" rotWithShape="0">
              <a:srgbClr val="000000">
                <a:alpha val="70000"/>
              </a:srgbClr>
            </a:outerShdw>
          </a:effectLst>
        </p:spPr>
      </p:pic>
      <p:sp>
        <p:nvSpPr>
          <p:cNvPr id="6" name="Rectangle 5">
            <a:extLst>
              <a:ext uri="{FF2B5EF4-FFF2-40B4-BE49-F238E27FC236}">
                <a16:creationId xmlns:a16="http://schemas.microsoft.com/office/drawing/2014/main" id="{428E99B9-A841-4F04-BB5E-631ABBC68B89}"/>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rgbClr val="FFFF00"/>
                </a:solidFill>
              </a:rPr>
              <a:t>MARCO TEÓRICO	</a:t>
            </a:r>
          </a:p>
          <a:p>
            <a:pPr marL="800100" lvl="1" indent="-342900">
              <a:buFont typeface="+mj-lt"/>
              <a:buAutoNum type="arabicPeriod"/>
            </a:pPr>
            <a:r>
              <a:rPr lang="es-ES" sz="1600" dirty="0">
                <a:solidFill>
                  <a:srgbClr val="FFFF00"/>
                </a:solidFill>
              </a:rPr>
              <a:t>Servicio Web</a:t>
            </a:r>
            <a:r>
              <a:rPr lang="es-ES" sz="1600" dirty="0"/>
              <a:t>	</a:t>
            </a:r>
          </a:p>
          <a:p>
            <a:pPr marL="800100" lvl="1" indent="-342900">
              <a:buFont typeface="+mj-lt"/>
              <a:buAutoNum type="arabicPeriod"/>
            </a:pPr>
            <a:r>
              <a:rPr lang="es-ES" sz="1600" dirty="0"/>
              <a:t>SOAP</a:t>
            </a:r>
          </a:p>
          <a:p>
            <a:pPr marL="800100" lvl="1" indent="-342900">
              <a:buFont typeface="+mj-lt"/>
              <a:buAutoNum type="arabicPeriod"/>
            </a:pPr>
            <a:r>
              <a:rPr lang="es-ES" sz="1600" dirty="0"/>
              <a:t>Web </a:t>
            </a:r>
            <a:r>
              <a:rPr lang="es-ES" sz="1600" dirty="0" err="1"/>
              <a:t>Service</a:t>
            </a:r>
            <a:r>
              <a:rPr lang="es-ES" sz="1600" dirty="0"/>
              <a:t> </a:t>
            </a:r>
            <a:r>
              <a:rPr lang="es-ES" sz="1600" dirty="0" err="1"/>
              <a:t>Soap</a:t>
            </a:r>
            <a:endParaRPr lang="es-ES" sz="1600" dirty="0"/>
          </a:p>
          <a:p>
            <a:pPr marL="342900" indent="-342900">
              <a:buFont typeface="+mj-lt"/>
              <a:buAutoNum type="arabicPeriod"/>
            </a:pPr>
            <a:r>
              <a:rPr lang="es-ES" sz="1600" dirty="0"/>
              <a:t>CONFIGURACIÓN IP ESTÁTICA	</a:t>
            </a:r>
          </a:p>
          <a:p>
            <a:pPr marL="342900" indent="-342900">
              <a:buFont typeface="+mj-lt"/>
              <a:buAutoNum type="arabicPeriod"/>
            </a:pPr>
            <a:r>
              <a:rPr lang="es-ES" sz="1600" dirty="0"/>
              <a:t>CREACIÓN DEL SERVIDOR</a:t>
            </a:r>
          </a:p>
          <a:p>
            <a:pPr marL="342900" indent="-342900">
              <a:buFont typeface="+mj-lt"/>
              <a:buAutoNum type="arabicPeriod"/>
            </a:pPr>
            <a:r>
              <a:rPr lang="es-ES" sz="1600" dirty="0"/>
              <a:t>CLIENTE CONSOLA</a:t>
            </a:r>
          </a:p>
          <a:p>
            <a:pPr marL="342900" indent="-342900">
              <a:buFont typeface="+mj-lt"/>
              <a:buAutoNum type="arabicPeriod"/>
            </a:pPr>
            <a:r>
              <a:rPr lang="es-ES" sz="1600" dirty="0"/>
              <a:t>CLLIENTE ESCRITORIO</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a:t>
            </a:r>
            <a:r>
              <a:rPr lang="es-ES" dirty="0"/>
              <a:t>	</a:t>
            </a:r>
          </a:p>
        </p:txBody>
      </p:sp>
    </p:spTree>
    <p:extLst>
      <p:ext uri="{BB962C8B-B14F-4D97-AF65-F5344CB8AC3E}">
        <p14:creationId xmlns:p14="http://schemas.microsoft.com/office/powerpoint/2010/main" val="3555382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82D30-5700-4A34-A70C-7339C85310BB}"/>
              </a:ext>
            </a:extLst>
          </p:cNvPr>
          <p:cNvSpPr>
            <a:spLocks noGrp="1"/>
          </p:cNvSpPr>
          <p:nvPr>
            <p:ph type="title"/>
          </p:nvPr>
        </p:nvSpPr>
        <p:spPr/>
        <p:txBody>
          <a:bodyPr/>
          <a:lstStyle/>
          <a:p>
            <a:r>
              <a:rPr lang="es-ES"/>
              <a:t>MARCO TEÓRICO</a:t>
            </a:r>
            <a:endParaRPr lang="es-EC"/>
          </a:p>
        </p:txBody>
      </p:sp>
      <p:sp>
        <p:nvSpPr>
          <p:cNvPr id="3" name="Content Placeholder 2">
            <a:extLst>
              <a:ext uri="{FF2B5EF4-FFF2-40B4-BE49-F238E27FC236}">
                <a16:creationId xmlns:a16="http://schemas.microsoft.com/office/drawing/2014/main" id="{6802FFF1-F4F6-41B4-ADEE-6BCDDFA2893D}"/>
              </a:ext>
            </a:extLst>
          </p:cNvPr>
          <p:cNvSpPr>
            <a:spLocks noGrp="1"/>
          </p:cNvSpPr>
          <p:nvPr>
            <p:ph idx="1"/>
          </p:nvPr>
        </p:nvSpPr>
        <p:spPr>
          <a:xfrm>
            <a:off x="581193" y="2180496"/>
            <a:ext cx="8477748" cy="2370239"/>
          </a:xfrm>
        </p:spPr>
        <p:txBody>
          <a:bodyPr>
            <a:normAutofit/>
          </a:bodyPr>
          <a:lstStyle/>
          <a:p>
            <a:r>
              <a:rPr lang="es-ES" b="1" dirty="0">
                <a:solidFill>
                  <a:schemeClr val="tx1"/>
                </a:solidFill>
              </a:rPr>
              <a:t>3.2 SOAP</a:t>
            </a:r>
          </a:p>
          <a:p>
            <a:pPr lvl="1"/>
            <a:r>
              <a:rPr lang="es-EC" dirty="0">
                <a:solidFill>
                  <a:schemeClr val="tx1"/>
                </a:solidFill>
                <a:latin typeface="Times New Roman" panose="02020603050405020304" pitchFamily="18" charset="0"/>
                <a:ea typeface="Calibri" panose="020F0502020204030204" pitchFamily="34" charset="0"/>
              </a:rPr>
              <a:t>M</a:t>
            </a:r>
            <a:r>
              <a:rPr lang="es-EC" dirty="0">
                <a:solidFill>
                  <a:schemeClr val="tx1"/>
                </a:solidFill>
                <a:effectLst/>
                <a:latin typeface="Times New Roman" panose="02020603050405020304" pitchFamily="18" charset="0"/>
                <a:ea typeface="Calibri" panose="020F0502020204030204" pitchFamily="34" charset="0"/>
              </a:rPr>
              <a:t>ejor conocimos simplemente como Web </a:t>
            </a:r>
            <a:r>
              <a:rPr lang="es-EC" dirty="0" err="1">
                <a:solidFill>
                  <a:schemeClr val="tx1"/>
                </a:solidFill>
                <a:effectLst/>
                <a:latin typeface="Times New Roman" panose="02020603050405020304" pitchFamily="18" charset="0"/>
                <a:ea typeface="Calibri" panose="020F0502020204030204" pitchFamily="34" charset="0"/>
              </a:rPr>
              <a:t>Services</a:t>
            </a:r>
            <a:r>
              <a:rPr lang="es-EC" dirty="0">
                <a:solidFill>
                  <a:schemeClr val="tx1"/>
                </a:solidFill>
                <a:effectLst/>
                <a:latin typeface="Times New Roman" panose="02020603050405020304" pitchFamily="18" charset="0"/>
                <a:ea typeface="Calibri" panose="020F0502020204030204" pitchFamily="34" charset="0"/>
              </a:rPr>
              <a:t>, son servicios que basan su comunicación bajo el protocolo SOAP (Simple </a:t>
            </a:r>
            <a:r>
              <a:rPr lang="es-EC" dirty="0" err="1">
                <a:solidFill>
                  <a:schemeClr val="tx1"/>
                </a:solidFill>
                <a:effectLst/>
                <a:latin typeface="Times New Roman" panose="02020603050405020304" pitchFamily="18" charset="0"/>
                <a:ea typeface="Calibri" panose="020F0502020204030204" pitchFamily="34" charset="0"/>
              </a:rPr>
              <a:t>Object</a:t>
            </a:r>
            <a:r>
              <a:rPr lang="es-EC" dirty="0">
                <a:solidFill>
                  <a:schemeClr val="tx1"/>
                </a:solidFill>
                <a:effectLst/>
                <a:latin typeface="Times New Roman" panose="02020603050405020304" pitchFamily="18" charset="0"/>
                <a:ea typeface="Calibri" panose="020F0502020204030204" pitchFamily="34" charset="0"/>
              </a:rPr>
              <a:t> Access </a:t>
            </a:r>
            <a:r>
              <a:rPr lang="es-EC" dirty="0" err="1">
                <a:solidFill>
                  <a:schemeClr val="tx1"/>
                </a:solidFill>
                <a:effectLst/>
                <a:latin typeface="Times New Roman" panose="02020603050405020304" pitchFamily="18" charset="0"/>
                <a:ea typeface="Calibri" panose="020F0502020204030204" pitchFamily="34" charset="0"/>
              </a:rPr>
              <a:t>Protocol</a:t>
            </a:r>
            <a:r>
              <a:rPr lang="es-EC" dirty="0">
                <a:solidFill>
                  <a:schemeClr val="tx1"/>
                </a:solidFill>
                <a:effectLst/>
                <a:latin typeface="Times New Roman" panose="02020603050405020304" pitchFamily="18" charset="0"/>
                <a:ea typeface="Calibri" panose="020F0502020204030204" pitchFamily="34" charset="0"/>
              </a:rPr>
              <a:t>) </a:t>
            </a:r>
          </a:p>
          <a:p>
            <a:pPr lvl="1"/>
            <a:r>
              <a:rPr lang="es-EC" dirty="0">
                <a:solidFill>
                  <a:schemeClr val="tx1"/>
                </a:solidFill>
                <a:effectLst/>
                <a:latin typeface="Times New Roman" panose="02020603050405020304" pitchFamily="18" charset="0"/>
                <a:ea typeface="Calibri" panose="020F0502020204030204" pitchFamily="34" charset="0"/>
              </a:rPr>
              <a:t>Protocolo estándar que define cómo dos objetos en diferentes procesos pueden comunicarse por medio de intercambio de datos XML</a:t>
            </a:r>
          </a:p>
          <a:p>
            <a:pPr lvl="1"/>
            <a:r>
              <a:rPr lang="es-EC" dirty="0">
                <a:solidFill>
                  <a:schemeClr val="tx1"/>
                </a:solidFill>
                <a:effectLst/>
                <a:latin typeface="Times New Roman" panose="02020603050405020304" pitchFamily="18" charset="0"/>
                <a:ea typeface="Calibri" panose="020F0502020204030204" pitchFamily="34" charset="0"/>
              </a:rPr>
              <a:t>La comunicación se realiza mediante XML, lo cual nos debe de quedar muy claro, pues es en este aspecto donde radican las principales diferencias contra REST.</a:t>
            </a:r>
            <a:endParaRPr lang="es-ES" dirty="0">
              <a:solidFill>
                <a:schemeClr val="tx1"/>
              </a:solidFill>
            </a:endParaRPr>
          </a:p>
          <a:p>
            <a:pPr lvl="1"/>
            <a:endParaRPr lang="es-EC" dirty="0"/>
          </a:p>
        </p:txBody>
      </p:sp>
      <p:pic>
        <p:nvPicPr>
          <p:cNvPr id="5" name="Picture 4">
            <a:extLst>
              <a:ext uri="{FF2B5EF4-FFF2-40B4-BE49-F238E27FC236}">
                <a16:creationId xmlns:a16="http://schemas.microsoft.com/office/drawing/2014/main" id="{2B701688-CE84-4F04-BEDD-395B7F98E497}"/>
              </a:ext>
            </a:extLst>
          </p:cNvPr>
          <p:cNvPicPr/>
          <p:nvPr/>
        </p:nvPicPr>
        <p:blipFill>
          <a:blip r:embed="rId2">
            <a:extLst>
              <a:ext uri="{28A0092B-C50C-407E-A947-70E740481C1C}">
                <a14:useLocalDpi xmlns:a14="http://schemas.microsoft.com/office/drawing/2010/main" val="0"/>
              </a:ext>
            </a:extLst>
          </a:blip>
          <a:srcRect/>
          <a:stretch/>
        </p:blipFill>
        <p:spPr bwMode="auto">
          <a:xfrm>
            <a:off x="2360131" y="4428460"/>
            <a:ext cx="4892011" cy="2036135"/>
          </a:xfrm>
          <a:prstGeom prst="rect">
            <a:avLst/>
          </a:prstGeom>
          <a:noFill/>
          <a:ln>
            <a:noFill/>
          </a:ln>
        </p:spPr>
      </p:pic>
      <p:sp>
        <p:nvSpPr>
          <p:cNvPr id="6" name="Rectangle 5">
            <a:extLst>
              <a:ext uri="{FF2B5EF4-FFF2-40B4-BE49-F238E27FC236}">
                <a16:creationId xmlns:a16="http://schemas.microsoft.com/office/drawing/2014/main" id="{23310543-C29E-4CDB-B646-8F90C663E007}"/>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rgbClr val="FFFF00"/>
                </a:solidFill>
              </a:rPr>
              <a:t>MARCO TEÓRICO</a:t>
            </a:r>
            <a:r>
              <a:rPr lang="es-ES" sz="1600" dirty="0"/>
              <a:t>	</a:t>
            </a:r>
          </a:p>
          <a:p>
            <a:pPr marL="800100" lvl="1" indent="-342900">
              <a:buFont typeface="+mj-lt"/>
              <a:buAutoNum type="arabicPeriod"/>
            </a:pPr>
            <a:r>
              <a:rPr lang="es-ES" sz="1600" dirty="0"/>
              <a:t>Servicios Web	</a:t>
            </a:r>
          </a:p>
          <a:p>
            <a:pPr marL="800100" lvl="1" indent="-342900">
              <a:buFont typeface="+mj-lt"/>
              <a:buAutoNum type="arabicPeriod"/>
            </a:pPr>
            <a:r>
              <a:rPr lang="es-ES" sz="1600" dirty="0">
                <a:solidFill>
                  <a:srgbClr val="FFFF00"/>
                </a:solidFill>
              </a:rPr>
              <a:t>SOAP</a:t>
            </a:r>
          </a:p>
          <a:p>
            <a:pPr marL="800100" lvl="1" indent="-342900">
              <a:buFont typeface="+mj-lt"/>
              <a:buAutoNum type="arabicPeriod"/>
            </a:pPr>
            <a:r>
              <a:rPr lang="es-ES" sz="1600" dirty="0"/>
              <a:t>Web </a:t>
            </a:r>
            <a:r>
              <a:rPr lang="es-ES" sz="1600" dirty="0" err="1"/>
              <a:t>Service</a:t>
            </a:r>
            <a:r>
              <a:rPr lang="es-ES" sz="1600" dirty="0"/>
              <a:t> </a:t>
            </a:r>
            <a:r>
              <a:rPr lang="es-ES" sz="1600" dirty="0" err="1"/>
              <a:t>Soap</a:t>
            </a:r>
            <a:endParaRPr lang="es-ES" sz="1600" dirty="0"/>
          </a:p>
          <a:p>
            <a:pPr marL="342900" indent="-342900">
              <a:buFont typeface="+mj-lt"/>
              <a:buAutoNum type="arabicPeriod"/>
            </a:pPr>
            <a:r>
              <a:rPr lang="es-ES" sz="1600" dirty="0"/>
              <a:t>CONFIGURACIÓN IP ESTÁTICA	</a:t>
            </a:r>
          </a:p>
          <a:p>
            <a:pPr marL="342900" indent="-342900">
              <a:buFont typeface="+mj-lt"/>
              <a:buAutoNum type="arabicPeriod"/>
            </a:pPr>
            <a:r>
              <a:rPr lang="es-ES" sz="1600" dirty="0"/>
              <a:t>CREACIÓN DEL SERVIDOR</a:t>
            </a:r>
          </a:p>
          <a:p>
            <a:pPr marL="342900" indent="-342900">
              <a:buFont typeface="+mj-lt"/>
              <a:buAutoNum type="arabicPeriod"/>
            </a:pPr>
            <a:r>
              <a:rPr lang="es-ES" sz="1600" dirty="0"/>
              <a:t>CLIENTE CONSOLA</a:t>
            </a:r>
          </a:p>
          <a:p>
            <a:pPr marL="342900" indent="-342900">
              <a:buFont typeface="+mj-lt"/>
              <a:buAutoNum type="arabicPeriod"/>
            </a:pPr>
            <a:r>
              <a:rPr lang="es-ES" sz="1600" dirty="0"/>
              <a:t>CLLIENTE ESCRITORIO</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r>
              <a:rPr lang="es-ES" dirty="0"/>
              <a:t>	</a:t>
            </a:r>
          </a:p>
        </p:txBody>
      </p:sp>
    </p:spTree>
    <p:extLst>
      <p:ext uri="{BB962C8B-B14F-4D97-AF65-F5344CB8AC3E}">
        <p14:creationId xmlns:p14="http://schemas.microsoft.com/office/powerpoint/2010/main" val="2837754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82D30-5700-4A34-A70C-7339C85310BB}"/>
              </a:ext>
            </a:extLst>
          </p:cNvPr>
          <p:cNvSpPr>
            <a:spLocks noGrp="1"/>
          </p:cNvSpPr>
          <p:nvPr>
            <p:ph type="title"/>
          </p:nvPr>
        </p:nvSpPr>
        <p:spPr/>
        <p:txBody>
          <a:bodyPr/>
          <a:lstStyle/>
          <a:p>
            <a:r>
              <a:rPr lang="es-ES"/>
              <a:t>MARCO TEÓRICO</a:t>
            </a:r>
            <a:endParaRPr lang="es-EC"/>
          </a:p>
        </p:txBody>
      </p:sp>
      <p:sp>
        <p:nvSpPr>
          <p:cNvPr id="3" name="Content Placeholder 2">
            <a:extLst>
              <a:ext uri="{FF2B5EF4-FFF2-40B4-BE49-F238E27FC236}">
                <a16:creationId xmlns:a16="http://schemas.microsoft.com/office/drawing/2014/main" id="{6802FFF1-F4F6-41B4-ADEE-6BCDDFA2893D}"/>
              </a:ext>
            </a:extLst>
          </p:cNvPr>
          <p:cNvSpPr>
            <a:spLocks noGrp="1"/>
          </p:cNvSpPr>
          <p:nvPr>
            <p:ph idx="1"/>
          </p:nvPr>
        </p:nvSpPr>
        <p:spPr>
          <a:xfrm>
            <a:off x="581193" y="2180496"/>
            <a:ext cx="8477748" cy="2370239"/>
          </a:xfrm>
        </p:spPr>
        <p:txBody>
          <a:bodyPr>
            <a:normAutofit/>
          </a:bodyPr>
          <a:lstStyle/>
          <a:p>
            <a:r>
              <a:rPr lang="es-ES" b="1" dirty="0">
                <a:solidFill>
                  <a:schemeClr val="tx1"/>
                </a:solidFill>
              </a:rPr>
              <a:t>3.3 WEB SERVICE SOAP</a:t>
            </a:r>
          </a:p>
          <a:p>
            <a:pPr lvl="1"/>
            <a:r>
              <a:rPr lang="es-EC" dirty="0">
                <a:solidFill>
                  <a:schemeClr val="tx1"/>
                </a:solidFill>
                <a:latin typeface="Times New Roman" panose="02020603050405020304" pitchFamily="18" charset="0"/>
                <a:ea typeface="Calibri" panose="020F0502020204030204" pitchFamily="34" charset="0"/>
              </a:rPr>
              <a:t>Conjunto de reglas de codificación para expresar instancias de tipos de </a:t>
            </a:r>
            <a:r>
              <a:rPr lang="es-EC" dirty="0" err="1">
                <a:solidFill>
                  <a:schemeClr val="tx1"/>
                </a:solidFill>
                <a:latin typeface="Times New Roman" panose="02020603050405020304" pitchFamily="18" charset="0"/>
                <a:ea typeface="Calibri" panose="020F0502020204030204" pitchFamily="34" charset="0"/>
              </a:rPr>
              <a:t>datos.</a:t>
            </a:r>
            <a:r>
              <a:rPr lang="es-EC" dirty="0" err="1">
                <a:solidFill>
                  <a:schemeClr val="tx1"/>
                </a:solidFill>
                <a:effectLst/>
                <a:latin typeface="Times New Roman" panose="02020603050405020304" pitchFamily="18" charset="0"/>
                <a:ea typeface="Calibri" panose="020F0502020204030204" pitchFamily="34" charset="0"/>
              </a:rPr>
              <a:t>Protocolo</a:t>
            </a:r>
            <a:r>
              <a:rPr lang="es-EC" dirty="0">
                <a:solidFill>
                  <a:schemeClr val="tx1"/>
                </a:solidFill>
                <a:effectLst/>
                <a:latin typeface="Times New Roman" panose="02020603050405020304" pitchFamily="18" charset="0"/>
                <a:ea typeface="Calibri" panose="020F0502020204030204" pitchFamily="34" charset="0"/>
              </a:rPr>
              <a:t> estándar que define cómo dos objetos en diferentes procesos pueden comunicarse por medio de intercambio de datos XML</a:t>
            </a:r>
          </a:p>
          <a:p>
            <a:pPr lvl="1"/>
            <a:r>
              <a:rPr lang="es-EC" dirty="0">
                <a:solidFill>
                  <a:schemeClr val="tx1"/>
                </a:solidFill>
                <a:effectLst/>
                <a:latin typeface="Times New Roman" panose="02020603050405020304" pitchFamily="18" charset="0"/>
                <a:ea typeface="Calibri" panose="020F0502020204030204" pitchFamily="34" charset="0"/>
              </a:rPr>
              <a:t>Sobre (</a:t>
            </a:r>
            <a:r>
              <a:rPr lang="es-EC" dirty="0" err="1">
                <a:solidFill>
                  <a:schemeClr val="tx1"/>
                </a:solidFill>
                <a:effectLst/>
                <a:latin typeface="Times New Roman" panose="02020603050405020304" pitchFamily="18" charset="0"/>
                <a:ea typeface="Calibri" panose="020F0502020204030204" pitchFamily="34" charset="0"/>
              </a:rPr>
              <a:t>envelope</a:t>
            </a:r>
            <a:r>
              <a:rPr lang="es-EC" dirty="0">
                <a:solidFill>
                  <a:schemeClr val="tx1"/>
                </a:solidFill>
                <a:effectLst/>
                <a:latin typeface="Times New Roman" panose="02020603050405020304" pitchFamily="18" charset="0"/>
                <a:ea typeface="Calibri" panose="020F0502020204030204" pitchFamily="34" charset="0"/>
              </a:rPr>
              <a:t>): el cual define qué hay en el mensaje y cómo procesarlo.</a:t>
            </a:r>
            <a:endParaRPr lang="es-EC" dirty="0"/>
          </a:p>
        </p:txBody>
      </p:sp>
      <p:pic>
        <p:nvPicPr>
          <p:cNvPr id="5" name="Picture 4">
            <a:extLst>
              <a:ext uri="{FF2B5EF4-FFF2-40B4-BE49-F238E27FC236}">
                <a16:creationId xmlns:a16="http://schemas.microsoft.com/office/drawing/2014/main" id="{2B701688-CE84-4F04-BEDD-395B7F98E497}"/>
              </a:ext>
            </a:extLst>
          </p:cNvPr>
          <p:cNvPicPr/>
          <p:nvPr/>
        </p:nvPicPr>
        <p:blipFill>
          <a:blip r:embed="rId2">
            <a:extLst>
              <a:ext uri="{28A0092B-C50C-407E-A947-70E740481C1C}">
                <a14:useLocalDpi xmlns:a14="http://schemas.microsoft.com/office/drawing/2010/main" val="0"/>
              </a:ext>
            </a:extLst>
          </a:blip>
          <a:srcRect/>
          <a:stretch/>
        </p:blipFill>
        <p:spPr bwMode="auto">
          <a:xfrm>
            <a:off x="2360131" y="4428460"/>
            <a:ext cx="4892011" cy="2036135"/>
          </a:xfrm>
          <a:prstGeom prst="rect">
            <a:avLst/>
          </a:prstGeom>
          <a:noFill/>
          <a:ln>
            <a:noFill/>
          </a:ln>
        </p:spPr>
      </p:pic>
      <p:sp>
        <p:nvSpPr>
          <p:cNvPr id="6" name="Rectangle 5">
            <a:extLst>
              <a:ext uri="{FF2B5EF4-FFF2-40B4-BE49-F238E27FC236}">
                <a16:creationId xmlns:a16="http://schemas.microsoft.com/office/drawing/2014/main" id="{23310543-C29E-4CDB-B646-8F90C663E007}"/>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rgbClr val="FFFF00"/>
                </a:solidFill>
              </a:rPr>
              <a:t>MARCO TEÓRICO</a:t>
            </a:r>
            <a:r>
              <a:rPr lang="es-ES" sz="1600" dirty="0"/>
              <a:t>	</a:t>
            </a:r>
          </a:p>
          <a:p>
            <a:pPr marL="800100" lvl="1" indent="-342900">
              <a:buFont typeface="+mj-lt"/>
              <a:buAutoNum type="arabicPeriod"/>
            </a:pPr>
            <a:r>
              <a:rPr lang="es-ES" sz="1600" dirty="0"/>
              <a:t>Servicios Web	</a:t>
            </a:r>
          </a:p>
          <a:p>
            <a:pPr marL="800100" lvl="1" indent="-342900">
              <a:buClr>
                <a:schemeClr val="bg1"/>
              </a:buClr>
              <a:buFont typeface="+mj-lt"/>
              <a:buAutoNum type="arabicPeriod"/>
            </a:pPr>
            <a:r>
              <a:rPr lang="es-ES" sz="1600" dirty="0">
                <a:solidFill>
                  <a:schemeClr val="bg1"/>
                </a:solidFill>
              </a:rPr>
              <a:t>SOAP</a:t>
            </a:r>
          </a:p>
          <a:p>
            <a:pPr marL="800100" lvl="1" indent="-342900">
              <a:buFont typeface="+mj-lt"/>
              <a:buAutoNum type="arabicPeriod"/>
            </a:pPr>
            <a:r>
              <a:rPr lang="es-ES" sz="1600" dirty="0">
                <a:solidFill>
                  <a:srgbClr val="FFFF00"/>
                </a:solidFill>
              </a:rPr>
              <a:t>Web </a:t>
            </a:r>
            <a:r>
              <a:rPr lang="es-ES" sz="1600" dirty="0" err="1">
                <a:solidFill>
                  <a:srgbClr val="FFFF00"/>
                </a:solidFill>
              </a:rPr>
              <a:t>Service</a:t>
            </a:r>
            <a:r>
              <a:rPr lang="es-ES" sz="1600" dirty="0">
                <a:solidFill>
                  <a:srgbClr val="FFFF00"/>
                </a:solidFill>
              </a:rPr>
              <a:t> </a:t>
            </a:r>
            <a:r>
              <a:rPr lang="es-ES" sz="1600" dirty="0" err="1">
                <a:solidFill>
                  <a:srgbClr val="FFFF00"/>
                </a:solidFill>
              </a:rPr>
              <a:t>Soap</a:t>
            </a:r>
            <a:endParaRPr lang="es-ES" sz="1600" dirty="0">
              <a:solidFill>
                <a:srgbClr val="FFFF00"/>
              </a:solidFill>
            </a:endParaRPr>
          </a:p>
          <a:p>
            <a:pPr marL="342900" indent="-342900">
              <a:buFont typeface="+mj-lt"/>
              <a:buAutoNum type="arabicPeriod"/>
            </a:pPr>
            <a:r>
              <a:rPr lang="es-ES" sz="1600" dirty="0"/>
              <a:t>CONFIGURACIÓN IP ESTÁTICA	</a:t>
            </a:r>
          </a:p>
          <a:p>
            <a:pPr marL="342900" indent="-342900">
              <a:buFont typeface="+mj-lt"/>
              <a:buAutoNum type="arabicPeriod"/>
            </a:pPr>
            <a:r>
              <a:rPr lang="es-ES" sz="1600" dirty="0"/>
              <a:t>CREACIÓN DEL SERVIDOR</a:t>
            </a:r>
          </a:p>
          <a:p>
            <a:pPr marL="342900" indent="-342900">
              <a:buFont typeface="+mj-lt"/>
              <a:buAutoNum type="arabicPeriod"/>
            </a:pPr>
            <a:r>
              <a:rPr lang="es-ES" sz="1600" dirty="0"/>
              <a:t>CLIENTE CONSOLA</a:t>
            </a:r>
          </a:p>
          <a:p>
            <a:pPr marL="342900" indent="-342900">
              <a:buFont typeface="+mj-lt"/>
              <a:buAutoNum type="arabicPeriod"/>
            </a:pPr>
            <a:r>
              <a:rPr lang="es-ES" sz="1600" dirty="0"/>
              <a:t>CLLIENTE ESCRITORIO</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a:t>
            </a:r>
            <a:r>
              <a:rPr lang="es-ES" dirty="0"/>
              <a:t>	</a:t>
            </a:r>
          </a:p>
        </p:txBody>
      </p:sp>
    </p:spTree>
    <p:extLst>
      <p:ext uri="{BB962C8B-B14F-4D97-AF65-F5344CB8AC3E}">
        <p14:creationId xmlns:p14="http://schemas.microsoft.com/office/powerpoint/2010/main" val="199001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CONFIGURACIÓN IP ESTÁTICA</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rgbClr val="FFFF00"/>
                </a:solidFill>
              </a:rPr>
              <a:t>CONFIGURACIÓN IP ESTÁTICA	</a:t>
            </a:r>
          </a:p>
          <a:p>
            <a:pPr marL="342900" indent="-342900">
              <a:buFont typeface="+mj-lt"/>
              <a:buAutoNum type="arabicPeriod"/>
            </a:pPr>
            <a:r>
              <a:rPr lang="es-ES" dirty="0"/>
              <a:t>CREACIÓN DEL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759" name="Imagen 758">
            <a:extLst>
              <a:ext uri="{FF2B5EF4-FFF2-40B4-BE49-F238E27FC236}">
                <a16:creationId xmlns:a16="http://schemas.microsoft.com/office/drawing/2014/main" id="{58B19AEC-788D-7702-F00C-F955D40EF57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2400" y="2099717"/>
            <a:ext cx="6121399" cy="4386327"/>
          </a:xfrm>
          <a:prstGeom prst="rect">
            <a:avLst/>
          </a:prstGeom>
          <a:ln w="88900" cap="sq" cmpd="thickThin">
            <a:solidFill>
              <a:srgbClr val="000000"/>
            </a:solidFill>
            <a:prstDash val="solid"/>
            <a:miter lim="800000"/>
          </a:ln>
          <a:effectLst>
            <a:innerShdw blurRad="76200">
              <a:srgbClr val="000000"/>
            </a:innerShdw>
          </a:effectLst>
        </p:spPr>
      </p:pic>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203200" y="2180496"/>
            <a:ext cx="2705101" cy="3975348"/>
          </a:xfrm>
        </p:spPr>
        <p:txBody>
          <a:bodyPr>
            <a:normAutofit/>
          </a:bodyPr>
          <a:lstStyle/>
          <a:p>
            <a:pPr lvl="1"/>
            <a:r>
              <a:rPr lang="es-EC" sz="1800" dirty="0">
                <a:solidFill>
                  <a:schemeClr val="tx1"/>
                </a:solidFill>
                <a:effectLst/>
                <a:latin typeface="Times New Roman" panose="02020603050405020304" pitchFamily="18" charset="0"/>
                <a:ea typeface="Calibri" panose="020F0502020204030204" pitchFamily="34" charset="0"/>
              </a:rPr>
              <a:t>Primero vamos a necesitar algún dispositivo que nos permita la conexión directa de los dispositivos a utilizar.</a:t>
            </a:r>
            <a:endParaRPr lang="es-EC" sz="1800" dirty="0"/>
          </a:p>
        </p:txBody>
      </p:sp>
    </p:spTree>
    <p:extLst>
      <p:ext uri="{BB962C8B-B14F-4D97-AF65-F5344CB8AC3E}">
        <p14:creationId xmlns:p14="http://schemas.microsoft.com/office/powerpoint/2010/main" val="1021290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CONFIGURACIÓN IP ESTÁTICA</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rgbClr val="FFFF00"/>
                </a:solidFill>
              </a:rPr>
              <a:t>CONFIGURACIÓN IP ESTÁTICA	</a:t>
            </a:r>
          </a:p>
          <a:p>
            <a:pPr marL="342900" indent="-342900">
              <a:buFont typeface="+mj-lt"/>
              <a:buAutoNum type="arabicPeriod"/>
            </a:pPr>
            <a:r>
              <a:rPr lang="es-ES" sz="1600" dirty="0"/>
              <a:t>CREACIÓN DEL SERVIDOR</a:t>
            </a:r>
          </a:p>
          <a:p>
            <a:pPr marL="342900" indent="-342900">
              <a:buFont typeface="+mj-lt"/>
              <a:buAutoNum type="arabicPeriod"/>
            </a:pPr>
            <a:r>
              <a:rPr lang="es-ES" sz="1600" dirty="0"/>
              <a:t>CLIENTE CONSOLA</a:t>
            </a:r>
          </a:p>
          <a:p>
            <a:pPr marL="342900" indent="-342900">
              <a:buFont typeface="+mj-lt"/>
              <a:buAutoNum type="arabicPeriod"/>
            </a:pPr>
            <a:r>
              <a:rPr lang="es-ES" sz="1600" dirty="0"/>
              <a:t>CLLIENTE ESCRITORIO</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a:t>
            </a:r>
            <a:r>
              <a:rPr lang="es-ES" dirty="0"/>
              <a:t>	</a:t>
            </a:r>
          </a:p>
        </p:txBody>
      </p:sp>
      <p:pic>
        <p:nvPicPr>
          <p:cNvPr id="7" name="Imagen 6" descr="Interfaz de usuario gráfica, Texto&#10;&#10;Descripción generada automáticamente">
            <a:extLst>
              <a:ext uri="{FF2B5EF4-FFF2-40B4-BE49-F238E27FC236}">
                <a16:creationId xmlns:a16="http://schemas.microsoft.com/office/drawing/2014/main" id="{8E58DFE4-B2EC-3B3A-598B-BF00634241E5}"/>
              </a:ext>
            </a:extLst>
          </p:cNvPr>
          <p:cNvPicPr>
            <a:picLocks noChangeAspect="1"/>
          </p:cNvPicPr>
          <p:nvPr/>
        </p:nvPicPr>
        <p:blipFill rotWithShape="1">
          <a:blip r:embed="rId2"/>
          <a:srcRect t="37990" r="36754" b="10161"/>
          <a:stretch/>
        </p:blipFill>
        <p:spPr>
          <a:xfrm>
            <a:off x="4048591" y="3604244"/>
            <a:ext cx="4956276" cy="3075601"/>
          </a:xfrm>
          <a:prstGeom prst="rect">
            <a:avLst/>
          </a:prstGeom>
          <a:ln w="88900" cap="sq" cmpd="thickThin">
            <a:solidFill>
              <a:srgbClr val="000000"/>
            </a:solidFill>
            <a:prstDash val="solid"/>
            <a:miter lim="800000"/>
          </a:ln>
          <a:effectLst>
            <a:innerShdw blurRad="76200">
              <a:srgbClr val="000000"/>
            </a:innerShdw>
          </a:effectLst>
        </p:spPr>
      </p:pic>
      <p:pic>
        <p:nvPicPr>
          <p:cNvPr id="3" name="Imagen 2" descr="Interfaz de usuario gráfica, Aplicación, Teams&#10;&#10;Descripción generada automáticamente">
            <a:extLst>
              <a:ext uri="{FF2B5EF4-FFF2-40B4-BE49-F238E27FC236}">
                <a16:creationId xmlns:a16="http://schemas.microsoft.com/office/drawing/2014/main" id="{69873E14-7774-2B2C-0F6D-6160408724AA}"/>
              </a:ext>
            </a:extLst>
          </p:cNvPr>
          <p:cNvPicPr>
            <a:picLocks noChangeAspect="1"/>
          </p:cNvPicPr>
          <p:nvPr/>
        </p:nvPicPr>
        <p:blipFill>
          <a:blip r:embed="rId3"/>
          <a:stretch>
            <a:fillRect/>
          </a:stretch>
        </p:blipFill>
        <p:spPr>
          <a:xfrm>
            <a:off x="486117" y="2050694"/>
            <a:ext cx="5179156" cy="2419706"/>
          </a:xfrm>
          <a:prstGeom prst="rect">
            <a:avLst/>
          </a:prstGeom>
          <a:ln w="88900" cap="sq" cmpd="thickThin">
            <a:solidFill>
              <a:srgbClr val="000000"/>
            </a:solidFill>
            <a:prstDash val="solid"/>
            <a:miter lim="800000"/>
          </a:ln>
          <a:effectLst>
            <a:innerShdw blurRad="76200">
              <a:srgbClr val="000000"/>
            </a:innerShdw>
          </a:effectLst>
        </p:spPr>
      </p:pic>
      <p:sp>
        <p:nvSpPr>
          <p:cNvPr id="8" name="Content Placeholder 2">
            <a:extLst>
              <a:ext uri="{FF2B5EF4-FFF2-40B4-BE49-F238E27FC236}">
                <a16:creationId xmlns:a16="http://schemas.microsoft.com/office/drawing/2014/main" id="{B3143667-534E-D8FB-752C-F681C849EB48}"/>
              </a:ext>
            </a:extLst>
          </p:cNvPr>
          <p:cNvSpPr>
            <a:spLocks noGrp="1"/>
          </p:cNvSpPr>
          <p:nvPr>
            <p:ph idx="1"/>
          </p:nvPr>
        </p:nvSpPr>
        <p:spPr>
          <a:xfrm>
            <a:off x="370594" y="4692171"/>
            <a:ext cx="3287006" cy="1987674"/>
          </a:xfrm>
        </p:spPr>
        <p:txBody>
          <a:bodyPr>
            <a:normAutofit/>
          </a:bodyPr>
          <a:lstStyle/>
          <a:p>
            <a:pPr lvl="1"/>
            <a:r>
              <a:rPr lang="es-EC" sz="1800" dirty="0">
                <a:solidFill>
                  <a:schemeClr val="tx1"/>
                </a:solidFill>
                <a:latin typeface="Times New Roman" panose="02020603050405020304" pitchFamily="18" charset="0"/>
                <a:ea typeface="Calibri" panose="020F0502020204030204" pitchFamily="34" charset="0"/>
              </a:rPr>
              <a:t>Panel de Control</a:t>
            </a:r>
            <a:endParaRPr lang="es-EC" sz="1800" dirty="0"/>
          </a:p>
        </p:txBody>
      </p:sp>
    </p:spTree>
    <p:extLst>
      <p:ext uri="{BB962C8B-B14F-4D97-AF65-F5344CB8AC3E}">
        <p14:creationId xmlns:p14="http://schemas.microsoft.com/office/powerpoint/2010/main" val="427679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CONFIGURACIÓN IP ESTÁTICA</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rgbClr val="FFFF00"/>
                </a:solidFill>
              </a:rPr>
              <a:t>CONFIGURACIÓN IP ESTÁTICA	</a:t>
            </a:r>
          </a:p>
          <a:p>
            <a:pPr marL="342900" indent="-342900">
              <a:buFont typeface="+mj-lt"/>
              <a:buAutoNum type="arabicPeriod"/>
            </a:pPr>
            <a:r>
              <a:rPr lang="es-ES" dirty="0"/>
              <a:t>CREACIÓN DEL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203200" y="2180496"/>
            <a:ext cx="2705101" cy="3975348"/>
          </a:xfrm>
        </p:spPr>
        <p:txBody>
          <a:bodyPr>
            <a:normAutofit/>
          </a:bodyPr>
          <a:lstStyle/>
          <a:p>
            <a:pPr lvl="1"/>
            <a:r>
              <a:rPr lang="es-EC" sz="1800" dirty="0">
                <a:solidFill>
                  <a:schemeClr val="tx1"/>
                </a:solidFill>
                <a:effectLst/>
                <a:latin typeface="Times New Roman" panose="02020603050405020304" pitchFamily="18" charset="0"/>
                <a:ea typeface="Calibri" panose="020F0502020204030204" pitchFamily="34" charset="0"/>
              </a:rPr>
              <a:t>Debe reconocer la red a la que estamos conectados y elegimos en la conexión (color azul).</a:t>
            </a:r>
            <a:endParaRPr lang="es-EC" sz="1800" dirty="0"/>
          </a:p>
        </p:txBody>
      </p:sp>
      <p:pic>
        <p:nvPicPr>
          <p:cNvPr id="3" name="Imagen 2" descr="Interfaz de usuario gráfica, Texto, Aplicación&#10;&#10;Descripción generada automáticamente">
            <a:extLst>
              <a:ext uri="{FF2B5EF4-FFF2-40B4-BE49-F238E27FC236}">
                <a16:creationId xmlns:a16="http://schemas.microsoft.com/office/drawing/2014/main" id="{E4A5DAA7-3CE0-BFF3-3B6F-348B6BB257CF}"/>
              </a:ext>
            </a:extLst>
          </p:cNvPr>
          <p:cNvPicPr>
            <a:picLocks noChangeAspect="1"/>
          </p:cNvPicPr>
          <p:nvPr/>
        </p:nvPicPr>
        <p:blipFill>
          <a:blip r:embed="rId2"/>
          <a:stretch>
            <a:fillRect/>
          </a:stretch>
        </p:blipFill>
        <p:spPr>
          <a:xfrm>
            <a:off x="2781300" y="1958903"/>
            <a:ext cx="6190300" cy="468503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1331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CONFIGURACIÓN IP ESTÁTICA</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rgbClr val="FFFF00"/>
                </a:solidFill>
              </a:rPr>
              <a:t>CONFIGURACIÓN IP ESTÁTICA	</a:t>
            </a:r>
          </a:p>
          <a:p>
            <a:pPr marL="342900" indent="-342900">
              <a:buFont typeface="+mj-lt"/>
              <a:buAutoNum type="arabicPeriod"/>
            </a:pPr>
            <a:r>
              <a:rPr lang="es-ES" dirty="0"/>
              <a:t>CREACIÓN DEL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3" name="Imagen 2" descr="Interfaz de usuario gráfica, Aplicación&#10;&#10;Descripción generada automáticamente">
            <a:extLst>
              <a:ext uri="{FF2B5EF4-FFF2-40B4-BE49-F238E27FC236}">
                <a16:creationId xmlns:a16="http://schemas.microsoft.com/office/drawing/2014/main" id="{AD6FD06A-6F0E-B139-FDBA-03679A7FE421}"/>
              </a:ext>
            </a:extLst>
          </p:cNvPr>
          <p:cNvPicPr>
            <a:picLocks noChangeAspect="1"/>
          </p:cNvPicPr>
          <p:nvPr/>
        </p:nvPicPr>
        <p:blipFill>
          <a:blip r:embed="rId2"/>
          <a:stretch>
            <a:fillRect/>
          </a:stretch>
        </p:blipFill>
        <p:spPr>
          <a:xfrm>
            <a:off x="581192" y="2091595"/>
            <a:ext cx="3596696" cy="4475447"/>
          </a:xfrm>
          <a:prstGeom prst="rect">
            <a:avLst/>
          </a:prstGeom>
          <a:ln w="88900" cap="sq" cmpd="thickThin">
            <a:solidFill>
              <a:srgbClr val="000000"/>
            </a:solidFill>
            <a:prstDash val="solid"/>
            <a:miter lim="800000"/>
          </a:ln>
          <a:effectLst>
            <a:innerShdw blurRad="76200">
              <a:srgbClr val="000000"/>
            </a:innerShdw>
          </a:effectLst>
        </p:spPr>
      </p:pic>
      <p:pic>
        <p:nvPicPr>
          <p:cNvPr id="5" name="Imagen 4" descr="Interfaz de usuario gráfica, Texto, Aplicación&#10;&#10;Descripción generada automáticamente">
            <a:extLst>
              <a:ext uri="{FF2B5EF4-FFF2-40B4-BE49-F238E27FC236}">
                <a16:creationId xmlns:a16="http://schemas.microsoft.com/office/drawing/2014/main" id="{1040A63D-447E-0D98-3D8B-2554BF751DF6}"/>
              </a:ext>
            </a:extLst>
          </p:cNvPr>
          <p:cNvPicPr>
            <a:picLocks noChangeAspect="1"/>
          </p:cNvPicPr>
          <p:nvPr/>
        </p:nvPicPr>
        <p:blipFill>
          <a:blip r:embed="rId3"/>
          <a:stretch>
            <a:fillRect/>
          </a:stretch>
        </p:blipFill>
        <p:spPr>
          <a:xfrm>
            <a:off x="5422891" y="2091596"/>
            <a:ext cx="3472372" cy="4484605"/>
          </a:xfrm>
          <a:prstGeom prst="rect">
            <a:avLst/>
          </a:prstGeom>
          <a:ln w="88900" cap="sq" cmpd="thickThin">
            <a:solidFill>
              <a:srgbClr val="000000"/>
            </a:solidFill>
            <a:prstDash val="solid"/>
            <a:miter lim="800000"/>
          </a:ln>
          <a:effectLst>
            <a:innerShdw blurRad="76200">
              <a:srgbClr val="000000"/>
            </a:innerShdw>
          </a:effectLst>
        </p:spPr>
      </p:pic>
      <p:sp>
        <p:nvSpPr>
          <p:cNvPr id="8" name="Flecha: a la derecha 7">
            <a:extLst>
              <a:ext uri="{FF2B5EF4-FFF2-40B4-BE49-F238E27FC236}">
                <a16:creationId xmlns:a16="http://schemas.microsoft.com/office/drawing/2014/main" id="{C6C85F76-5FC4-5C30-DDB5-62B1BCE13C6C}"/>
              </a:ext>
            </a:extLst>
          </p:cNvPr>
          <p:cNvSpPr/>
          <p:nvPr/>
        </p:nvSpPr>
        <p:spPr>
          <a:xfrm>
            <a:off x="4571789" y="4132468"/>
            <a:ext cx="457200" cy="393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74528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CONFIGURACIÓN IP ESTÁTICA (Ordenador 1)</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rgbClr val="FFFF00"/>
                </a:solidFill>
              </a:rPr>
              <a:t>CONFIGURACIÓN IP ESTÁTICA	</a:t>
            </a:r>
          </a:p>
          <a:p>
            <a:pPr marL="342900" indent="-342900">
              <a:buFont typeface="+mj-lt"/>
              <a:buAutoNum type="arabicPeriod"/>
            </a:pPr>
            <a:r>
              <a:rPr lang="es-ES" dirty="0"/>
              <a:t>CREACIÓN DEL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3" name="Imagen 2" descr="Interfaz de usuario gráfica, Aplicación&#10;&#10;Descripción generada automáticamente">
            <a:extLst>
              <a:ext uri="{FF2B5EF4-FFF2-40B4-BE49-F238E27FC236}">
                <a16:creationId xmlns:a16="http://schemas.microsoft.com/office/drawing/2014/main" id="{5F60A1DD-BCC4-C6B2-0853-2AE148989097}"/>
              </a:ext>
            </a:extLst>
          </p:cNvPr>
          <p:cNvPicPr>
            <a:picLocks noChangeAspect="1"/>
          </p:cNvPicPr>
          <p:nvPr/>
        </p:nvPicPr>
        <p:blipFill>
          <a:blip r:embed="rId2"/>
          <a:stretch>
            <a:fillRect/>
          </a:stretch>
        </p:blipFill>
        <p:spPr>
          <a:xfrm>
            <a:off x="581192" y="2051301"/>
            <a:ext cx="3935867" cy="4471353"/>
          </a:xfrm>
          <a:prstGeom prst="rect">
            <a:avLst/>
          </a:prstGeom>
          <a:ln w="889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EE9D4D28-4911-AA0E-91EB-33B407C975F6}"/>
              </a:ext>
            </a:extLst>
          </p:cNvPr>
          <p:cNvPicPr>
            <a:picLocks noChangeAspect="1"/>
          </p:cNvPicPr>
          <p:nvPr/>
        </p:nvPicPr>
        <p:blipFill>
          <a:blip r:embed="rId3"/>
          <a:stretch>
            <a:fillRect/>
          </a:stretch>
        </p:blipFill>
        <p:spPr>
          <a:xfrm>
            <a:off x="5433120" y="2051301"/>
            <a:ext cx="3593405" cy="4471353"/>
          </a:xfrm>
          <a:prstGeom prst="rect">
            <a:avLst/>
          </a:prstGeom>
          <a:ln w="88900" cap="sq" cmpd="thickThin">
            <a:solidFill>
              <a:srgbClr val="000000"/>
            </a:solidFill>
            <a:prstDash val="solid"/>
            <a:miter lim="800000"/>
          </a:ln>
          <a:effectLst>
            <a:innerShdw blurRad="76200">
              <a:srgbClr val="000000"/>
            </a:innerShdw>
          </a:effectLst>
        </p:spPr>
      </p:pic>
      <p:sp>
        <p:nvSpPr>
          <p:cNvPr id="7" name="Flecha: a la derecha 6">
            <a:extLst>
              <a:ext uri="{FF2B5EF4-FFF2-40B4-BE49-F238E27FC236}">
                <a16:creationId xmlns:a16="http://schemas.microsoft.com/office/drawing/2014/main" id="{E8303855-85CE-5E6B-ED96-25BC95FDB0C7}"/>
              </a:ext>
            </a:extLst>
          </p:cNvPr>
          <p:cNvSpPr/>
          <p:nvPr/>
        </p:nvSpPr>
        <p:spPr>
          <a:xfrm>
            <a:off x="4741487" y="4090127"/>
            <a:ext cx="457200" cy="393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358949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CONFIGURACIÓN IP ESTÁTICA (Ordenador 2)</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solidFill>
                  <a:schemeClr val="bg1"/>
                </a:solidFill>
              </a:rPr>
              <a:t>TEMA:</a:t>
            </a:r>
            <a:r>
              <a:rPr lang="es-ES" sz="1600" b="1" dirty="0">
                <a:solidFill>
                  <a:schemeClr val="bg1"/>
                </a:solidFill>
              </a:rPr>
              <a:t> 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rgbClr val="FFFF00"/>
                </a:solidFill>
              </a:rPr>
              <a:t>CONFIGURACIÓN IP ESTÁTICA	</a:t>
            </a:r>
          </a:p>
          <a:p>
            <a:pPr marL="342900" indent="-342900">
              <a:buFont typeface="+mj-lt"/>
              <a:buAutoNum type="arabicPeriod"/>
            </a:pPr>
            <a:r>
              <a:rPr lang="es-ES" dirty="0"/>
              <a:t>CREACIÓN DEL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4" name="Imagen 3">
            <a:extLst>
              <a:ext uri="{FF2B5EF4-FFF2-40B4-BE49-F238E27FC236}">
                <a16:creationId xmlns:a16="http://schemas.microsoft.com/office/drawing/2014/main" id="{EE9D4D28-4911-AA0E-91EB-33B407C975F6}"/>
              </a:ext>
            </a:extLst>
          </p:cNvPr>
          <p:cNvPicPr>
            <a:picLocks noChangeAspect="1"/>
          </p:cNvPicPr>
          <p:nvPr/>
        </p:nvPicPr>
        <p:blipFill>
          <a:blip r:embed="rId2"/>
          <a:stretch>
            <a:fillRect/>
          </a:stretch>
        </p:blipFill>
        <p:spPr>
          <a:xfrm>
            <a:off x="5433120" y="2051301"/>
            <a:ext cx="3593405" cy="4471353"/>
          </a:xfrm>
          <a:prstGeom prst="rect">
            <a:avLst/>
          </a:prstGeom>
          <a:ln w="88900" cap="sq" cmpd="thickThin">
            <a:solidFill>
              <a:srgbClr val="000000"/>
            </a:solidFill>
            <a:prstDash val="solid"/>
            <a:miter lim="800000"/>
          </a:ln>
          <a:effectLst>
            <a:innerShdw blurRad="76200">
              <a:srgbClr val="000000"/>
            </a:innerShdw>
          </a:effectLst>
        </p:spPr>
      </p:pic>
      <p:sp>
        <p:nvSpPr>
          <p:cNvPr id="7" name="Flecha: a la derecha 6">
            <a:extLst>
              <a:ext uri="{FF2B5EF4-FFF2-40B4-BE49-F238E27FC236}">
                <a16:creationId xmlns:a16="http://schemas.microsoft.com/office/drawing/2014/main" id="{E8303855-85CE-5E6B-ED96-25BC95FDB0C7}"/>
              </a:ext>
            </a:extLst>
          </p:cNvPr>
          <p:cNvSpPr/>
          <p:nvPr/>
        </p:nvSpPr>
        <p:spPr>
          <a:xfrm>
            <a:off x="4741487" y="4090127"/>
            <a:ext cx="457200" cy="393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pic>
        <p:nvPicPr>
          <p:cNvPr id="5" name="Picture 1">
            <a:extLst>
              <a:ext uri="{FF2B5EF4-FFF2-40B4-BE49-F238E27FC236}">
                <a16:creationId xmlns:a16="http://schemas.microsoft.com/office/drawing/2014/main" id="{5387FC6C-6F3D-1C09-0098-C74C12D1B6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193" y="2051301"/>
            <a:ext cx="3925862" cy="446864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18272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Creación del servidor</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510794" y="3840481"/>
            <a:ext cx="2705101" cy="2787010"/>
          </a:xfrm>
        </p:spPr>
        <p:txBody>
          <a:bodyPr>
            <a:normAutofit/>
          </a:bodyPr>
          <a:lstStyle/>
          <a:p>
            <a:pPr>
              <a:lnSpc>
                <a:spcPct val="115000"/>
              </a:lnSpc>
              <a:spcAft>
                <a:spcPts val="1000"/>
              </a:spcAft>
            </a:pPr>
            <a:r>
              <a:rPr lang="es-ES" sz="1800" dirty="0">
                <a:effectLst/>
                <a:latin typeface="Calibri" panose="020F0502020204030204" pitchFamily="34" charset="0"/>
                <a:ea typeface="Calibri" panose="020F0502020204030204" pitchFamily="34" charset="0"/>
                <a:cs typeface="Times New Roman" panose="02020603050405020304" pitchFamily="18" charset="0"/>
              </a:rPr>
              <a:t>Vamos a crear un nuevo proyecto Web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Aplication</a:t>
            </a:r>
            <a:r>
              <a:rPr lang="es-ES" sz="1800" dirty="0">
                <a:effectLst/>
                <a:latin typeface="Calibri" panose="020F0502020204030204" pitchFamily="34" charset="0"/>
                <a:ea typeface="Calibri" panose="020F0502020204030204" pitchFamily="34" charset="0"/>
                <a:cs typeface="Times New Roman" panose="02020603050405020304" pitchFamily="18" charset="0"/>
              </a:rPr>
              <a:t> en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Netbeans</a:t>
            </a:r>
            <a:r>
              <a:rPr lang="es-ES" sz="1800" dirty="0">
                <a:effectLst/>
                <a:latin typeface="Calibri" panose="020F0502020204030204" pitchFamily="34" charset="0"/>
                <a:ea typeface="Calibri" panose="020F0502020204030204" pitchFamily="34" charset="0"/>
                <a:cs typeface="Times New Roman" panose="02020603050405020304" pitchFamily="18" charset="0"/>
              </a:rPr>
              <a:t> 8.2</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a:extLst>
              <a:ext uri="{FF2B5EF4-FFF2-40B4-BE49-F238E27FC236}">
                <a16:creationId xmlns:a16="http://schemas.microsoft.com/office/drawing/2014/main" id="{28341AC7-C2DD-EE7F-7943-09FE508394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794" y="1979485"/>
            <a:ext cx="3324860" cy="1746885"/>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C9737573-F12E-BE85-C69B-3AFF16288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8308" y="2852927"/>
            <a:ext cx="5039995" cy="357378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59075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Creación del servidor</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510794" y="5478631"/>
            <a:ext cx="3576574" cy="1104515"/>
          </a:xfrm>
        </p:spPr>
        <p:txBody>
          <a:bodyPr>
            <a:normAutofit/>
          </a:bodyPr>
          <a:lstStyle/>
          <a:p>
            <a:pPr>
              <a:lnSpc>
                <a:spcPct val="115000"/>
              </a:lnSpc>
              <a:spcAft>
                <a:spcPts val="1000"/>
              </a:spcAft>
            </a:pPr>
            <a:r>
              <a:rPr lang="es-ES" sz="1800" dirty="0">
                <a:effectLst/>
                <a:latin typeface="Calibri" panose="020F0502020204030204" pitchFamily="34" charset="0"/>
                <a:ea typeface="Calibri" panose="020F0502020204030204" pitchFamily="34" charset="0"/>
                <a:cs typeface="Times New Roman" panose="02020603050405020304" pitchFamily="18" charset="0"/>
              </a:rPr>
              <a:t>Se da el nombre de la aplicación y el servidor de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preferecia</a:t>
            </a:r>
            <a:r>
              <a:rPr lang="es-ES" sz="1800" dirty="0">
                <a:effectLst/>
                <a:latin typeface="Calibri" panose="020F0502020204030204" pitchFamily="34" charset="0"/>
                <a:ea typeface="Calibri" panose="020F0502020204030204" pitchFamily="34" charset="0"/>
                <a:cs typeface="Times New Roman" panose="02020603050405020304" pitchFamily="18" charset="0"/>
              </a:rPr>
              <a:t>.</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CAEC6783-6216-3AA3-1168-4DA4417CB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794" y="1971988"/>
            <a:ext cx="5039995" cy="3426460"/>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descr="Interfaz de usuario gráfica, Texto, Aplicación, Correo electrónico&#10;&#10;Descripción generada automáticamente">
            <a:extLst>
              <a:ext uri="{FF2B5EF4-FFF2-40B4-BE49-F238E27FC236}">
                <a16:creationId xmlns:a16="http://schemas.microsoft.com/office/drawing/2014/main" id="{1ABEC8AA-368A-7C22-8F19-3653EEB7A829}"/>
              </a:ext>
            </a:extLst>
          </p:cNvPr>
          <p:cNvPicPr>
            <a:picLocks noChangeAspect="1"/>
          </p:cNvPicPr>
          <p:nvPr/>
        </p:nvPicPr>
        <p:blipFill rotWithShape="1">
          <a:blip r:embed="rId3"/>
          <a:srcRect l="27019" t="8636"/>
          <a:stretch/>
        </p:blipFill>
        <p:spPr>
          <a:xfrm>
            <a:off x="4928616" y="3099816"/>
            <a:ext cx="4047491" cy="3444822"/>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99693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Creación del servidor</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3" name="Imagen 2" descr="Interfaz de usuario gráfica, Texto, Aplicación&#10;&#10;Descripción generada automáticamente">
            <a:extLst>
              <a:ext uri="{FF2B5EF4-FFF2-40B4-BE49-F238E27FC236}">
                <a16:creationId xmlns:a16="http://schemas.microsoft.com/office/drawing/2014/main" id="{497E6C79-89AD-D69E-A648-9EDF291B0323}"/>
              </a:ext>
            </a:extLst>
          </p:cNvPr>
          <p:cNvPicPr>
            <a:picLocks noChangeAspect="1"/>
          </p:cNvPicPr>
          <p:nvPr/>
        </p:nvPicPr>
        <p:blipFill>
          <a:blip r:embed="rId2"/>
          <a:stretch>
            <a:fillRect/>
          </a:stretch>
        </p:blipFill>
        <p:spPr>
          <a:xfrm>
            <a:off x="846368" y="1950846"/>
            <a:ext cx="8034805" cy="4800434"/>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57792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model</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rgbClr val="FFFF00"/>
                </a:solidFill>
              </a:rPr>
              <a:t>Model</a:t>
            </a:r>
            <a:endParaRPr lang="es-ES" dirty="0">
              <a:solidFill>
                <a:srgbClr val="FFFF00"/>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258712" y="5340245"/>
            <a:ext cx="8679766" cy="2026499"/>
          </a:xfrm>
        </p:spPr>
        <p:txBody>
          <a:bodyPr>
            <a:normAutofit/>
          </a:bodyPr>
          <a:lstStyle/>
          <a:p>
            <a:pPr>
              <a:lnSpc>
                <a:spcPct val="115000"/>
              </a:lnSpc>
              <a:spcAft>
                <a:spcPts val="1000"/>
              </a:spcAft>
            </a:pPr>
            <a:r>
              <a:rPr lang="es-ES" sz="1800" dirty="0">
                <a:effectLst/>
                <a:latin typeface="Calibri" panose="020F0502020204030204" pitchFamily="34" charset="0"/>
                <a:ea typeface="Calibri" panose="020F0502020204030204" pitchFamily="34" charset="0"/>
                <a:cs typeface="Times New Roman" panose="02020603050405020304" pitchFamily="18" charset="0"/>
              </a:rPr>
              <a:t>Pasos para crear un paquete de java, mismo que se usará a lo largo de todo el proyecto, incluido los paquetes correspondientes a los clientes de nuestra aplicación.</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5BD2291F-F7F6-C71F-2DA0-CCB96D704B6B}"/>
              </a:ext>
            </a:extLst>
          </p:cNvPr>
          <p:cNvPicPr>
            <a:picLocks noChangeAspect="1"/>
          </p:cNvPicPr>
          <p:nvPr/>
        </p:nvPicPr>
        <p:blipFill>
          <a:blip r:embed="rId2"/>
          <a:stretch>
            <a:fillRect/>
          </a:stretch>
        </p:blipFill>
        <p:spPr>
          <a:xfrm>
            <a:off x="3654668" y="2030984"/>
            <a:ext cx="5225898" cy="3705538"/>
          </a:xfrm>
          <a:prstGeom prst="rect">
            <a:avLst/>
          </a:prstGeom>
          <a:ln w="76200" cap="sq" cmpd="thickThin">
            <a:solidFill>
              <a:srgbClr val="000000"/>
            </a:solidFill>
            <a:prstDash val="solid"/>
            <a:miter lim="800000"/>
          </a:ln>
          <a:effectLst>
            <a:innerShdw blurRad="76200">
              <a:srgbClr val="000000"/>
            </a:innerShdw>
          </a:effectLst>
        </p:spPr>
      </p:pic>
      <p:pic>
        <p:nvPicPr>
          <p:cNvPr id="3" name="Imagen 2" descr="Interfaz de usuario gráfica, Texto, Aplicación, Correo electrónico&#10;&#10;Descripción generada automáticamente">
            <a:extLst>
              <a:ext uri="{FF2B5EF4-FFF2-40B4-BE49-F238E27FC236}">
                <a16:creationId xmlns:a16="http://schemas.microsoft.com/office/drawing/2014/main" id="{D18BF9CF-D5AC-7718-2920-E9A61EFA2826}"/>
              </a:ext>
            </a:extLst>
          </p:cNvPr>
          <p:cNvPicPr>
            <a:picLocks noChangeAspect="1"/>
          </p:cNvPicPr>
          <p:nvPr/>
        </p:nvPicPr>
        <p:blipFill>
          <a:blip r:embed="rId3"/>
          <a:stretch>
            <a:fillRect/>
          </a:stretch>
        </p:blipFill>
        <p:spPr>
          <a:xfrm>
            <a:off x="398938" y="2730047"/>
            <a:ext cx="4522137" cy="1522952"/>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702342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model</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rgbClr val="FFFF00"/>
                </a:solidFill>
              </a:rPr>
              <a:t>Model</a:t>
            </a:r>
            <a:endParaRPr lang="es-ES" dirty="0">
              <a:solidFill>
                <a:srgbClr val="FFFF00"/>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581192" y="3900409"/>
            <a:ext cx="2705101" cy="1223387"/>
          </a:xfrm>
        </p:spPr>
        <p:txBody>
          <a:bodyPr>
            <a:normAutofit fontScale="92500" lnSpcReduction="10000"/>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Vamos a crear una clase en nuestro paquete modelo para integrar la lógica del servicio web.</a:t>
            </a:r>
          </a:p>
        </p:txBody>
      </p:sp>
      <p:pic>
        <p:nvPicPr>
          <p:cNvPr id="4" name="Imagen 3" descr="Interfaz de usuario gráfica, Aplicación&#10;&#10;Descripción generada automáticamente con confianza media">
            <a:extLst>
              <a:ext uri="{FF2B5EF4-FFF2-40B4-BE49-F238E27FC236}">
                <a16:creationId xmlns:a16="http://schemas.microsoft.com/office/drawing/2014/main" id="{D0C24E9E-43BF-4082-3398-8BE6BC43F9B8}"/>
              </a:ext>
            </a:extLst>
          </p:cNvPr>
          <p:cNvPicPr>
            <a:picLocks noChangeAspect="1"/>
          </p:cNvPicPr>
          <p:nvPr/>
        </p:nvPicPr>
        <p:blipFill>
          <a:blip r:embed="rId2"/>
          <a:stretch>
            <a:fillRect/>
          </a:stretch>
        </p:blipFill>
        <p:spPr>
          <a:xfrm>
            <a:off x="546766" y="2087308"/>
            <a:ext cx="4798089" cy="1223387"/>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92F161C4-1997-E909-E3B7-00D88C46F476}"/>
              </a:ext>
            </a:extLst>
          </p:cNvPr>
          <p:cNvPicPr>
            <a:picLocks noChangeAspect="1"/>
          </p:cNvPicPr>
          <p:nvPr/>
        </p:nvPicPr>
        <p:blipFill>
          <a:blip r:embed="rId3"/>
          <a:stretch>
            <a:fillRect/>
          </a:stretch>
        </p:blipFill>
        <p:spPr>
          <a:xfrm>
            <a:off x="4032504" y="3547306"/>
            <a:ext cx="5080063" cy="315298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44496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model</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rgbClr val="FFFF00"/>
                </a:solidFill>
              </a:rPr>
              <a:t>Model</a:t>
            </a:r>
            <a:endParaRPr lang="es-ES" dirty="0">
              <a:solidFill>
                <a:srgbClr val="FFFF00"/>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23992" y="2115381"/>
            <a:ext cx="2047399" cy="2787010"/>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Ahora vamos a integrar el código en nuestra nueva clase.</a:t>
            </a:r>
          </a:p>
        </p:txBody>
      </p:sp>
      <p:pic>
        <p:nvPicPr>
          <p:cNvPr id="3" name="Imagen 2" descr="Interfaz de usuario gráfica, Texto, Aplicación, Correo electrónico&#10;&#10;Descripción generada automáticamente">
            <a:extLst>
              <a:ext uri="{FF2B5EF4-FFF2-40B4-BE49-F238E27FC236}">
                <a16:creationId xmlns:a16="http://schemas.microsoft.com/office/drawing/2014/main" id="{02E089CE-7BB7-7513-D2F1-94258AEC2E5A}"/>
              </a:ext>
            </a:extLst>
          </p:cNvPr>
          <p:cNvPicPr>
            <a:picLocks noChangeAspect="1"/>
          </p:cNvPicPr>
          <p:nvPr/>
        </p:nvPicPr>
        <p:blipFill>
          <a:blip r:embed="rId2"/>
          <a:stretch>
            <a:fillRect/>
          </a:stretch>
        </p:blipFill>
        <p:spPr>
          <a:xfrm>
            <a:off x="2368296" y="2017521"/>
            <a:ext cx="6695757" cy="4373833"/>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44599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model</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rgbClr val="FFFF00"/>
                </a:solidFill>
              </a:rPr>
              <a:t>Model</a:t>
            </a:r>
            <a:endParaRPr lang="es-ES" dirty="0">
              <a:solidFill>
                <a:srgbClr val="FFFF00"/>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581192" y="2991998"/>
            <a:ext cx="2705101" cy="2787010"/>
          </a:xfrm>
        </p:spPr>
        <p:txBody>
          <a:bodyPr>
            <a:normAutofit/>
          </a:body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En el mismo paquete,</a:t>
            </a:r>
            <a:r>
              <a:rPr lang="es-EC" sz="1800" dirty="0">
                <a:effectLst/>
                <a:latin typeface="Calibri" panose="020F0502020204030204" pitchFamily="34" charset="0"/>
                <a:ea typeface="Calibri" panose="020F0502020204030204" pitchFamily="34" charset="0"/>
                <a:cs typeface="Times New Roman" panose="02020603050405020304" pitchFamily="18" charset="0"/>
              </a:rPr>
              <a:t> crear una clase donde se integrará la creación del usuario.</a:t>
            </a:r>
          </a:p>
        </p:txBody>
      </p:sp>
      <p:pic>
        <p:nvPicPr>
          <p:cNvPr id="7" name="Imagen 6" descr="Interfaz de usuario gráfica, Texto, Aplicación&#10;&#10;Descripción generada automáticamente">
            <a:extLst>
              <a:ext uri="{FF2B5EF4-FFF2-40B4-BE49-F238E27FC236}">
                <a16:creationId xmlns:a16="http://schemas.microsoft.com/office/drawing/2014/main" id="{4899B3F0-A99D-7930-0BDA-7A2CE45A791B}"/>
              </a:ext>
            </a:extLst>
          </p:cNvPr>
          <p:cNvPicPr>
            <a:picLocks noChangeAspect="1"/>
          </p:cNvPicPr>
          <p:nvPr/>
        </p:nvPicPr>
        <p:blipFill>
          <a:blip r:embed="rId2"/>
          <a:stretch>
            <a:fillRect/>
          </a:stretch>
        </p:blipFill>
        <p:spPr>
          <a:xfrm>
            <a:off x="3409864" y="2418112"/>
            <a:ext cx="5589192" cy="3902928"/>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52261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model</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rgbClr val="FFFF00"/>
                </a:solidFill>
              </a:rPr>
              <a:t>Model</a:t>
            </a:r>
            <a:endParaRPr lang="es-ES" dirty="0">
              <a:solidFill>
                <a:srgbClr val="FFFF00"/>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09728" y="2038912"/>
            <a:ext cx="2072269"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Integrar el código necesario, con los atributos del usuario.</a:t>
            </a:r>
          </a:p>
        </p:txBody>
      </p:sp>
      <p:pic>
        <p:nvPicPr>
          <p:cNvPr id="3" name="Imagen 2">
            <a:extLst>
              <a:ext uri="{FF2B5EF4-FFF2-40B4-BE49-F238E27FC236}">
                <a16:creationId xmlns:a16="http://schemas.microsoft.com/office/drawing/2014/main" id="{6FC0DFA1-A8BC-D30F-5000-AFF57422F95F}"/>
              </a:ext>
            </a:extLst>
          </p:cNvPr>
          <p:cNvPicPr>
            <a:picLocks noChangeAspect="1"/>
          </p:cNvPicPr>
          <p:nvPr/>
        </p:nvPicPr>
        <p:blipFill>
          <a:blip r:embed="rId2"/>
          <a:stretch>
            <a:fillRect/>
          </a:stretch>
        </p:blipFill>
        <p:spPr>
          <a:xfrm>
            <a:off x="2395728" y="2038912"/>
            <a:ext cx="6651498" cy="4624896"/>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899074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SERVICE</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u="sng" dirty="0"/>
              <a:t>TEMA:</a:t>
            </a:r>
            <a:r>
              <a:rPr lang="es-ES" b="1" dirty="0"/>
              <a:t> 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rgbClr val="FFFF00"/>
                </a:solidFill>
              </a:rPr>
              <a:t>Service</a:t>
            </a:r>
            <a:endParaRPr lang="es-ES" dirty="0">
              <a:solidFill>
                <a:srgbClr val="FFFF00"/>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09728" y="2038912"/>
            <a:ext cx="2072269"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En el paquete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service</a:t>
            </a:r>
            <a:r>
              <a:rPr lang="es-EC" sz="1800" dirty="0">
                <a:effectLst/>
                <a:latin typeface="Calibri" panose="020F0502020204030204" pitchFamily="34" charset="0"/>
                <a:ea typeface="Calibri" panose="020F0502020204030204" pitchFamily="34" charset="0"/>
                <a:cs typeface="Times New Roman" panose="02020603050405020304" pitchFamily="18" charset="0"/>
              </a:rPr>
              <a:t>, se crea otra clase:</a:t>
            </a:r>
          </a:p>
        </p:txBody>
      </p:sp>
      <p:pic>
        <p:nvPicPr>
          <p:cNvPr id="4" name="Imagen 3" descr="Interfaz de usuario gráfica, Texto, Aplicación&#10;&#10;Descripción generada automáticamente">
            <a:extLst>
              <a:ext uri="{FF2B5EF4-FFF2-40B4-BE49-F238E27FC236}">
                <a16:creationId xmlns:a16="http://schemas.microsoft.com/office/drawing/2014/main" id="{2DD7A2A4-89C2-E40C-0350-0BD2EAD76527}"/>
              </a:ext>
            </a:extLst>
          </p:cNvPr>
          <p:cNvPicPr>
            <a:picLocks noChangeAspect="1"/>
          </p:cNvPicPr>
          <p:nvPr/>
        </p:nvPicPr>
        <p:blipFill>
          <a:blip r:embed="rId2"/>
          <a:stretch>
            <a:fillRect/>
          </a:stretch>
        </p:blipFill>
        <p:spPr>
          <a:xfrm>
            <a:off x="2671270" y="2246943"/>
            <a:ext cx="6100414" cy="4172516"/>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749353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SERVICE</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rgbClr val="FFFF00"/>
                </a:solidFill>
              </a:rPr>
              <a:t>Service</a:t>
            </a:r>
            <a:endParaRPr lang="es-ES" dirty="0">
              <a:solidFill>
                <a:srgbClr val="FFFF00"/>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09728" y="2038912"/>
            <a:ext cx="2072269"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Código necesario:</a:t>
            </a:r>
          </a:p>
        </p:txBody>
      </p:sp>
      <p:pic>
        <p:nvPicPr>
          <p:cNvPr id="3" name="Imagen 2">
            <a:extLst>
              <a:ext uri="{FF2B5EF4-FFF2-40B4-BE49-F238E27FC236}">
                <a16:creationId xmlns:a16="http://schemas.microsoft.com/office/drawing/2014/main" id="{68701EB1-50FA-3B3B-AFE9-16B4C8989F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7662" y="2038912"/>
            <a:ext cx="7296193" cy="4462459"/>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80975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SERVICE</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rgbClr val="FFFF00"/>
                </a:solidFill>
              </a:rPr>
              <a:t>Service</a:t>
            </a:r>
            <a:endParaRPr lang="es-ES" dirty="0">
              <a:solidFill>
                <a:srgbClr val="FFFF00"/>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09728" y="2038912"/>
            <a:ext cx="2072269"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Integrar el código necesario, con los atributos del usuario.</a:t>
            </a:r>
          </a:p>
        </p:txBody>
      </p:sp>
      <p:pic>
        <p:nvPicPr>
          <p:cNvPr id="4" name="Imagen 3" descr="Interfaz de usuario gráfica, Texto, Aplicación, Correo electrónico&#10;&#10;Descripción generada automáticamente">
            <a:extLst>
              <a:ext uri="{FF2B5EF4-FFF2-40B4-BE49-F238E27FC236}">
                <a16:creationId xmlns:a16="http://schemas.microsoft.com/office/drawing/2014/main" id="{A9D0250C-F37D-7469-9C6D-00618C40F7C9}"/>
              </a:ext>
            </a:extLst>
          </p:cNvPr>
          <p:cNvPicPr>
            <a:picLocks noChangeAspect="1"/>
          </p:cNvPicPr>
          <p:nvPr/>
        </p:nvPicPr>
        <p:blipFill>
          <a:blip r:embed="rId2"/>
          <a:stretch>
            <a:fillRect/>
          </a:stretch>
        </p:blipFill>
        <p:spPr>
          <a:xfrm>
            <a:off x="2560320" y="2038912"/>
            <a:ext cx="6537683" cy="4637003"/>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73693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SERVICE</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rgbClr val="FFFF00"/>
                </a:solidFill>
              </a:rPr>
              <a:t>Service</a:t>
            </a:r>
            <a:endParaRPr lang="es-ES" dirty="0">
              <a:solidFill>
                <a:srgbClr val="FFFF00"/>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09728" y="2038912"/>
            <a:ext cx="2072269"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Código necesario</a:t>
            </a:r>
          </a:p>
        </p:txBody>
      </p:sp>
      <p:pic>
        <p:nvPicPr>
          <p:cNvPr id="3" name="Imagen 2" descr="Interfaz de usuario gráfica, Texto, Aplicación, Correo electrónico&#10;&#10;Descripción generada automáticamente">
            <a:extLst>
              <a:ext uri="{FF2B5EF4-FFF2-40B4-BE49-F238E27FC236}">
                <a16:creationId xmlns:a16="http://schemas.microsoft.com/office/drawing/2014/main" id="{0E9C9434-F552-6ABA-0BF8-BC008DFB1B21}"/>
              </a:ext>
            </a:extLst>
          </p:cNvPr>
          <p:cNvPicPr>
            <a:picLocks noChangeAspect="1"/>
          </p:cNvPicPr>
          <p:nvPr/>
        </p:nvPicPr>
        <p:blipFill>
          <a:blip r:embed="rId2"/>
          <a:stretch>
            <a:fillRect/>
          </a:stretch>
        </p:blipFill>
        <p:spPr>
          <a:xfrm>
            <a:off x="1965960" y="2119884"/>
            <a:ext cx="7121819" cy="415290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66954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Ws</a:t>
            </a:r>
            <a:r>
              <a:rPr lang="es-ES" dirty="0"/>
              <a:t> – web </a:t>
            </a:r>
            <a:r>
              <a:rPr lang="es-ES" dirty="0" err="1"/>
              <a:t>service</a:t>
            </a:r>
            <a:endParaRPr lang="es-EC" dirty="0"/>
          </a:p>
        </p:txBody>
      </p:sp>
      <p:sp>
        <p:nvSpPr>
          <p:cNvPr id="758" name="Rectangle 5">
            <a:extLst>
              <a:ext uri="{FF2B5EF4-FFF2-40B4-BE49-F238E27FC236}">
                <a16:creationId xmlns:a16="http://schemas.microsoft.com/office/drawing/2014/main" id="{98395BF1-D668-DFD5-C198-C86612C24BAE}"/>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rgbClr val="FFFF00"/>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09728" y="6155844"/>
            <a:ext cx="8220456" cy="471647"/>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Referenciar un Servicio Web WSDL</a:t>
            </a:r>
          </a:p>
        </p:txBody>
      </p:sp>
      <p:pic>
        <p:nvPicPr>
          <p:cNvPr id="3" name="Imagen 2">
            <a:extLst>
              <a:ext uri="{FF2B5EF4-FFF2-40B4-BE49-F238E27FC236}">
                <a16:creationId xmlns:a16="http://schemas.microsoft.com/office/drawing/2014/main" id="{F0EC5446-3DE9-1B46-6110-54D074A431FE}"/>
              </a:ext>
            </a:extLst>
          </p:cNvPr>
          <p:cNvPicPr>
            <a:picLocks noChangeAspect="1"/>
          </p:cNvPicPr>
          <p:nvPr/>
        </p:nvPicPr>
        <p:blipFill rotWithShape="1">
          <a:blip r:embed="rId2">
            <a:extLst>
              <a:ext uri="{28A0092B-C50C-407E-A947-70E740481C1C}">
                <a14:useLocalDpi xmlns:a14="http://schemas.microsoft.com/office/drawing/2010/main" val="0"/>
              </a:ext>
            </a:extLst>
          </a:blip>
          <a:srcRect l="9173"/>
          <a:stretch/>
        </p:blipFill>
        <p:spPr bwMode="auto">
          <a:xfrm>
            <a:off x="1246355" y="2038912"/>
            <a:ext cx="7802395" cy="3933190"/>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4104916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Ws</a:t>
            </a:r>
            <a:r>
              <a:rPr lang="es-ES" dirty="0"/>
              <a:t> – web </a:t>
            </a:r>
            <a:r>
              <a:rPr lang="es-ES" dirty="0" err="1"/>
              <a:t>service</a:t>
            </a:r>
            <a:endParaRPr lang="es-EC" dirty="0"/>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09728" y="2038912"/>
            <a:ext cx="2072269"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Nombre de la clase de servicio.</a:t>
            </a:r>
          </a:p>
        </p:txBody>
      </p:sp>
      <p:pic>
        <p:nvPicPr>
          <p:cNvPr id="3" name="Imagen 2">
            <a:extLst>
              <a:ext uri="{FF2B5EF4-FFF2-40B4-BE49-F238E27FC236}">
                <a16:creationId xmlns:a16="http://schemas.microsoft.com/office/drawing/2014/main" id="{CD624379-C0A1-179A-FAED-CA5E8FD23833}"/>
              </a:ext>
            </a:extLst>
          </p:cNvPr>
          <p:cNvPicPr>
            <a:picLocks noChangeAspect="1"/>
          </p:cNvPicPr>
          <p:nvPr/>
        </p:nvPicPr>
        <p:blipFill>
          <a:blip r:embed="rId2"/>
          <a:stretch>
            <a:fillRect/>
          </a:stretch>
        </p:blipFill>
        <p:spPr>
          <a:xfrm>
            <a:off x="3033531" y="2041676"/>
            <a:ext cx="5903214" cy="4585815"/>
          </a:xfrm>
          <a:prstGeom prst="rect">
            <a:avLst/>
          </a:prstGeom>
          <a:ln w="76200" cap="sq" cmpd="thickThin">
            <a:solidFill>
              <a:srgbClr val="000000"/>
            </a:solidFill>
            <a:prstDash val="solid"/>
            <a:miter lim="800000"/>
          </a:ln>
          <a:effectLst>
            <a:innerShdw blurRad="76200">
              <a:srgbClr val="000000"/>
            </a:innerShdw>
          </a:effectLst>
        </p:spPr>
      </p:pic>
      <p:sp>
        <p:nvSpPr>
          <p:cNvPr id="4" name="Rectangle 5">
            <a:extLst>
              <a:ext uri="{FF2B5EF4-FFF2-40B4-BE49-F238E27FC236}">
                <a16:creationId xmlns:a16="http://schemas.microsoft.com/office/drawing/2014/main" id="{7CFB5793-F198-EE1C-C662-E7470E9801AC}"/>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rgbClr val="FFFF00"/>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Tree>
    <p:extLst>
      <p:ext uri="{BB962C8B-B14F-4D97-AF65-F5344CB8AC3E}">
        <p14:creationId xmlns:p14="http://schemas.microsoft.com/office/powerpoint/2010/main" val="1044805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Ws</a:t>
            </a:r>
            <a:r>
              <a:rPr lang="es-ES" dirty="0"/>
              <a:t> – web </a:t>
            </a:r>
            <a:r>
              <a:rPr lang="es-ES" dirty="0" err="1"/>
              <a:t>service</a:t>
            </a:r>
            <a:endParaRPr lang="es-EC" dirty="0"/>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2562" y="1992688"/>
            <a:ext cx="2072269"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Código WebService.java</a:t>
            </a:r>
          </a:p>
        </p:txBody>
      </p:sp>
      <p:sp>
        <p:nvSpPr>
          <p:cNvPr id="6" name="Rectangle 5">
            <a:extLst>
              <a:ext uri="{FF2B5EF4-FFF2-40B4-BE49-F238E27FC236}">
                <a16:creationId xmlns:a16="http://schemas.microsoft.com/office/drawing/2014/main" id="{35E818F0-2B7C-E0F7-F6F6-F5189FCE07BA}"/>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rgbClr val="FFFF00"/>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7" name="Imagen 6">
            <a:extLst>
              <a:ext uri="{FF2B5EF4-FFF2-40B4-BE49-F238E27FC236}">
                <a16:creationId xmlns:a16="http://schemas.microsoft.com/office/drawing/2014/main" id="{6B375D59-4FC4-574F-2E61-48C4435960E9}"/>
              </a:ext>
            </a:extLst>
          </p:cNvPr>
          <p:cNvPicPr>
            <a:picLocks noChangeAspect="1"/>
          </p:cNvPicPr>
          <p:nvPr/>
        </p:nvPicPr>
        <p:blipFill>
          <a:blip r:embed="rId2"/>
          <a:stretch>
            <a:fillRect/>
          </a:stretch>
        </p:blipFill>
        <p:spPr>
          <a:xfrm>
            <a:off x="2084831" y="2116772"/>
            <a:ext cx="6790056" cy="4464495"/>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341562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a:t>
            </a:r>
            <a:r>
              <a:rPr lang="es-ES" dirty="0" err="1"/>
              <a:t>Ws</a:t>
            </a:r>
            <a:r>
              <a:rPr lang="es-ES" dirty="0"/>
              <a:t> – web </a:t>
            </a:r>
            <a:r>
              <a:rPr lang="es-ES" dirty="0" err="1"/>
              <a:t>service</a:t>
            </a:r>
            <a:endParaRPr lang="es-EC" dirty="0"/>
          </a:p>
        </p:txBody>
      </p:sp>
      <p:sp>
        <p:nvSpPr>
          <p:cNvPr id="760" name="Content Placeholder 2">
            <a:extLst>
              <a:ext uri="{FF2B5EF4-FFF2-40B4-BE49-F238E27FC236}">
                <a16:creationId xmlns:a16="http://schemas.microsoft.com/office/drawing/2014/main" id="{26E327F9-0A91-A35D-CC04-A9738853FB78}"/>
              </a:ext>
            </a:extLst>
          </p:cNvPr>
          <p:cNvSpPr>
            <a:spLocks noGrp="1"/>
          </p:cNvSpPr>
          <p:nvPr>
            <p:ph idx="1"/>
          </p:nvPr>
        </p:nvSpPr>
        <p:spPr>
          <a:xfrm>
            <a:off x="12563" y="1992688"/>
            <a:ext cx="1743086"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Vista de los métodos en diseño del Servicio Web</a:t>
            </a:r>
          </a:p>
        </p:txBody>
      </p:sp>
      <p:sp>
        <p:nvSpPr>
          <p:cNvPr id="5" name="Rectangle 5">
            <a:extLst>
              <a:ext uri="{FF2B5EF4-FFF2-40B4-BE49-F238E27FC236}">
                <a16:creationId xmlns:a16="http://schemas.microsoft.com/office/drawing/2014/main" id="{1AAFADD3-7609-ADD4-8B38-DF3DB0ACE2AA}"/>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u="sng" dirty="0"/>
              <a:t>TEMA:</a:t>
            </a:r>
            <a:r>
              <a:rPr lang="es-ES" b="1" dirty="0"/>
              <a:t> 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rgbClr val="FFFF00"/>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6" name="Imagen 5" descr="Interfaz de usuario gráfica, Aplicación&#10;&#10;Descripción generada automáticamente">
            <a:extLst>
              <a:ext uri="{FF2B5EF4-FFF2-40B4-BE49-F238E27FC236}">
                <a16:creationId xmlns:a16="http://schemas.microsoft.com/office/drawing/2014/main" id="{303BC0D8-14E8-91DE-7DFA-EF4ED942C355}"/>
              </a:ext>
            </a:extLst>
          </p:cNvPr>
          <p:cNvPicPr>
            <a:picLocks noChangeAspect="1"/>
          </p:cNvPicPr>
          <p:nvPr/>
        </p:nvPicPr>
        <p:blipFill>
          <a:blip r:embed="rId2"/>
          <a:stretch>
            <a:fillRect/>
          </a:stretch>
        </p:blipFill>
        <p:spPr>
          <a:xfrm>
            <a:off x="1820057" y="2121341"/>
            <a:ext cx="7081119" cy="4331272"/>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93820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dirty="0"/>
              <a:t>Paquete de pruebas</a:t>
            </a:r>
            <a:endParaRPr lang="es-EC" dirty="0"/>
          </a:p>
        </p:txBody>
      </p:sp>
      <p:sp>
        <p:nvSpPr>
          <p:cNvPr id="5" name="Rectangle 5">
            <a:extLst>
              <a:ext uri="{FF2B5EF4-FFF2-40B4-BE49-F238E27FC236}">
                <a16:creationId xmlns:a16="http://schemas.microsoft.com/office/drawing/2014/main" id="{1AAFADD3-7609-ADD4-8B38-DF3DB0ACE2AA}"/>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rgbClr val="FFFF00"/>
                </a:solidFill>
              </a:rPr>
              <a:t>Test</a:t>
            </a:r>
          </a:p>
          <a:p>
            <a:pPr marL="800100" lvl="1" indent="-342900">
              <a:buFont typeface="+mj-lt"/>
              <a:buAutoNum type="arabicPeriod"/>
            </a:pPr>
            <a:r>
              <a:rPr lang="es-ES" dirty="0">
                <a:solidFill>
                  <a:schemeClr val="bg1"/>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7" name="Imagen 6" descr="Interfaz de usuario gráfica, Texto, Aplicación, Correo electrónico&#10;&#10;Descripción generada automáticamente">
            <a:extLst>
              <a:ext uri="{FF2B5EF4-FFF2-40B4-BE49-F238E27FC236}">
                <a16:creationId xmlns:a16="http://schemas.microsoft.com/office/drawing/2014/main" id="{B5EB3459-26EB-AC75-4542-8568BAB12651}"/>
              </a:ext>
            </a:extLst>
          </p:cNvPr>
          <p:cNvPicPr>
            <a:picLocks noChangeAspect="1"/>
          </p:cNvPicPr>
          <p:nvPr/>
        </p:nvPicPr>
        <p:blipFill rotWithShape="1">
          <a:blip r:embed="rId2"/>
          <a:srcRect l="27070"/>
          <a:stretch/>
        </p:blipFill>
        <p:spPr>
          <a:xfrm>
            <a:off x="995410" y="4428032"/>
            <a:ext cx="3832160" cy="2320045"/>
          </a:xfrm>
          <a:prstGeom prst="rect">
            <a:avLst/>
          </a:prstGeom>
          <a:ln w="76200" cap="sq" cmpd="thickThin">
            <a:solidFill>
              <a:srgbClr val="000000"/>
            </a:solidFill>
            <a:prstDash val="solid"/>
            <a:miter lim="800000"/>
          </a:ln>
          <a:effectLst>
            <a:innerShdw blurRad="76200">
              <a:srgbClr val="000000"/>
            </a:innerShdw>
          </a:effectLst>
        </p:spPr>
      </p:pic>
      <p:pic>
        <p:nvPicPr>
          <p:cNvPr id="8" name="Imagen 7" descr="Interfaz de usuario gráfica, Texto, Aplicación&#10;&#10;Descripción generada automáticamente">
            <a:extLst>
              <a:ext uri="{FF2B5EF4-FFF2-40B4-BE49-F238E27FC236}">
                <a16:creationId xmlns:a16="http://schemas.microsoft.com/office/drawing/2014/main" id="{B3970D3C-1764-04E7-727A-ADDB7EA78ACF}"/>
              </a:ext>
            </a:extLst>
          </p:cNvPr>
          <p:cNvPicPr>
            <a:picLocks noChangeAspect="1"/>
          </p:cNvPicPr>
          <p:nvPr/>
        </p:nvPicPr>
        <p:blipFill rotWithShape="1">
          <a:blip r:embed="rId3"/>
          <a:srcRect l="29027" t="190"/>
          <a:stretch/>
        </p:blipFill>
        <p:spPr>
          <a:xfrm>
            <a:off x="5199019" y="4428032"/>
            <a:ext cx="3885761" cy="2333018"/>
          </a:xfrm>
          <a:prstGeom prst="rect">
            <a:avLst/>
          </a:prstGeom>
          <a:ln w="76200" cap="sq" cmpd="thickThin">
            <a:solidFill>
              <a:srgbClr val="000000"/>
            </a:solidFill>
            <a:prstDash val="solid"/>
            <a:miter lim="800000"/>
          </a:ln>
          <a:effectLst>
            <a:innerShdw blurRad="76200">
              <a:srgbClr val="000000"/>
            </a:innerShdw>
          </a:effectLst>
        </p:spPr>
      </p:pic>
      <p:pic>
        <p:nvPicPr>
          <p:cNvPr id="9" name="Picture 1" descr="A screenshot of a computer&#10;&#10;Description automatically generated">
            <a:extLst>
              <a:ext uri="{FF2B5EF4-FFF2-40B4-BE49-F238E27FC236}">
                <a16:creationId xmlns:a16="http://schemas.microsoft.com/office/drawing/2014/main" id="{1E66AB65-A7BC-611E-1AE6-BCC9AF6DA01B}"/>
              </a:ext>
            </a:extLst>
          </p:cNvPr>
          <p:cNvPicPr>
            <a:picLocks noChangeAspect="1"/>
          </p:cNvPicPr>
          <p:nvPr/>
        </p:nvPicPr>
        <p:blipFill rotWithShape="1">
          <a:blip r:embed="rId4"/>
          <a:srcRect l="2458" t="12137" r="34188" b="37579"/>
          <a:stretch/>
        </p:blipFill>
        <p:spPr bwMode="auto">
          <a:xfrm>
            <a:off x="995410" y="1898189"/>
            <a:ext cx="3832160" cy="2347610"/>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pic>
        <p:nvPicPr>
          <p:cNvPr id="10" name="Picture 1" descr="A screenshot of a computer&#10;&#10;Description automatically generated">
            <a:extLst>
              <a:ext uri="{FF2B5EF4-FFF2-40B4-BE49-F238E27FC236}">
                <a16:creationId xmlns:a16="http://schemas.microsoft.com/office/drawing/2014/main" id="{07A24680-3AE2-96F8-CF37-7430B62F876B}"/>
              </a:ext>
            </a:extLst>
          </p:cNvPr>
          <p:cNvPicPr>
            <a:picLocks noChangeAspect="1"/>
          </p:cNvPicPr>
          <p:nvPr/>
        </p:nvPicPr>
        <p:blipFill rotWithShape="1">
          <a:blip r:embed="rId5"/>
          <a:srcRect l="2030" t="13235" r="30235" b="44383"/>
          <a:stretch/>
        </p:blipFill>
        <p:spPr bwMode="auto">
          <a:xfrm>
            <a:off x="5182215" y="1898188"/>
            <a:ext cx="3902565" cy="2333017"/>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882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83292-3A2F-2B2B-849F-37E2F0E75757}"/>
              </a:ext>
            </a:extLst>
          </p:cNvPr>
          <p:cNvSpPr>
            <a:spLocks noGrp="1"/>
          </p:cNvSpPr>
          <p:nvPr>
            <p:ph type="title"/>
          </p:nvPr>
        </p:nvSpPr>
        <p:spPr/>
        <p:txBody>
          <a:bodyPr/>
          <a:lstStyle/>
          <a:p>
            <a:r>
              <a:rPr lang="es-EC" dirty="0"/>
              <a:t>EJECUCIÓN DEL SERVIDOR</a:t>
            </a:r>
          </a:p>
        </p:txBody>
      </p:sp>
      <p:sp>
        <p:nvSpPr>
          <p:cNvPr id="4" name="Rectangle 5">
            <a:extLst>
              <a:ext uri="{FF2B5EF4-FFF2-40B4-BE49-F238E27FC236}">
                <a16:creationId xmlns:a16="http://schemas.microsoft.com/office/drawing/2014/main" id="{4ACF9281-8363-679E-EC99-78E65D259B3D}"/>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rgbClr val="FFFF00"/>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5" name="Imagen 4">
            <a:extLst>
              <a:ext uri="{FF2B5EF4-FFF2-40B4-BE49-F238E27FC236}">
                <a16:creationId xmlns:a16="http://schemas.microsoft.com/office/drawing/2014/main" id="{620DEC10-9ABB-2EAB-4E94-E91439844C7F}"/>
              </a:ext>
            </a:extLst>
          </p:cNvPr>
          <p:cNvPicPr>
            <a:picLocks noChangeAspect="1"/>
          </p:cNvPicPr>
          <p:nvPr/>
        </p:nvPicPr>
        <p:blipFill rotWithShape="1">
          <a:blip r:embed="rId2">
            <a:extLst>
              <a:ext uri="{28A0092B-C50C-407E-A947-70E740481C1C}">
                <a14:useLocalDpi xmlns:a14="http://schemas.microsoft.com/office/drawing/2010/main" val="0"/>
              </a:ext>
            </a:extLst>
          </a:blip>
          <a:srcRect b="48298"/>
          <a:stretch/>
        </p:blipFill>
        <p:spPr bwMode="auto">
          <a:xfrm>
            <a:off x="1609344" y="1926142"/>
            <a:ext cx="6548592" cy="1632649"/>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pic>
        <p:nvPicPr>
          <p:cNvPr id="6" name="Imagen 5" descr="Interfaz de usuario gráfica, Texto&#10;&#10;Descripción generada automáticamente">
            <a:extLst>
              <a:ext uri="{FF2B5EF4-FFF2-40B4-BE49-F238E27FC236}">
                <a16:creationId xmlns:a16="http://schemas.microsoft.com/office/drawing/2014/main" id="{78739148-835A-B52D-0209-7E7632B45D10}"/>
              </a:ext>
            </a:extLst>
          </p:cNvPr>
          <p:cNvPicPr>
            <a:picLocks noChangeAspect="1"/>
          </p:cNvPicPr>
          <p:nvPr/>
        </p:nvPicPr>
        <p:blipFill rotWithShape="1">
          <a:blip r:embed="rId3"/>
          <a:srcRect b="35089"/>
          <a:stretch/>
        </p:blipFill>
        <p:spPr bwMode="auto">
          <a:xfrm>
            <a:off x="1609344" y="3906137"/>
            <a:ext cx="6548592" cy="2549843"/>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775248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EJECUCIÓN DEL SERVIDOR</a:t>
            </a:r>
          </a:p>
        </p:txBody>
      </p:sp>
      <p:sp>
        <p:nvSpPr>
          <p:cNvPr id="5" name="Rectangle 5">
            <a:extLst>
              <a:ext uri="{FF2B5EF4-FFF2-40B4-BE49-F238E27FC236}">
                <a16:creationId xmlns:a16="http://schemas.microsoft.com/office/drawing/2014/main" id="{1AAFADD3-7609-ADD4-8B38-DF3DB0ACE2AA}"/>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rgbClr val="FFFF00"/>
                </a:solidFill>
              </a:rPr>
              <a:t>CREACIÓN DEL SERVIDOR</a:t>
            </a:r>
          </a:p>
          <a:p>
            <a:pPr marL="800100" lvl="1" indent="-342900">
              <a:buFont typeface="+mj-lt"/>
              <a:buAutoNum type="arabicPeriod"/>
            </a:pPr>
            <a:r>
              <a:rPr lang="es-ES" dirty="0" err="1">
                <a:solidFill>
                  <a:schemeClr val="bg1"/>
                </a:solidFill>
              </a:rPr>
              <a:t>Model</a:t>
            </a:r>
            <a:endParaRPr lang="es-ES" dirty="0">
              <a:solidFill>
                <a:schemeClr val="bg1"/>
              </a:solidFill>
            </a:endParaRP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rgbClr val="FFFF00"/>
                </a:solidFill>
              </a:rPr>
              <a:t>Ejecución Servidor</a:t>
            </a:r>
          </a:p>
          <a:p>
            <a:pPr marL="342900" indent="-342900">
              <a:buFont typeface="+mj-lt"/>
              <a:buAutoNum type="arabicPeriod"/>
            </a:pPr>
            <a:r>
              <a:rPr lang="es-ES" dirty="0"/>
              <a:t>CLIENTE CONSOLA</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3" name="Imagen 2" descr="Interfaz de usuario gráfica, Texto, Aplicación, Correo electrónico&#10;&#10;Descripción generada automáticamente">
            <a:extLst>
              <a:ext uri="{FF2B5EF4-FFF2-40B4-BE49-F238E27FC236}">
                <a16:creationId xmlns:a16="http://schemas.microsoft.com/office/drawing/2014/main" id="{318AF11F-6E53-EEC2-F32B-7A7B90B9B79F}"/>
              </a:ext>
            </a:extLst>
          </p:cNvPr>
          <p:cNvPicPr>
            <a:picLocks noChangeAspect="1"/>
          </p:cNvPicPr>
          <p:nvPr/>
        </p:nvPicPr>
        <p:blipFill>
          <a:blip r:embed="rId2"/>
          <a:stretch>
            <a:fillRect/>
          </a:stretch>
        </p:blipFill>
        <p:spPr>
          <a:xfrm>
            <a:off x="1742488" y="1947978"/>
            <a:ext cx="6082855" cy="4677999"/>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72895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Nuevo proyecto</a:t>
            </a:r>
          </a:p>
        </p:txBody>
      </p:sp>
      <p:sp>
        <p:nvSpPr>
          <p:cNvPr id="5" name="Rectangle 5">
            <a:extLst>
              <a:ext uri="{FF2B5EF4-FFF2-40B4-BE49-F238E27FC236}">
                <a16:creationId xmlns:a16="http://schemas.microsoft.com/office/drawing/2014/main" id="{1AAFADD3-7609-ADD4-8B38-DF3DB0ACE2AA}"/>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u="sng" dirty="0"/>
              <a:t>WS SOAP CONVERSIÓN DE </a:t>
            </a:r>
            <a:r>
              <a:rPr lang="es-ES" sz="1600" b="1" u="sng" dirty="0"/>
              <a:t>UNIDADES</a:t>
            </a:r>
            <a:endParaRPr lang="es-ES" sz="1400" b="1" u="sng" dirty="0"/>
          </a:p>
          <a:p>
            <a:pPr algn="ctr"/>
            <a:endParaRPr lang="es-ES"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chemeClr val="bg1"/>
                </a:solidFill>
              </a:rPr>
              <a:t>Referencia de servicio</a:t>
            </a: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4" name="Picture 1">
            <a:extLst>
              <a:ext uri="{FF2B5EF4-FFF2-40B4-BE49-F238E27FC236}">
                <a16:creationId xmlns:a16="http://schemas.microsoft.com/office/drawing/2014/main" id="{2B6E47A1-B0BD-5547-EC41-B9D99CBBD0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6447" y="1929793"/>
            <a:ext cx="6658621" cy="4714368"/>
          </a:xfrm>
          <a:prstGeom prst="rect">
            <a:avLst/>
          </a:prstGeom>
          <a:ln w="76200" cap="sq" cmpd="thickThin">
            <a:solidFill>
              <a:srgbClr val="000000"/>
            </a:solidFill>
            <a:prstDash val="solid"/>
            <a:miter lim="800000"/>
          </a:ln>
          <a:effectLst>
            <a:innerShdw blurRad="76200">
              <a:srgbClr val="000000"/>
            </a:innerShdw>
          </a:effectLst>
        </p:spPr>
      </p:pic>
      <p:sp>
        <p:nvSpPr>
          <p:cNvPr id="6" name="Content Placeholder 2">
            <a:extLst>
              <a:ext uri="{FF2B5EF4-FFF2-40B4-BE49-F238E27FC236}">
                <a16:creationId xmlns:a16="http://schemas.microsoft.com/office/drawing/2014/main" id="{34D09654-FC1B-FD23-283A-3B0BED710F15}"/>
              </a:ext>
            </a:extLst>
          </p:cNvPr>
          <p:cNvSpPr>
            <a:spLocks noGrp="1"/>
          </p:cNvSpPr>
          <p:nvPr>
            <p:ph idx="1"/>
          </p:nvPr>
        </p:nvSpPr>
        <p:spPr>
          <a:xfrm>
            <a:off x="451475" y="1992687"/>
            <a:ext cx="1743086"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Creación de un nuevo proyecto</a:t>
            </a:r>
          </a:p>
        </p:txBody>
      </p:sp>
    </p:spTree>
    <p:extLst>
      <p:ext uri="{BB962C8B-B14F-4D97-AF65-F5344CB8AC3E}">
        <p14:creationId xmlns:p14="http://schemas.microsoft.com/office/powerpoint/2010/main" val="1807295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referencia de servicio</a:t>
            </a:r>
          </a:p>
        </p:txBody>
      </p:sp>
      <p:sp>
        <p:nvSpPr>
          <p:cNvPr id="5" name="Rectangle 5">
            <a:extLst>
              <a:ext uri="{FF2B5EF4-FFF2-40B4-BE49-F238E27FC236}">
                <a16:creationId xmlns:a16="http://schemas.microsoft.com/office/drawing/2014/main" id="{1AAFADD3-7609-ADD4-8B38-DF3DB0ACE2AA}"/>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rgbClr val="FFFF00"/>
                </a:solidFill>
              </a:rPr>
              <a:t>Referencia de servicio</a:t>
            </a: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
        <p:nvSpPr>
          <p:cNvPr id="6" name="Content Placeholder 2">
            <a:extLst>
              <a:ext uri="{FF2B5EF4-FFF2-40B4-BE49-F238E27FC236}">
                <a16:creationId xmlns:a16="http://schemas.microsoft.com/office/drawing/2014/main" id="{34D09654-FC1B-FD23-283A-3B0BED710F15}"/>
              </a:ext>
            </a:extLst>
          </p:cNvPr>
          <p:cNvSpPr>
            <a:spLocks noGrp="1"/>
          </p:cNvSpPr>
          <p:nvPr>
            <p:ph idx="1"/>
          </p:nvPr>
        </p:nvSpPr>
        <p:spPr>
          <a:xfrm>
            <a:off x="451475" y="1992687"/>
            <a:ext cx="1743086" cy="4588579"/>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En el nuevo proyecto se agrega la referencia de servicio.</a:t>
            </a:r>
          </a:p>
        </p:txBody>
      </p:sp>
      <p:pic>
        <p:nvPicPr>
          <p:cNvPr id="3" name="Imagen 2">
            <a:extLst>
              <a:ext uri="{FF2B5EF4-FFF2-40B4-BE49-F238E27FC236}">
                <a16:creationId xmlns:a16="http://schemas.microsoft.com/office/drawing/2014/main" id="{E2111D4C-B94D-75D8-0B6B-46CD74B10BE0}"/>
              </a:ext>
            </a:extLst>
          </p:cNvPr>
          <p:cNvPicPr>
            <a:picLocks noChangeAspect="1"/>
          </p:cNvPicPr>
          <p:nvPr/>
        </p:nvPicPr>
        <p:blipFill>
          <a:blip r:embed="rId2"/>
          <a:stretch>
            <a:fillRect/>
          </a:stretch>
        </p:blipFill>
        <p:spPr>
          <a:xfrm>
            <a:off x="2313575" y="2805276"/>
            <a:ext cx="6511723" cy="2781707"/>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792920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a:t>
            </a:r>
            <a:r>
              <a:rPr lang="es-EC" dirty="0" err="1"/>
              <a:t>Service</a:t>
            </a:r>
            <a:endParaRPr lang="es-EC" dirty="0"/>
          </a:p>
        </p:txBody>
      </p:sp>
      <p:sp>
        <p:nvSpPr>
          <p:cNvPr id="6" name="Content Placeholder 2">
            <a:extLst>
              <a:ext uri="{FF2B5EF4-FFF2-40B4-BE49-F238E27FC236}">
                <a16:creationId xmlns:a16="http://schemas.microsoft.com/office/drawing/2014/main" id="{34D09654-FC1B-FD23-283A-3B0BED710F15}"/>
              </a:ext>
            </a:extLst>
          </p:cNvPr>
          <p:cNvSpPr>
            <a:spLocks noGrp="1"/>
          </p:cNvSpPr>
          <p:nvPr>
            <p:ph idx="1"/>
          </p:nvPr>
        </p:nvSpPr>
        <p:spPr>
          <a:xfrm>
            <a:off x="6980921" y="2036294"/>
            <a:ext cx="2280037" cy="2213553"/>
          </a:xfrm>
        </p:spPr>
        <p:txBody>
          <a:bodyPr>
            <a:normAutofit/>
          </a:bodyPr>
          <a:lstStyle/>
          <a:p>
            <a:pPr>
              <a:lnSpc>
                <a:spcPct val="115000"/>
              </a:lnSpc>
              <a:spcAft>
                <a:spcPts val="10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Verificar servicios agregados</a:t>
            </a:r>
          </a:p>
        </p:txBody>
      </p:sp>
      <p:pic>
        <p:nvPicPr>
          <p:cNvPr id="3" name="Picture 1">
            <a:extLst>
              <a:ext uri="{FF2B5EF4-FFF2-40B4-BE49-F238E27FC236}">
                <a16:creationId xmlns:a16="http://schemas.microsoft.com/office/drawing/2014/main" id="{83D40D5D-FE4C-F2B4-3289-49DFAA02EE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2" y="2037703"/>
            <a:ext cx="5216104" cy="3244205"/>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descr="Interfaz de usuario gráfica, Texto&#10;&#10;Descripción generada automáticamente">
            <a:extLst>
              <a:ext uri="{FF2B5EF4-FFF2-40B4-BE49-F238E27FC236}">
                <a16:creationId xmlns:a16="http://schemas.microsoft.com/office/drawing/2014/main" id="{35121927-ABA3-BC44-BD6C-1AAB7A7482A3}"/>
              </a:ext>
            </a:extLst>
          </p:cNvPr>
          <p:cNvPicPr>
            <a:picLocks noChangeAspect="1"/>
          </p:cNvPicPr>
          <p:nvPr/>
        </p:nvPicPr>
        <p:blipFill>
          <a:blip r:embed="rId3"/>
          <a:stretch>
            <a:fillRect/>
          </a:stretch>
        </p:blipFill>
        <p:spPr>
          <a:xfrm>
            <a:off x="6096000" y="3965057"/>
            <a:ext cx="2961144" cy="2022856"/>
          </a:xfrm>
          <a:prstGeom prst="rect">
            <a:avLst/>
          </a:prstGeom>
          <a:ln w="76200" cap="sq" cmpd="thickThin">
            <a:solidFill>
              <a:srgbClr val="000000"/>
            </a:solidFill>
            <a:prstDash val="solid"/>
            <a:miter lim="800000"/>
          </a:ln>
          <a:effectLst>
            <a:innerShdw blurRad="76200">
              <a:srgbClr val="000000"/>
            </a:innerShdw>
          </a:effectLst>
        </p:spPr>
      </p:pic>
      <p:sp>
        <p:nvSpPr>
          <p:cNvPr id="7" name="Content Placeholder 2">
            <a:extLst>
              <a:ext uri="{FF2B5EF4-FFF2-40B4-BE49-F238E27FC236}">
                <a16:creationId xmlns:a16="http://schemas.microsoft.com/office/drawing/2014/main" id="{C8C3EED8-F822-3A50-E45E-CFFCA67A7ED9}"/>
              </a:ext>
            </a:extLst>
          </p:cNvPr>
          <p:cNvSpPr txBox="1">
            <a:spLocks/>
          </p:cNvSpPr>
          <p:nvPr/>
        </p:nvSpPr>
        <p:spPr>
          <a:xfrm>
            <a:off x="581192" y="5281908"/>
            <a:ext cx="3994522" cy="107508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Agregar servicio WSDL</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rgbClr val="FFFF00"/>
                </a:solidFill>
              </a:rPr>
              <a:t>Referencia de servicio</a:t>
            </a: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a:solidFill>
                  <a:schemeClr val="bg1"/>
                </a:solidFill>
              </a:rPr>
              <a:t>WS</a:t>
            </a:r>
          </a:p>
          <a:p>
            <a:pPr marL="800100" lvl="1" indent="-342900">
              <a:buFont typeface="+mj-lt"/>
              <a:buAutoNum type="arabicPeriod"/>
            </a:pPr>
            <a:r>
              <a:rPr lang="es-ES" dirty="0">
                <a:solidFill>
                  <a:schemeClr val="bg1"/>
                </a:solidFill>
              </a:rPr>
              <a:t>Test</a:t>
            </a:r>
          </a:p>
          <a:p>
            <a:pPr marL="800100" lvl="1" indent="-342900">
              <a:buFont typeface="+mj-lt"/>
              <a:buAutoNum type="arabicPeriod"/>
            </a:pPr>
            <a:r>
              <a:rPr lang="es-ES" dirty="0">
                <a:solidFill>
                  <a:schemeClr val="bg1"/>
                </a:solidFill>
              </a:rPr>
              <a:t>Ejecución Servidor</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spTree>
    <p:extLst>
      <p:ext uri="{BB962C8B-B14F-4D97-AF65-F5344CB8AC3E}">
        <p14:creationId xmlns:p14="http://schemas.microsoft.com/office/powerpoint/2010/main" val="131293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a:t>
            </a:r>
            <a:r>
              <a:rPr lang="es-EC" dirty="0" err="1"/>
              <a:t>Service</a:t>
            </a:r>
            <a:endParaRPr lang="es-EC" dirty="0"/>
          </a:p>
        </p:txBody>
      </p:sp>
      <p:sp>
        <p:nvSpPr>
          <p:cNvPr id="7" name="Content Placeholder 2">
            <a:extLst>
              <a:ext uri="{FF2B5EF4-FFF2-40B4-BE49-F238E27FC236}">
                <a16:creationId xmlns:a16="http://schemas.microsoft.com/office/drawing/2014/main" id="{C8C3EED8-F822-3A50-E45E-CFFCA67A7ED9}"/>
              </a:ext>
            </a:extLst>
          </p:cNvPr>
          <p:cNvSpPr txBox="1">
            <a:spLocks/>
          </p:cNvSpPr>
          <p:nvPr/>
        </p:nvSpPr>
        <p:spPr>
          <a:xfrm>
            <a:off x="581192" y="5281908"/>
            <a:ext cx="3994522" cy="107508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Nuevo paquete </a:t>
            </a:r>
            <a:r>
              <a:rPr lang="es-EC" dirty="0" err="1">
                <a:latin typeface="Calibri" panose="020F0502020204030204" pitchFamily="34" charset="0"/>
                <a:ea typeface="Calibri" panose="020F0502020204030204" pitchFamily="34" charset="0"/>
                <a:cs typeface="Times New Roman" panose="02020603050405020304" pitchFamily="18" charset="0"/>
              </a:rPr>
              <a:t>service</a:t>
            </a:r>
            <a:endParaRPr lang="es-EC"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chemeClr val="bg1"/>
                </a:solidFill>
              </a:rPr>
              <a:t>Referencia de servicio</a:t>
            </a:r>
          </a:p>
          <a:p>
            <a:pPr marL="800100" lvl="1" indent="-342900">
              <a:buFont typeface="+mj-lt"/>
              <a:buAutoNum type="arabicPeriod"/>
            </a:pPr>
            <a:r>
              <a:rPr lang="es-ES" dirty="0" err="1">
                <a:solidFill>
                  <a:srgbClr val="FFFF00"/>
                </a:solidFill>
              </a:rPr>
              <a:t>Service</a:t>
            </a:r>
            <a:endParaRPr lang="es-ES" dirty="0">
              <a:solidFill>
                <a:srgbClr val="FFFF00"/>
              </a:solidFill>
            </a:endParaRPr>
          </a:p>
          <a:p>
            <a:pPr marL="800100" lvl="1" indent="-342900">
              <a:buFont typeface="+mj-lt"/>
              <a:buAutoNum type="arabicPeriod"/>
            </a:pPr>
            <a:r>
              <a:rPr lang="es-ES" dirty="0" err="1">
                <a:solidFill>
                  <a:schemeClr val="bg1"/>
                </a:solidFill>
              </a:rPr>
              <a:t>Controller</a:t>
            </a:r>
            <a:endParaRPr lang="es-ES" dirty="0">
              <a:solidFill>
                <a:schemeClr val="bg1"/>
              </a:solidFill>
            </a:endParaRPr>
          </a:p>
          <a:p>
            <a:pPr marL="800100" lvl="1" indent="-342900">
              <a:buFont typeface="+mj-lt"/>
              <a:buAutoNum type="arabicPeriod"/>
            </a:pPr>
            <a:r>
              <a:rPr lang="es-ES" dirty="0">
                <a:solidFill>
                  <a:schemeClr val="bg1"/>
                </a:solidFill>
              </a:rPr>
              <a:t>View</a:t>
            </a:r>
          </a:p>
          <a:p>
            <a:pPr marL="800100" lvl="1" indent="-342900">
              <a:buFont typeface="+mj-lt"/>
              <a:buAutoNum type="arabicPeriod"/>
            </a:pPr>
            <a:r>
              <a:rPr lang="es-ES" dirty="0">
                <a:solidFill>
                  <a:schemeClr val="bg1"/>
                </a:solidFill>
              </a:rPr>
              <a:t>Ejecución</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10" name="Imagen 9" descr="Interfaz de usuario gráfica, Texto, Aplicación&#10;&#10;Descripción generada automáticamente">
            <a:extLst>
              <a:ext uri="{FF2B5EF4-FFF2-40B4-BE49-F238E27FC236}">
                <a16:creationId xmlns:a16="http://schemas.microsoft.com/office/drawing/2014/main" id="{5C9097BA-2F63-C8B6-A16C-7E26507979B1}"/>
              </a:ext>
            </a:extLst>
          </p:cNvPr>
          <p:cNvPicPr>
            <a:picLocks noChangeAspect="1"/>
          </p:cNvPicPr>
          <p:nvPr/>
        </p:nvPicPr>
        <p:blipFill>
          <a:blip r:embed="rId2"/>
          <a:stretch>
            <a:fillRect/>
          </a:stretch>
        </p:blipFill>
        <p:spPr>
          <a:xfrm>
            <a:off x="509778" y="1927757"/>
            <a:ext cx="5168646" cy="3070642"/>
          </a:xfrm>
          <a:prstGeom prst="rect">
            <a:avLst/>
          </a:prstGeom>
          <a:ln w="76200" cap="sq" cmpd="thickThin">
            <a:solidFill>
              <a:srgbClr val="000000"/>
            </a:solidFill>
            <a:prstDash val="solid"/>
            <a:miter lim="800000"/>
          </a:ln>
          <a:effectLst>
            <a:innerShdw blurRad="76200">
              <a:srgbClr val="000000"/>
            </a:innerShdw>
          </a:effectLst>
        </p:spPr>
      </p:pic>
      <p:pic>
        <p:nvPicPr>
          <p:cNvPr id="12" name="Imagen 11">
            <a:extLst>
              <a:ext uri="{FF2B5EF4-FFF2-40B4-BE49-F238E27FC236}">
                <a16:creationId xmlns:a16="http://schemas.microsoft.com/office/drawing/2014/main" id="{01D19236-BBA5-4C00-9ACE-BC01F48C1790}"/>
              </a:ext>
            </a:extLst>
          </p:cNvPr>
          <p:cNvPicPr>
            <a:picLocks noChangeAspect="1"/>
          </p:cNvPicPr>
          <p:nvPr/>
        </p:nvPicPr>
        <p:blipFill>
          <a:blip r:embed="rId3"/>
          <a:stretch>
            <a:fillRect/>
          </a:stretch>
        </p:blipFill>
        <p:spPr>
          <a:xfrm>
            <a:off x="3957574" y="5239979"/>
            <a:ext cx="5026660" cy="1441450"/>
          </a:xfrm>
          <a:prstGeom prst="rect">
            <a:avLst/>
          </a:prstGeom>
          <a:ln w="76200" cap="sq" cmpd="thickThin">
            <a:solidFill>
              <a:srgbClr val="000000"/>
            </a:solidFill>
            <a:prstDash val="solid"/>
            <a:miter lim="800000"/>
          </a:ln>
          <a:effectLst>
            <a:innerShdw blurRad="76200">
              <a:srgbClr val="000000"/>
            </a:innerShdw>
          </a:effectLst>
        </p:spPr>
      </p:pic>
      <p:sp>
        <p:nvSpPr>
          <p:cNvPr id="13" name="Content Placeholder 2">
            <a:extLst>
              <a:ext uri="{FF2B5EF4-FFF2-40B4-BE49-F238E27FC236}">
                <a16:creationId xmlns:a16="http://schemas.microsoft.com/office/drawing/2014/main" id="{026EA0A1-17F4-3A49-9149-95D0FAA0C00F}"/>
              </a:ext>
            </a:extLst>
          </p:cNvPr>
          <p:cNvSpPr txBox="1">
            <a:spLocks/>
          </p:cNvSpPr>
          <p:nvPr/>
        </p:nvSpPr>
        <p:spPr>
          <a:xfrm>
            <a:off x="6470904" y="3923315"/>
            <a:ext cx="2513330" cy="107508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Clase nueva en el paquete creado</a:t>
            </a:r>
          </a:p>
        </p:txBody>
      </p:sp>
    </p:spTree>
    <p:extLst>
      <p:ext uri="{BB962C8B-B14F-4D97-AF65-F5344CB8AC3E}">
        <p14:creationId xmlns:p14="http://schemas.microsoft.com/office/powerpoint/2010/main" val="1072813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a:t>
            </a:r>
            <a:r>
              <a:rPr lang="es-EC" dirty="0" err="1"/>
              <a:t>Service</a:t>
            </a:r>
            <a:endParaRPr lang="es-EC" dirty="0"/>
          </a:p>
        </p:txBody>
      </p:sp>
      <p:sp>
        <p:nvSpPr>
          <p:cNvPr id="7" name="Content Placeholder 2">
            <a:extLst>
              <a:ext uri="{FF2B5EF4-FFF2-40B4-BE49-F238E27FC236}">
                <a16:creationId xmlns:a16="http://schemas.microsoft.com/office/drawing/2014/main" id="{C8C3EED8-F822-3A50-E45E-CFFCA67A7ED9}"/>
              </a:ext>
            </a:extLst>
          </p:cNvPr>
          <p:cNvSpPr txBox="1">
            <a:spLocks/>
          </p:cNvSpPr>
          <p:nvPr/>
        </p:nvSpPr>
        <p:spPr>
          <a:xfrm>
            <a:off x="581192" y="5281908"/>
            <a:ext cx="3994522" cy="107508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Implementación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chemeClr val="bg1"/>
                </a:solidFill>
              </a:rPr>
              <a:t>Referencia de servicio</a:t>
            </a:r>
          </a:p>
          <a:p>
            <a:pPr marL="800100" lvl="1" indent="-342900">
              <a:buFont typeface="+mj-lt"/>
              <a:buAutoNum type="arabicPeriod"/>
            </a:pPr>
            <a:r>
              <a:rPr lang="es-ES" dirty="0" err="1">
                <a:solidFill>
                  <a:srgbClr val="FFFF00"/>
                </a:solidFill>
              </a:rPr>
              <a:t>Service</a:t>
            </a:r>
            <a:endParaRPr lang="es-ES" dirty="0">
              <a:solidFill>
                <a:srgbClr val="FFFF00"/>
              </a:solidFill>
            </a:endParaRPr>
          </a:p>
          <a:p>
            <a:pPr marL="800100" lvl="1" indent="-342900">
              <a:buFont typeface="+mj-lt"/>
              <a:buAutoNum type="arabicPeriod"/>
            </a:pPr>
            <a:r>
              <a:rPr lang="es-ES" dirty="0" err="1">
                <a:solidFill>
                  <a:schemeClr val="bg1"/>
                </a:solidFill>
              </a:rPr>
              <a:t>Controller</a:t>
            </a:r>
            <a:endParaRPr lang="es-ES" dirty="0">
              <a:solidFill>
                <a:schemeClr val="bg1"/>
              </a:solidFill>
            </a:endParaRPr>
          </a:p>
          <a:p>
            <a:pPr marL="800100" lvl="1" indent="-342900">
              <a:buFont typeface="+mj-lt"/>
              <a:buAutoNum type="arabicPeriod"/>
            </a:pPr>
            <a:r>
              <a:rPr lang="es-ES" dirty="0">
                <a:solidFill>
                  <a:schemeClr val="bg1"/>
                </a:solidFill>
              </a:rPr>
              <a:t>View</a:t>
            </a:r>
          </a:p>
          <a:p>
            <a:pPr marL="800100" lvl="1" indent="-342900">
              <a:buFont typeface="+mj-lt"/>
              <a:buAutoNum type="arabicPeriod"/>
            </a:pPr>
            <a:r>
              <a:rPr lang="es-ES" dirty="0">
                <a:solidFill>
                  <a:schemeClr val="bg1"/>
                </a:solidFill>
              </a:rPr>
              <a:t>Ejecución</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5" name="Imagen 4">
            <a:extLst>
              <a:ext uri="{FF2B5EF4-FFF2-40B4-BE49-F238E27FC236}">
                <a16:creationId xmlns:a16="http://schemas.microsoft.com/office/drawing/2014/main" id="{8240A9A0-E569-3258-7E81-C0CC606395A5}"/>
              </a:ext>
            </a:extLst>
          </p:cNvPr>
          <p:cNvPicPr>
            <a:picLocks noChangeAspect="1"/>
          </p:cNvPicPr>
          <p:nvPr/>
        </p:nvPicPr>
        <p:blipFill rotWithShape="1">
          <a:blip r:embed="rId2"/>
          <a:srcRect l="27535"/>
          <a:stretch/>
        </p:blipFill>
        <p:spPr>
          <a:xfrm>
            <a:off x="5175504" y="3391290"/>
            <a:ext cx="3913124" cy="2952750"/>
          </a:xfrm>
          <a:prstGeom prst="rect">
            <a:avLst/>
          </a:prstGeom>
          <a:ln w="76200" cap="sq" cmpd="thickThin">
            <a:solidFill>
              <a:srgbClr val="000000"/>
            </a:solidFill>
            <a:prstDash val="solid"/>
            <a:miter lim="800000"/>
          </a:ln>
          <a:effectLst>
            <a:innerShdw blurRad="76200">
              <a:srgbClr val="000000"/>
            </a:innerShdw>
          </a:effectLst>
        </p:spPr>
      </p:pic>
      <p:pic>
        <p:nvPicPr>
          <p:cNvPr id="4" name="Picture 1">
            <a:extLst>
              <a:ext uri="{FF2B5EF4-FFF2-40B4-BE49-F238E27FC236}">
                <a16:creationId xmlns:a16="http://schemas.microsoft.com/office/drawing/2014/main" id="{D648DE38-C853-02EE-35E4-93DEB4C45C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062" y="1964372"/>
            <a:ext cx="4484131" cy="3177673"/>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249604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a:t>
            </a:r>
            <a:r>
              <a:rPr lang="es-EC" dirty="0" err="1"/>
              <a:t>controller</a:t>
            </a:r>
            <a:endParaRPr lang="es-EC" dirty="0"/>
          </a:p>
        </p:txBody>
      </p:sp>
      <p:sp>
        <p:nvSpPr>
          <p:cNvPr id="7" name="Content Placeholder 2">
            <a:extLst>
              <a:ext uri="{FF2B5EF4-FFF2-40B4-BE49-F238E27FC236}">
                <a16:creationId xmlns:a16="http://schemas.microsoft.com/office/drawing/2014/main" id="{C8C3EED8-F822-3A50-E45E-CFFCA67A7ED9}"/>
              </a:ext>
            </a:extLst>
          </p:cNvPr>
          <p:cNvSpPr txBox="1">
            <a:spLocks/>
          </p:cNvSpPr>
          <p:nvPr/>
        </p:nvSpPr>
        <p:spPr>
          <a:xfrm>
            <a:off x="581192" y="5281908"/>
            <a:ext cx="3994522" cy="107508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Nuevo paquete </a:t>
            </a:r>
            <a:r>
              <a:rPr lang="es-EC" dirty="0" err="1">
                <a:latin typeface="Calibri" panose="020F0502020204030204" pitchFamily="34" charset="0"/>
                <a:ea typeface="Calibri" panose="020F0502020204030204" pitchFamily="34" charset="0"/>
                <a:cs typeface="Times New Roman" panose="02020603050405020304" pitchFamily="18" charset="0"/>
              </a:rPr>
              <a:t>controller</a:t>
            </a:r>
            <a:endParaRPr lang="es-EC"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chemeClr val="bg1"/>
                </a:solidFill>
              </a:rPr>
              <a:t>Referencia de servicio</a:t>
            </a: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err="1">
                <a:solidFill>
                  <a:srgbClr val="FFFF00"/>
                </a:solidFill>
              </a:rPr>
              <a:t>Controller</a:t>
            </a:r>
            <a:endParaRPr lang="es-ES" dirty="0">
              <a:solidFill>
                <a:srgbClr val="FFFF00"/>
              </a:solidFill>
            </a:endParaRPr>
          </a:p>
          <a:p>
            <a:pPr marL="800100" lvl="1" indent="-342900">
              <a:buFont typeface="+mj-lt"/>
              <a:buAutoNum type="arabicPeriod"/>
            </a:pPr>
            <a:r>
              <a:rPr lang="es-ES" dirty="0">
                <a:solidFill>
                  <a:schemeClr val="bg1"/>
                </a:solidFill>
              </a:rPr>
              <a:t>View</a:t>
            </a:r>
          </a:p>
          <a:p>
            <a:pPr marL="800100" lvl="1" indent="-342900">
              <a:buFont typeface="+mj-lt"/>
              <a:buAutoNum type="arabicPeriod"/>
            </a:pPr>
            <a:r>
              <a:rPr lang="es-ES" dirty="0">
                <a:solidFill>
                  <a:schemeClr val="bg1"/>
                </a:solidFill>
              </a:rPr>
              <a:t>Ejecución</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3" name="Picture 1">
            <a:extLst>
              <a:ext uri="{FF2B5EF4-FFF2-40B4-BE49-F238E27FC236}">
                <a16:creationId xmlns:a16="http://schemas.microsoft.com/office/drawing/2014/main" id="{C69E74F3-34A1-34BC-1E46-345100D5E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40" y="1947037"/>
            <a:ext cx="4420575" cy="3128990"/>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a:extLst>
              <a:ext uri="{FF2B5EF4-FFF2-40B4-BE49-F238E27FC236}">
                <a16:creationId xmlns:a16="http://schemas.microsoft.com/office/drawing/2014/main" id="{E5C5567D-A21C-A4D7-7F83-DE341F359666}"/>
              </a:ext>
            </a:extLst>
          </p:cNvPr>
          <p:cNvPicPr>
            <a:picLocks noChangeAspect="1"/>
          </p:cNvPicPr>
          <p:nvPr/>
        </p:nvPicPr>
        <p:blipFill>
          <a:blip r:embed="rId3"/>
          <a:stretch>
            <a:fillRect/>
          </a:stretch>
        </p:blipFill>
        <p:spPr>
          <a:xfrm>
            <a:off x="3868062" y="5372488"/>
            <a:ext cx="5039995" cy="1295400"/>
          </a:xfrm>
          <a:prstGeom prst="rect">
            <a:avLst/>
          </a:prstGeom>
          <a:ln w="76200" cap="sq" cmpd="thickThin">
            <a:solidFill>
              <a:srgbClr val="000000"/>
            </a:solidFill>
            <a:prstDash val="solid"/>
            <a:miter lim="800000"/>
          </a:ln>
          <a:effectLst>
            <a:innerShdw blurRad="76200">
              <a:srgbClr val="000000"/>
            </a:innerShdw>
          </a:effectLst>
        </p:spPr>
      </p:pic>
      <p:sp>
        <p:nvSpPr>
          <p:cNvPr id="9" name="Content Placeholder 2">
            <a:extLst>
              <a:ext uri="{FF2B5EF4-FFF2-40B4-BE49-F238E27FC236}">
                <a16:creationId xmlns:a16="http://schemas.microsoft.com/office/drawing/2014/main" id="{5641163E-505F-69DB-77C6-CA212ACCF9D8}"/>
              </a:ext>
            </a:extLst>
          </p:cNvPr>
          <p:cNvSpPr txBox="1">
            <a:spLocks/>
          </p:cNvSpPr>
          <p:nvPr/>
        </p:nvSpPr>
        <p:spPr>
          <a:xfrm>
            <a:off x="6571178" y="4000943"/>
            <a:ext cx="2513330" cy="107508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Clase nueva en el paquete creado</a:t>
            </a:r>
          </a:p>
        </p:txBody>
      </p:sp>
    </p:spTree>
    <p:extLst>
      <p:ext uri="{BB962C8B-B14F-4D97-AF65-F5344CB8AC3E}">
        <p14:creationId xmlns:p14="http://schemas.microsoft.com/office/powerpoint/2010/main" val="3014032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View</a:t>
            </a:r>
          </a:p>
        </p:txBody>
      </p:sp>
      <p:sp>
        <p:nvSpPr>
          <p:cNvPr id="7" name="Content Placeholder 2">
            <a:extLst>
              <a:ext uri="{FF2B5EF4-FFF2-40B4-BE49-F238E27FC236}">
                <a16:creationId xmlns:a16="http://schemas.microsoft.com/office/drawing/2014/main" id="{C8C3EED8-F822-3A50-E45E-CFFCA67A7ED9}"/>
              </a:ext>
            </a:extLst>
          </p:cNvPr>
          <p:cNvSpPr txBox="1">
            <a:spLocks/>
          </p:cNvSpPr>
          <p:nvPr/>
        </p:nvSpPr>
        <p:spPr>
          <a:xfrm>
            <a:off x="721580" y="4401300"/>
            <a:ext cx="3994522" cy="107508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Nuevo paquete </a:t>
            </a:r>
            <a:r>
              <a:rPr lang="es-EC" dirty="0" err="1">
                <a:latin typeface="Calibri" panose="020F0502020204030204" pitchFamily="34" charset="0"/>
                <a:ea typeface="Calibri" panose="020F0502020204030204" pitchFamily="34" charset="0"/>
                <a:cs typeface="Times New Roman" panose="02020603050405020304" pitchFamily="18" charset="0"/>
              </a:rPr>
              <a:t>view</a:t>
            </a:r>
            <a:endParaRPr lang="es-EC"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chemeClr val="bg1"/>
                </a:solidFill>
              </a:rPr>
              <a:t>Referencia de servicio</a:t>
            </a: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err="1">
                <a:solidFill>
                  <a:schemeClr val="bg1"/>
                </a:solidFill>
              </a:rPr>
              <a:t>Controller</a:t>
            </a:r>
            <a:endParaRPr lang="es-ES" dirty="0">
              <a:solidFill>
                <a:schemeClr val="bg1"/>
              </a:solidFill>
            </a:endParaRPr>
          </a:p>
          <a:p>
            <a:pPr marL="800100" lvl="1" indent="-342900">
              <a:buFont typeface="+mj-lt"/>
              <a:buAutoNum type="arabicPeriod"/>
            </a:pPr>
            <a:r>
              <a:rPr lang="es-ES" dirty="0">
                <a:solidFill>
                  <a:srgbClr val="FFFF00"/>
                </a:solidFill>
              </a:rPr>
              <a:t>View</a:t>
            </a:r>
          </a:p>
          <a:p>
            <a:pPr marL="800100" lvl="1" indent="-342900">
              <a:buFont typeface="+mj-lt"/>
              <a:buAutoNum type="arabicPeriod"/>
            </a:pPr>
            <a:r>
              <a:rPr lang="es-ES" dirty="0">
                <a:solidFill>
                  <a:schemeClr val="bg1"/>
                </a:solidFill>
              </a:rPr>
              <a:t>Ejecución</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4" name="Imagen 3" descr="Interfaz de usuario gráfica&#10;&#10;Descripción generada automáticamente con confianza media">
            <a:extLst>
              <a:ext uri="{FF2B5EF4-FFF2-40B4-BE49-F238E27FC236}">
                <a16:creationId xmlns:a16="http://schemas.microsoft.com/office/drawing/2014/main" id="{652212FD-056A-4865-912A-A66F7FB4F766}"/>
              </a:ext>
            </a:extLst>
          </p:cNvPr>
          <p:cNvPicPr>
            <a:picLocks noChangeAspect="1"/>
          </p:cNvPicPr>
          <p:nvPr/>
        </p:nvPicPr>
        <p:blipFill>
          <a:blip r:embed="rId2"/>
          <a:stretch>
            <a:fillRect/>
          </a:stretch>
        </p:blipFill>
        <p:spPr>
          <a:xfrm>
            <a:off x="581192" y="1959853"/>
            <a:ext cx="4701513" cy="1013799"/>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8DC33DD2-B04D-0709-DE3F-6BD44252C723}"/>
              </a:ext>
            </a:extLst>
          </p:cNvPr>
          <p:cNvPicPr>
            <a:picLocks noChangeAspect="1"/>
          </p:cNvPicPr>
          <p:nvPr/>
        </p:nvPicPr>
        <p:blipFill>
          <a:blip r:embed="rId3"/>
          <a:stretch>
            <a:fillRect/>
          </a:stretch>
        </p:blipFill>
        <p:spPr>
          <a:xfrm>
            <a:off x="3613375" y="3217549"/>
            <a:ext cx="5253668" cy="3490844"/>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922444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View</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chemeClr val="bg1"/>
                </a:solidFill>
              </a:rPr>
              <a:t>Referencia de servicio</a:t>
            </a: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err="1">
                <a:solidFill>
                  <a:schemeClr val="bg1"/>
                </a:solidFill>
              </a:rPr>
              <a:t>Controller</a:t>
            </a:r>
            <a:endParaRPr lang="es-ES" dirty="0">
              <a:solidFill>
                <a:schemeClr val="bg1"/>
              </a:solidFill>
            </a:endParaRPr>
          </a:p>
          <a:p>
            <a:pPr marL="800100" lvl="1" indent="-342900">
              <a:buFont typeface="+mj-lt"/>
              <a:buAutoNum type="arabicPeriod"/>
            </a:pPr>
            <a:r>
              <a:rPr lang="es-ES" dirty="0">
                <a:solidFill>
                  <a:srgbClr val="FFFF00"/>
                </a:solidFill>
              </a:rPr>
              <a:t>View</a:t>
            </a:r>
          </a:p>
          <a:p>
            <a:pPr marL="800100" lvl="1" indent="-342900">
              <a:buFont typeface="+mj-lt"/>
              <a:buAutoNum type="arabicPeriod"/>
            </a:pPr>
            <a:r>
              <a:rPr lang="es-ES" dirty="0">
                <a:solidFill>
                  <a:schemeClr val="bg1"/>
                </a:solidFill>
              </a:rPr>
              <a:t>Ejecución</a:t>
            </a:r>
            <a:endParaRPr lang="es-ES" dirty="0">
              <a:solidFill>
                <a:srgbClr val="FFFF00"/>
              </a:solidFill>
            </a:endParaRP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3" name="Imagen 2">
            <a:extLst>
              <a:ext uri="{FF2B5EF4-FFF2-40B4-BE49-F238E27FC236}">
                <a16:creationId xmlns:a16="http://schemas.microsoft.com/office/drawing/2014/main" id="{3ACD1B36-CAB9-53E3-245A-9F09B6A872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684" y="2338832"/>
            <a:ext cx="4269327" cy="3723640"/>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descr="Interfaz de usuario gráfica, Texto, Aplicación&#10;&#10;Descripción generada automáticamente">
            <a:extLst>
              <a:ext uri="{FF2B5EF4-FFF2-40B4-BE49-F238E27FC236}">
                <a16:creationId xmlns:a16="http://schemas.microsoft.com/office/drawing/2014/main" id="{A45A22C2-3F12-CE9B-DFF6-F2682E57DBC7}"/>
              </a:ext>
            </a:extLst>
          </p:cNvPr>
          <p:cNvPicPr>
            <a:picLocks noChangeAspect="1"/>
          </p:cNvPicPr>
          <p:nvPr/>
        </p:nvPicPr>
        <p:blipFill rotWithShape="1">
          <a:blip r:embed="rId3"/>
          <a:srcRect l="28391"/>
          <a:stretch/>
        </p:blipFill>
        <p:spPr>
          <a:xfrm>
            <a:off x="4802897" y="2338832"/>
            <a:ext cx="4269327" cy="372364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092558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CONSOLA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dirty="0">
                <a:solidFill>
                  <a:schemeClr val="bg1"/>
                </a:solidFill>
              </a:rPr>
              <a:t>INTRODUCCIÓN</a:t>
            </a:r>
            <a:r>
              <a:rPr lang="es-ES" dirty="0"/>
              <a:t>	</a:t>
            </a:r>
          </a:p>
          <a:p>
            <a:pPr marL="342900" indent="-342900">
              <a:buFont typeface="+mj-lt"/>
              <a:buAutoNum type="arabicPeriod"/>
            </a:pPr>
            <a:r>
              <a:rPr lang="es-ES" dirty="0">
                <a:solidFill>
                  <a:schemeClr val="bg1"/>
                </a:solidFill>
              </a:rPr>
              <a:t>OBJETIVO	</a:t>
            </a:r>
          </a:p>
          <a:p>
            <a:pPr marL="342900" indent="-342900">
              <a:buFont typeface="+mj-lt"/>
              <a:buAutoNum type="arabicPeriod"/>
            </a:pPr>
            <a:r>
              <a:rPr lang="es-ES" dirty="0">
                <a:solidFill>
                  <a:schemeClr val="bg1"/>
                </a:solidFill>
              </a:rPr>
              <a:t>MARCO TEÓRICO	</a:t>
            </a:r>
          </a:p>
          <a:p>
            <a:pPr marL="342900" indent="-342900">
              <a:buFont typeface="+mj-lt"/>
              <a:buAutoNum type="arabicPeriod"/>
            </a:pPr>
            <a:r>
              <a:rPr lang="es-ES" dirty="0">
                <a:solidFill>
                  <a:schemeClr val="bg1"/>
                </a:solidFill>
              </a:rPr>
              <a:t>CONFIGURACIÓN IP ESTÁTICA	</a:t>
            </a:r>
          </a:p>
          <a:p>
            <a:pPr marL="342900" indent="-342900">
              <a:buFont typeface="+mj-lt"/>
              <a:buAutoNum type="arabicPeriod"/>
            </a:pPr>
            <a:r>
              <a:rPr lang="es-ES" dirty="0">
                <a:solidFill>
                  <a:schemeClr val="bg1"/>
                </a:solidFill>
              </a:rPr>
              <a:t>CREACIÓN DEL SERVIDOR</a:t>
            </a:r>
          </a:p>
          <a:p>
            <a:pPr marL="342900" indent="-342900">
              <a:buFont typeface="+mj-lt"/>
              <a:buAutoNum type="arabicPeriod"/>
            </a:pPr>
            <a:r>
              <a:rPr lang="es-ES" dirty="0">
                <a:solidFill>
                  <a:srgbClr val="FFFF00"/>
                </a:solidFill>
              </a:rPr>
              <a:t>CLIENTE CONSOLA</a:t>
            </a:r>
          </a:p>
          <a:p>
            <a:pPr marL="800100" lvl="1" indent="-342900">
              <a:buFont typeface="+mj-lt"/>
              <a:buAutoNum type="arabicPeriod"/>
            </a:pPr>
            <a:r>
              <a:rPr lang="es-ES" dirty="0">
                <a:solidFill>
                  <a:schemeClr val="bg1"/>
                </a:solidFill>
              </a:rPr>
              <a:t>Referencia de servicio</a:t>
            </a:r>
          </a:p>
          <a:p>
            <a:pPr marL="800100" lvl="1" indent="-342900">
              <a:buFont typeface="+mj-lt"/>
              <a:buAutoNum type="arabicPeriod"/>
            </a:pPr>
            <a:r>
              <a:rPr lang="es-ES" dirty="0" err="1">
                <a:solidFill>
                  <a:schemeClr val="bg1"/>
                </a:solidFill>
              </a:rPr>
              <a:t>Service</a:t>
            </a:r>
            <a:endParaRPr lang="es-ES" dirty="0">
              <a:solidFill>
                <a:schemeClr val="bg1"/>
              </a:solidFill>
            </a:endParaRPr>
          </a:p>
          <a:p>
            <a:pPr marL="800100" lvl="1" indent="-342900">
              <a:buFont typeface="+mj-lt"/>
              <a:buAutoNum type="arabicPeriod"/>
            </a:pPr>
            <a:r>
              <a:rPr lang="es-ES" dirty="0" err="1">
                <a:solidFill>
                  <a:schemeClr val="bg1"/>
                </a:solidFill>
              </a:rPr>
              <a:t>Controller</a:t>
            </a:r>
            <a:endParaRPr lang="es-ES" dirty="0">
              <a:solidFill>
                <a:schemeClr val="bg1"/>
              </a:solidFill>
            </a:endParaRPr>
          </a:p>
          <a:p>
            <a:pPr marL="800100" lvl="1" indent="-342900">
              <a:buFont typeface="+mj-lt"/>
              <a:buAutoNum type="arabicPeriod"/>
            </a:pPr>
            <a:r>
              <a:rPr lang="es-ES" dirty="0">
                <a:solidFill>
                  <a:schemeClr val="bg1"/>
                </a:solidFill>
              </a:rPr>
              <a:t>View</a:t>
            </a:r>
          </a:p>
          <a:p>
            <a:pPr marL="800100" lvl="1" indent="-342900">
              <a:buFont typeface="+mj-lt"/>
              <a:buAutoNum type="arabicPeriod"/>
            </a:pPr>
            <a:r>
              <a:rPr lang="es-ES" dirty="0">
                <a:solidFill>
                  <a:srgbClr val="FFFF00"/>
                </a:solidFill>
              </a:rPr>
              <a:t>Ejecución</a:t>
            </a:r>
          </a:p>
          <a:p>
            <a:pPr marL="342900" indent="-342900">
              <a:buFont typeface="+mj-lt"/>
              <a:buAutoNum type="arabicPeriod"/>
            </a:pPr>
            <a:r>
              <a:rPr lang="es-ES" dirty="0"/>
              <a:t>CLLIENTE ESCRITORIO</a:t>
            </a:r>
          </a:p>
          <a:p>
            <a:pPr marL="342900" indent="-342900">
              <a:buFont typeface="+mj-lt"/>
              <a:buAutoNum type="arabicPeriod"/>
            </a:pPr>
            <a:r>
              <a:rPr lang="es-ES" dirty="0"/>
              <a:t>CLIENTE MÓVIL</a:t>
            </a:r>
          </a:p>
          <a:p>
            <a:pPr marL="342900" indent="-342900">
              <a:buFont typeface="+mj-lt"/>
              <a:buAutoNum type="arabicPeriod"/>
            </a:pPr>
            <a:r>
              <a:rPr lang="es-ES" dirty="0"/>
              <a:t>CLIENTE WEB</a:t>
            </a:r>
          </a:p>
          <a:p>
            <a:pPr marL="342900" indent="-342900">
              <a:buFont typeface="+mj-lt"/>
              <a:buAutoNum type="arabicPeriod"/>
            </a:pPr>
            <a:r>
              <a:rPr lang="es-ES" dirty="0"/>
              <a:t>CONCLUSIONES	</a:t>
            </a:r>
          </a:p>
          <a:p>
            <a:pPr marL="342900" indent="-342900">
              <a:buFont typeface="+mj-lt"/>
              <a:buAutoNum type="arabicPeriod"/>
            </a:pPr>
            <a:r>
              <a:rPr lang="es-ES" dirty="0"/>
              <a:t>RECOMENDACIONES	</a:t>
            </a:r>
          </a:p>
          <a:p>
            <a:pPr marL="342900" indent="-342900">
              <a:buFont typeface="+mj-lt"/>
              <a:buAutoNum type="arabicPeriod"/>
            </a:pPr>
            <a:r>
              <a:rPr lang="es-ES" dirty="0"/>
              <a:t>REFERENCIAS	</a:t>
            </a:r>
          </a:p>
        </p:txBody>
      </p:sp>
      <p:pic>
        <p:nvPicPr>
          <p:cNvPr id="4" name="Imagen 3">
            <a:extLst>
              <a:ext uri="{FF2B5EF4-FFF2-40B4-BE49-F238E27FC236}">
                <a16:creationId xmlns:a16="http://schemas.microsoft.com/office/drawing/2014/main" id="{49EFFBB6-8674-25AD-1E6B-D9032DC619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699" y="2418112"/>
            <a:ext cx="3578684" cy="1268730"/>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descr="Texto, Carta&#10;&#10;Descripción generada automáticamente">
            <a:extLst>
              <a:ext uri="{FF2B5EF4-FFF2-40B4-BE49-F238E27FC236}">
                <a16:creationId xmlns:a16="http://schemas.microsoft.com/office/drawing/2014/main" id="{962A0AC0-2896-9634-FE49-D5A51706EC1B}"/>
              </a:ext>
            </a:extLst>
          </p:cNvPr>
          <p:cNvPicPr>
            <a:picLocks noChangeAspect="1"/>
          </p:cNvPicPr>
          <p:nvPr/>
        </p:nvPicPr>
        <p:blipFill rotWithShape="1">
          <a:blip r:embed="rId3"/>
          <a:srcRect b="25227"/>
          <a:stretch/>
        </p:blipFill>
        <p:spPr bwMode="auto">
          <a:xfrm>
            <a:off x="559699" y="4153377"/>
            <a:ext cx="3578684" cy="2002467"/>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pic>
        <p:nvPicPr>
          <p:cNvPr id="7" name="Imagen 6" descr="Texto, Carta&#10;&#10;Descripción generada automáticamente">
            <a:extLst>
              <a:ext uri="{FF2B5EF4-FFF2-40B4-BE49-F238E27FC236}">
                <a16:creationId xmlns:a16="http://schemas.microsoft.com/office/drawing/2014/main" id="{1BC4549E-B72E-0E50-15A2-310A41E984F3}"/>
              </a:ext>
            </a:extLst>
          </p:cNvPr>
          <p:cNvPicPr>
            <a:picLocks noChangeAspect="1"/>
          </p:cNvPicPr>
          <p:nvPr/>
        </p:nvPicPr>
        <p:blipFill>
          <a:blip r:embed="rId4"/>
          <a:stretch>
            <a:fillRect/>
          </a:stretch>
        </p:blipFill>
        <p:spPr>
          <a:xfrm>
            <a:off x="5211909" y="2001324"/>
            <a:ext cx="3592829" cy="2293620"/>
          </a:xfrm>
          <a:prstGeom prst="rect">
            <a:avLst/>
          </a:prstGeom>
          <a:ln w="76200" cap="sq" cmpd="thickThin">
            <a:solidFill>
              <a:srgbClr val="000000"/>
            </a:solidFill>
            <a:prstDash val="solid"/>
            <a:miter lim="800000"/>
          </a:ln>
          <a:effectLst>
            <a:innerShdw blurRad="76200">
              <a:srgbClr val="000000"/>
            </a:innerShdw>
          </a:effectLst>
        </p:spPr>
      </p:pic>
      <p:pic>
        <p:nvPicPr>
          <p:cNvPr id="11" name="Imagen 10" descr="Texto, Carta&#10;&#10;Descripción generada automáticamente">
            <a:extLst>
              <a:ext uri="{FF2B5EF4-FFF2-40B4-BE49-F238E27FC236}">
                <a16:creationId xmlns:a16="http://schemas.microsoft.com/office/drawing/2014/main" id="{85BD77B2-8337-5A87-5B63-01E7ACB3F923}"/>
              </a:ext>
            </a:extLst>
          </p:cNvPr>
          <p:cNvPicPr>
            <a:picLocks noChangeAspect="1"/>
          </p:cNvPicPr>
          <p:nvPr/>
        </p:nvPicPr>
        <p:blipFill>
          <a:blip r:embed="rId5"/>
          <a:stretch>
            <a:fillRect/>
          </a:stretch>
        </p:blipFill>
        <p:spPr>
          <a:xfrm>
            <a:off x="5223129" y="4580312"/>
            <a:ext cx="3592830" cy="1732280"/>
          </a:xfrm>
          <a:prstGeom prst="rect">
            <a:avLst/>
          </a:prstGeom>
          <a:ln w="76200" cap="sq" cmpd="thickThin">
            <a:solidFill>
              <a:srgbClr val="000000"/>
            </a:solidFill>
            <a:prstDash val="solid"/>
            <a:miter lim="800000"/>
          </a:ln>
          <a:effectLst>
            <a:innerShdw blurRad="76200">
              <a:srgbClr val="000000"/>
            </a:innerShdw>
          </a:effectLst>
        </p:spPr>
      </p:pic>
      <p:sp>
        <p:nvSpPr>
          <p:cNvPr id="12" name="Flecha: a la derecha 11">
            <a:extLst>
              <a:ext uri="{FF2B5EF4-FFF2-40B4-BE49-F238E27FC236}">
                <a16:creationId xmlns:a16="http://schemas.microsoft.com/office/drawing/2014/main" id="{5DE85DE3-BDD1-E1BE-BBFC-5E3B81F76A61}"/>
              </a:ext>
            </a:extLst>
          </p:cNvPr>
          <p:cNvSpPr/>
          <p:nvPr/>
        </p:nvSpPr>
        <p:spPr>
          <a:xfrm>
            <a:off x="4449108" y="3924777"/>
            <a:ext cx="502920"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941333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Picture 1">
            <a:extLst>
              <a:ext uri="{FF2B5EF4-FFF2-40B4-BE49-F238E27FC236}">
                <a16:creationId xmlns:a16="http://schemas.microsoft.com/office/drawing/2014/main" id="{9A22036E-B3BC-9229-94D7-E9D2CFC724D7}"/>
              </a:ext>
            </a:extLst>
          </p:cNvPr>
          <p:cNvPicPr>
            <a:picLocks noChangeAspect="1"/>
          </p:cNvPicPr>
          <p:nvPr/>
        </p:nvPicPr>
        <p:blipFill rotWithShape="1">
          <a:blip r:embed="rId2">
            <a:extLst>
              <a:ext uri="{28A0092B-C50C-407E-A947-70E740481C1C}">
                <a14:useLocalDpi xmlns:a14="http://schemas.microsoft.com/office/drawing/2010/main" val="0"/>
              </a:ext>
            </a:extLst>
          </a:blip>
          <a:srcRect l="160" t="-195" r="1086" b="60718"/>
          <a:stretch/>
        </p:blipFill>
        <p:spPr bwMode="auto">
          <a:xfrm>
            <a:off x="493776" y="1986102"/>
            <a:ext cx="5266944" cy="1479196"/>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
        <p:nvSpPr>
          <p:cNvPr id="5" name="Content Placeholder 2">
            <a:extLst>
              <a:ext uri="{FF2B5EF4-FFF2-40B4-BE49-F238E27FC236}">
                <a16:creationId xmlns:a16="http://schemas.microsoft.com/office/drawing/2014/main" id="{023FB816-1E89-9936-78E7-26A724F01682}"/>
              </a:ext>
            </a:extLst>
          </p:cNvPr>
          <p:cNvSpPr txBox="1">
            <a:spLocks/>
          </p:cNvSpPr>
          <p:nvPr/>
        </p:nvSpPr>
        <p:spPr>
          <a:xfrm>
            <a:off x="224531" y="3669780"/>
            <a:ext cx="2792989" cy="203607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Crear una nueva aplicación de java y le damos un nombre al proyecto</a:t>
            </a:r>
          </a:p>
        </p:txBody>
      </p:sp>
      <p:pic>
        <p:nvPicPr>
          <p:cNvPr id="6" name="Picture 1">
            <a:extLst>
              <a:ext uri="{FF2B5EF4-FFF2-40B4-BE49-F238E27FC236}">
                <a16:creationId xmlns:a16="http://schemas.microsoft.com/office/drawing/2014/main" id="{4FB27679-A7D7-BF0B-FF03-6958475CFF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2854" y="3387972"/>
            <a:ext cx="5385816" cy="328900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90183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REFERENCIA DE SERVICIO</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rgbClr val="FFFF00"/>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Imagen 3">
            <a:extLst>
              <a:ext uri="{FF2B5EF4-FFF2-40B4-BE49-F238E27FC236}">
                <a16:creationId xmlns:a16="http://schemas.microsoft.com/office/drawing/2014/main" id="{975E5C76-1FFA-CEB2-92D1-88E3F0050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2" y="2168206"/>
            <a:ext cx="5619704" cy="3501074"/>
          </a:xfrm>
          <a:prstGeom prst="rect">
            <a:avLst/>
          </a:prstGeom>
          <a:ln w="76200" cap="sq" cmpd="thickThin">
            <a:solidFill>
              <a:srgbClr val="000000"/>
            </a:solidFill>
            <a:prstDash val="solid"/>
            <a:miter lim="800000"/>
          </a:ln>
          <a:effectLst>
            <a:innerShdw blurRad="76200">
              <a:srgbClr val="000000"/>
            </a:innerShdw>
          </a:effectLst>
        </p:spPr>
      </p:pic>
      <p:pic>
        <p:nvPicPr>
          <p:cNvPr id="5" name="Picture 1">
            <a:extLst>
              <a:ext uri="{FF2B5EF4-FFF2-40B4-BE49-F238E27FC236}">
                <a16:creationId xmlns:a16="http://schemas.microsoft.com/office/drawing/2014/main" id="{9C123E88-38ED-FA6C-D9DB-65807FF3EE6C}"/>
              </a:ext>
            </a:extLst>
          </p:cNvPr>
          <p:cNvPicPr>
            <a:picLocks noChangeAspect="1"/>
          </p:cNvPicPr>
          <p:nvPr/>
        </p:nvPicPr>
        <p:blipFill>
          <a:blip r:embed="rId3">
            <a:extLst>
              <a:ext uri="{28A0092B-C50C-407E-A947-70E740481C1C}">
                <a14:useLocalDpi xmlns:a14="http://schemas.microsoft.com/office/drawing/2010/main" val="0"/>
              </a:ext>
            </a:extLst>
          </a:blip>
          <a:srcRect l="8261" r="8261"/>
          <a:stretch>
            <a:fillRect/>
          </a:stretch>
        </p:blipFill>
        <p:spPr bwMode="auto">
          <a:xfrm>
            <a:off x="6494271" y="2168206"/>
            <a:ext cx="2530539" cy="3574226"/>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4105109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service</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rgbClr val="FFFF00"/>
                </a:solidFill>
              </a:rPr>
              <a:t>Service</a:t>
            </a:r>
            <a:endParaRPr lang="es-ES" sz="1600" dirty="0">
              <a:solidFill>
                <a:srgbClr val="FFFF00"/>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FFF1BA36-50E9-7CF9-633C-E6E15593707D}"/>
              </a:ext>
            </a:extLst>
          </p:cNvPr>
          <p:cNvPicPr>
            <a:picLocks noChangeAspect="1"/>
          </p:cNvPicPr>
          <p:nvPr/>
        </p:nvPicPr>
        <p:blipFill>
          <a:blip r:embed="rId2"/>
          <a:stretch>
            <a:fillRect/>
          </a:stretch>
        </p:blipFill>
        <p:spPr>
          <a:xfrm>
            <a:off x="475488" y="1998064"/>
            <a:ext cx="3950208" cy="2624424"/>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descr="Interfaz de usuario gráfica, Aplicación, Tabla&#10;&#10;Descripción generada automáticamente">
            <a:extLst>
              <a:ext uri="{FF2B5EF4-FFF2-40B4-BE49-F238E27FC236}">
                <a16:creationId xmlns:a16="http://schemas.microsoft.com/office/drawing/2014/main" id="{6317F6D1-FD95-9736-D4EB-4907440FFDDD}"/>
              </a:ext>
            </a:extLst>
          </p:cNvPr>
          <p:cNvPicPr>
            <a:picLocks noChangeAspect="1"/>
          </p:cNvPicPr>
          <p:nvPr/>
        </p:nvPicPr>
        <p:blipFill>
          <a:blip r:embed="rId3"/>
          <a:stretch>
            <a:fillRect/>
          </a:stretch>
        </p:blipFill>
        <p:spPr>
          <a:xfrm>
            <a:off x="4696460" y="1998064"/>
            <a:ext cx="4280642" cy="1330352"/>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descr="Interfaz de usuario gráfica, Texto, Aplicación, Correo electrónico&#10;&#10;Descripción generada automáticamente">
            <a:extLst>
              <a:ext uri="{FF2B5EF4-FFF2-40B4-BE49-F238E27FC236}">
                <a16:creationId xmlns:a16="http://schemas.microsoft.com/office/drawing/2014/main" id="{DA11939B-EAEF-C1E9-217B-55DCACDBEC11}"/>
              </a:ext>
            </a:extLst>
          </p:cNvPr>
          <p:cNvPicPr>
            <a:picLocks noChangeAspect="1"/>
          </p:cNvPicPr>
          <p:nvPr/>
        </p:nvPicPr>
        <p:blipFill>
          <a:blip r:embed="rId4"/>
          <a:stretch>
            <a:fillRect/>
          </a:stretch>
        </p:blipFill>
        <p:spPr>
          <a:xfrm>
            <a:off x="4696460" y="3712215"/>
            <a:ext cx="4267550" cy="2795563"/>
          </a:xfrm>
          <a:prstGeom prst="rect">
            <a:avLst/>
          </a:prstGeom>
          <a:ln w="76200" cap="sq" cmpd="thickThin">
            <a:solidFill>
              <a:srgbClr val="000000"/>
            </a:solidFill>
            <a:prstDash val="solid"/>
            <a:miter lim="800000"/>
          </a:ln>
          <a:effectLst>
            <a:innerShdw blurRad="76200">
              <a:srgbClr val="000000"/>
            </a:innerShdw>
          </a:effectLst>
        </p:spPr>
      </p:pic>
      <p:sp>
        <p:nvSpPr>
          <p:cNvPr id="6" name="Content Placeholder 2">
            <a:extLst>
              <a:ext uri="{FF2B5EF4-FFF2-40B4-BE49-F238E27FC236}">
                <a16:creationId xmlns:a16="http://schemas.microsoft.com/office/drawing/2014/main" id="{A1AEBC10-2FBB-6268-AA6D-1AB52A5C9632}"/>
              </a:ext>
            </a:extLst>
          </p:cNvPr>
          <p:cNvSpPr txBox="1">
            <a:spLocks/>
          </p:cNvSpPr>
          <p:nvPr/>
        </p:nvSpPr>
        <p:spPr>
          <a:xfrm>
            <a:off x="371595" y="4622488"/>
            <a:ext cx="3770637" cy="203607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Dentro del paquete </a:t>
            </a:r>
            <a:r>
              <a:rPr lang="es-EC" dirty="0" err="1">
                <a:latin typeface="Calibri" panose="020F0502020204030204" pitchFamily="34" charset="0"/>
                <a:ea typeface="Calibri" panose="020F0502020204030204" pitchFamily="34" charset="0"/>
                <a:cs typeface="Times New Roman" panose="02020603050405020304" pitchFamily="18" charset="0"/>
              </a:rPr>
              <a:t>service</a:t>
            </a:r>
            <a:r>
              <a:rPr lang="es-EC" dirty="0">
                <a:latin typeface="Calibri" panose="020F0502020204030204" pitchFamily="34" charset="0"/>
                <a:ea typeface="Calibri" panose="020F0502020204030204" pitchFamily="34" charset="0"/>
                <a:cs typeface="Times New Roman" panose="02020603050405020304" pitchFamily="18" charset="0"/>
              </a:rPr>
              <a:t>, creamos la respectiva clase.</a:t>
            </a:r>
          </a:p>
        </p:txBody>
      </p:sp>
    </p:spTree>
    <p:extLst>
      <p:ext uri="{BB962C8B-B14F-4D97-AF65-F5344CB8AC3E}">
        <p14:creationId xmlns:p14="http://schemas.microsoft.com/office/powerpoint/2010/main" val="6512941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service</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rgbClr val="FFFF00"/>
                </a:solidFill>
              </a:rPr>
              <a:t>Service</a:t>
            </a:r>
            <a:endParaRPr lang="es-ES" sz="1600" dirty="0">
              <a:solidFill>
                <a:srgbClr val="FFFF00"/>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descr="Interfaz de usuario gráfica, Texto, Aplicación, Correo electrónico&#10;&#10;Descripción generada automáticamente">
            <a:extLst>
              <a:ext uri="{FF2B5EF4-FFF2-40B4-BE49-F238E27FC236}">
                <a16:creationId xmlns:a16="http://schemas.microsoft.com/office/drawing/2014/main" id="{DAAC256E-B4C6-6F9C-6967-8D6AD0698EC5}"/>
              </a:ext>
            </a:extLst>
          </p:cNvPr>
          <p:cNvPicPr>
            <a:picLocks noChangeAspect="1"/>
          </p:cNvPicPr>
          <p:nvPr/>
        </p:nvPicPr>
        <p:blipFill>
          <a:blip r:embed="rId2"/>
          <a:stretch>
            <a:fillRect/>
          </a:stretch>
        </p:blipFill>
        <p:spPr>
          <a:xfrm>
            <a:off x="472586" y="2057808"/>
            <a:ext cx="8417731" cy="4098036"/>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93960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controller</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rgbClr val="FFFF00"/>
                </a:solidFill>
              </a:rPr>
              <a:t>Controller</a:t>
            </a:r>
            <a:endParaRPr lang="es-ES" sz="1600" dirty="0">
              <a:solidFill>
                <a:srgbClr val="FFFF00"/>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descr="Interfaz de usuario gráfica, Texto, Aplicación&#10;&#10;Descripción generada automáticamente">
            <a:extLst>
              <a:ext uri="{FF2B5EF4-FFF2-40B4-BE49-F238E27FC236}">
                <a16:creationId xmlns:a16="http://schemas.microsoft.com/office/drawing/2014/main" id="{753A10B6-48C1-F646-E841-50AE9121C87B}"/>
              </a:ext>
            </a:extLst>
          </p:cNvPr>
          <p:cNvPicPr>
            <a:picLocks noChangeAspect="1"/>
          </p:cNvPicPr>
          <p:nvPr/>
        </p:nvPicPr>
        <p:blipFill>
          <a:blip r:embed="rId2"/>
          <a:stretch>
            <a:fillRect/>
          </a:stretch>
        </p:blipFill>
        <p:spPr>
          <a:xfrm>
            <a:off x="486727" y="2040762"/>
            <a:ext cx="3824157" cy="2421509"/>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descr="Interfaz de usuario gráfica, Tabla&#10;&#10;Descripción generada automáticamente">
            <a:extLst>
              <a:ext uri="{FF2B5EF4-FFF2-40B4-BE49-F238E27FC236}">
                <a16:creationId xmlns:a16="http://schemas.microsoft.com/office/drawing/2014/main" id="{D1295580-B1AC-FFE6-94FF-30624C22192E}"/>
              </a:ext>
            </a:extLst>
          </p:cNvPr>
          <p:cNvPicPr>
            <a:picLocks noChangeAspect="1"/>
          </p:cNvPicPr>
          <p:nvPr/>
        </p:nvPicPr>
        <p:blipFill>
          <a:blip r:embed="rId3"/>
          <a:stretch>
            <a:fillRect/>
          </a:stretch>
        </p:blipFill>
        <p:spPr>
          <a:xfrm>
            <a:off x="4631499" y="2049230"/>
            <a:ext cx="4407064" cy="1384237"/>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descr="Interfaz de usuario gráfica, Texto, Aplicación&#10;&#10;Descripción generada automáticamente">
            <a:extLst>
              <a:ext uri="{FF2B5EF4-FFF2-40B4-BE49-F238E27FC236}">
                <a16:creationId xmlns:a16="http://schemas.microsoft.com/office/drawing/2014/main" id="{D8C16756-AB05-2152-78A6-A36345F5B10C}"/>
              </a:ext>
            </a:extLst>
          </p:cNvPr>
          <p:cNvPicPr>
            <a:picLocks noChangeAspect="1"/>
          </p:cNvPicPr>
          <p:nvPr/>
        </p:nvPicPr>
        <p:blipFill>
          <a:blip r:embed="rId4"/>
          <a:stretch>
            <a:fillRect/>
          </a:stretch>
        </p:blipFill>
        <p:spPr>
          <a:xfrm>
            <a:off x="4631499" y="3894756"/>
            <a:ext cx="4450721" cy="2698068"/>
          </a:xfrm>
          <a:prstGeom prst="rect">
            <a:avLst/>
          </a:prstGeom>
          <a:ln w="76200" cap="sq" cmpd="thickThin">
            <a:solidFill>
              <a:srgbClr val="000000"/>
            </a:solidFill>
            <a:prstDash val="solid"/>
            <a:miter lim="800000"/>
          </a:ln>
          <a:effectLst>
            <a:innerShdw blurRad="76200">
              <a:srgbClr val="000000"/>
            </a:innerShdw>
          </a:effectLst>
        </p:spPr>
      </p:pic>
      <p:sp>
        <p:nvSpPr>
          <p:cNvPr id="6" name="Content Placeholder 2">
            <a:extLst>
              <a:ext uri="{FF2B5EF4-FFF2-40B4-BE49-F238E27FC236}">
                <a16:creationId xmlns:a16="http://schemas.microsoft.com/office/drawing/2014/main" id="{5EC19147-55B6-D73B-263C-D3AD4AC139CB}"/>
              </a:ext>
            </a:extLst>
          </p:cNvPr>
          <p:cNvSpPr txBox="1">
            <a:spLocks/>
          </p:cNvSpPr>
          <p:nvPr/>
        </p:nvSpPr>
        <p:spPr>
          <a:xfrm>
            <a:off x="371595" y="4622488"/>
            <a:ext cx="3770637" cy="203607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Dentro del paquete </a:t>
            </a:r>
            <a:r>
              <a:rPr lang="es-EC" dirty="0" err="1">
                <a:latin typeface="Calibri" panose="020F0502020204030204" pitchFamily="34" charset="0"/>
                <a:ea typeface="Calibri" panose="020F0502020204030204" pitchFamily="34" charset="0"/>
                <a:cs typeface="Times New Roman" panose="02020603050405020304" pitchFamily="18" charset="0"/>
              </a:rPr>
              <a:t>controller</a:t>
            </a:r>
            <a:r>
              <a:rPr lang="es-EC" dirty="0">
                <a:latin typeface="Calibri" panose="020F0502020204030204" pitchFamily="34" charset="0"/>
                <a:ea typeface="Calibri" panose="020F0502020204030204" pitchFamily="34" charset="0"/>
                <a:cs typeface="Times New Roman" panose="02020603050405020304" pitchFamily="18" charset="0"/>
              </a:rPr>
              <a:t>, creamos la respectiva clase.</a:t>
            </a:r>
          </a:p>
        </p:txBody>
      </p:sp>
    </p:spTree>
    <p:extLst>
      <p:ext uri="{BB962C8B-B14F-4D97-AF65-F5344CB8AC3E}">
        <p14:creationId xmlns:p14="http://schemas.microsoft.com/office/powerpoint/2010/main" val="1174941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controller</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rgbClr val="FFFF00"/>
                </a:solidFill>
              </a:rPr>
              <a:t>Controller</a:t>
            </a:r>
            <a:endParaRPr lang="es-ES" sz="1600" dirty="0">
              <a:solidFill>
                <a:srgbClr val="FFFF00"/>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1E3FA0F0-D39C-E8EA-350D-8FEF09003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41" y="2246057"/>
            <a:ext cx="8453080" cy="4111529"/>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2350696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Imagen 3" descr="Interfaz de usuario gráfica, Texto, Aplicación&#10;&#10;Descripción generada automáticamente">
            <a:extLst>
              <a:ext uri="{FF2B5EF4-FFF2-40B4-BE49-F238E27FC236}">
                <a16:creationId xmlns:a16="http://schemas.microsoft.com/office/drawing/2014/main" id="{1D7719CF-EDB7-2583-8302-A97F2533AA6D}"/>
              </a:ext>
            </a:extLst>
          </p:cNvPr>
          <p:cNvPicPr>
            <a:picLocks noChangeAspect="1"/>
          </p:cNvPicPr>
          <p:nvPr/>
        </p:nvPicPr>
        <p:blipFill>
          <a:blip r:embed="rId2"/>
          <a:stretch>
            <a:fillRect/>
          </a:stretch>
        </p:blipFill>
        <p:spPr>
          <a:xfrm>
            <a:off x="228033" y="2087878"/>
            <a:ext cx="4316028" cy="2561959"/>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descr="Interfaz de usuario gráfica, Aplicación, Tabla&#10;&#10;Descripción generada automáticamente">
            <a:extLst>
              <a:ext uri="{FF2B5EF4-FFF2-40B4-BE49-F238E27FC236}">
                <a16:creationId xmlns:a16="http://schemas.microsoft.com/office/drawing/2014/main" id="{EC108125-FEB3-1CE2-A7BF-91CB58432DA1}"/>
              </a:ext>
            </a:extLst>
          </p:cNvPr>
          <p:cNvPicPr>
            <a:picLocks noChangeAspect="1"/>
          </p:cNvPicPr>
          <p:nvPr/>
        </p:nvPicPr>
        <p:blipFill>
          <a:blip r:embed="rId3"/>
          <a:stretch>
            <a:fillRect/>
          </a:stretch>
        </p:blipFill>
        <p:spPr>
          <a:xfrm>
            <a:off x="4770923" y="2080597"/>
            <a:ext cx="4316028" cy="1615441"/>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descr="Interfaz de usuario gráfica, Texto, Aplicación&#10;&#10;Descripción generada automáticamente">
            <a:extLst>
              <a:ext uri="{FF2B5EF4-FFF2-40B4-BE49-F238E27FC236}">
                <a16:creationId xmlns:a16="http://schemas.microsoft.com/office/drawing/2014/main" id="{3CB8A833-3ADA-708D-728F-0CEF9E9876E2}"/>
              </a:ext>
            </a:extLst>
          </p:cNvPr>
          <p:cNvPicPr>
            <a:picLocks noChangeAspect="1"/>
          </p:cNvPicPr>
          <p:nvPr/>
        </p:nvPicPr>
        <p:blipFill>
          <a:blip r:embed="rId4"/>
          <a:stretch>
            <a:fillRect/>
          </a:stretch>
        </p:blipFill>
        <p:spPr>
          <a:xfrm>
            <a:off x="4770923" y="3993652"/>
            <a:ext cx="4316028" cy="2615692"/>
          </a:xfrm>
          <a:prstGeom prst="rect">
            <a:avLst/>
          </a:prstGeom>
          <a:ln w="76200" cap="sq" cmpd="thickThin">
            <a:solidFill>
              <a:srgbClr val="000000"/>
            </a:solidFill>
            <a:prstDash val="solid"/>
            <a:miter lim="800000"/>
          </a:ln>
          <a:effectLst>
            <a:innerShdw blurRad="76200">
              <a:srgbClr val="000000"/>
            </a:innerShdw>
          </a:effectLst>
        </p:spPr>
      </p:pic>
      <p:sp>
        <p:nvSpPr>
          <p:cNvPr id="7" name="Content Placeholder 2">
            <a:extLst>
              <a:ext uri="{FF2B5EF4-FFF2-40B4-BE49-F238E27FC236}">
                <a16:creationId xmlns:a16="http://schemas.microsoft.com/office/drawing/2014/main" id="{C6001BA9-4B17-70A2-4FCB-E46FCEC8EC3C}"/>
              </a:ext>
            </a:extLst>
          </p:cNvPr>
          <p:cNvSpPr txBox="1">
            <a:spLocks/>
          </p:cNvSpPr>
          <p:nvPr/>
        </p:nvSpPr>
        <p:spPr>
          <a:xfrm>
            <a:off x="371595" y="4622488"/>
            <a:ext cx="3770637" cy="261569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Dentro del paquete </a:t>
            </a:r>
            <a:r>
              <a:rPr lang="es-EC" dirty="0" err="1">
                <a:latin typeface="Calibri" panose="020F0502020204030204" pitchFamily="34" charset="0"/>
                <a:ea typeface="Calibri" panose="020F0502020204030204" pitchFamily="34" charset="0"/>
                <a:cs typeface="Times New Roman" panose="02020603050405020304" pitchFamily="18" charset="0"/>
              </a:rPr>
              <a:t>view</a:t>
            </a:r>
            <a:r>
              <a:rPr lang="es-EC" dirty="0">
                <a:latin typeface="Calibri" panose="020F0502020204030204" pitchFamily="34" charset="0"/>
                <a:ea typeface="Calibri" panose="020F0502020204030204" pitchFamily="34" charset="0"/>
                <a:cs typeface="Times New Roman" panose="02020603050405020304" pitchFamily="18" charset="0"/>
              </a:rPr>
              <a:t>, creamos varias clases que serán las pantallas que se mostrará al usuario.</a:t>
            </a:r>
          </a:p>
        </p:txBody>
      </p:sp>
    </p:spTree>
    <p:extLst>
      <p:ext uri="{BB962C8B-B14F-4D97-AF65-F5344CB8AC3E}">
        <p14:creationId xmlns:p14="http://schemas.microsoft.com/office/powerpoint/2010/main" val="30046124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7A70B69C-93BF-EFD8-6EF6-014F71106E65}"/>
              </a:ext>
            </a:extLst>
          </p:cNvPr>
          <p:cNvPicPr>
            <a:picLocks noChangeAspect="1"/>
          </p:cNvPicPr>
          <p:nvPr/>
        </p:nvPicPr>
        <p:blipFill>
          <a:blip r:embed="rId2"/>
          <a:stretch>
            <a:fillRect/>
          </a:stretch>
        </p:blipFill>
        <p:spPr>
          <a:xfrm>
            <a:off x="1051560" y="2175699"/>
            <a:ext cx="7622985" cy="4257433"/>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13258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Imagen 3">
            <a:extLst>
              <a:ext uri="{FF2B5EF4-FFF2-40B4-BE49-F238E27FC236}">
                <a16:creationId xmlns:a16="http://schemas.microsoft.com/office/drawing/2014/main" id="{4891C675-DA17-B686-E24F-3DDAC346F6F3}"/>
              </a:ext>
            </a:extLst>
          </p:cNvPr>
          <p:cNvPicPr>
            <a:picLocks noChangeAspect="1"/>
          </p:cNvPicPr>
          <p:nvPr/>
        </p:nvPicPr>
        <p:blipFill>
          <a:blip r:embed="rId2"/>
          <a:stretch>
            <a:fillRect/>
          </a:stretch>
        </p:blipFill>
        <p:spPr>
          <a:xfrm>
            <a:off x="941051" y="2724912"/>
            <a:ext cx="7960049" cy="3758184"/>
          </a:xfrm>
          <a:prstGeom prst="rect">
            <a:avLst/>
          </a:prstGeom>
          <a:ln w="76200" cap="sq" cmpd="thickThin">
            <a:solidFill>
              <a:srgbClr val="000000"/>
            </a:solidFill>
            <a:prstDash val="solid"/>
            <a:miter lim="800000"/>
          </a:ln>
          <a:effectLst>
            <a:innerShdw blurRad="76200">
              <a:srgbClr val="000000"/>
            </a:innerShdw>
          </a:effectLst>
        </p:spPr>
      </p:pic>
      <p:pic>
        <p:nvPicPr>
          <p:cNvPr id="3" name="Imagen 2" descr="Interfaz de usuario gráfica, Texto, Aplicación, Correo electrónico&#10;&#10;Descripción generada automáticamente">
            <a:extLst>
              <a:ext uri="{FF2B5EF4-FFF2-40B4-BE49-F238E27FC236}">
                <a16:creationId xmlns:a16="http://schemas.microsoft.com/office/drawing/2014/main" id="{2448545A-51A2-7C39-756F-50F0768A8756}"/>
              </a:ext>
            </a:extLst>
          </p:cNvPr>
          <p:cNvPicPr>
            <a:picLocks noChangeAspect="1"/>
          </p:cNvPicPr>
          <p:nvPr/>
        </p:nvPicPr>
        <p:blipFill>
          <a:blip r:embed="rId3"/>
          <a:stretch>
            <a:fillRect/>
          </a:stretch>
        </p:blipFill>
        <p:spPr>
          <a:xfrm>
            <a:off x="489752" y="1988058"/>
            <a:ext cx="3572674" cy="2199894"/>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2846966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Ejecución</a:t>
            </a:r>
            <a:endParaRPr lang="es-ES" sz="1600" dirty="0"/>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Imagen 3">
            <a:extLst>
              <a:ext uri="{FF2B5EF4-FFF2-40B4-BE49-F238E27FC236}">
                <a16:creationId xmlns:a16="http://schemas.microsoft.com/office/drawing/2014/main" id="{B37950B8-6778-4062-43E0-8F2F4245B9CB}"/>
              </a:ext>
            </a:extLst>
          </p:cNvPr>
          <p:cNvPicPr>
            <a:picLocks noChangeAspect="1"/>
          </p:cNvPicPr>
          <p:nvPr/>
        </p:nvPicPr>
        <p:blipFill>
          <a:blip r:embed="rId2"/>
          <a:stretch>
            <a:fillRect/>
          </a:stretch>
        </p:blipFill>
        <p:spPr>
          <a:xfrm>
            <a:off x="1753593" y="2701861"/>
            <a:ext cx="7202421" cy="3671507"/>
          </a:xfrm>
          <a:prstGeom prst="rect">
            <a:avLst/>
          </a:prstGeom>
          <a:ln w="76200" cap="sq" cmpd="thickThin">
            <a:solidFill>
              <a:srgbClr val="000000"/>
            </a:solidFill>
            <a:prstDash val="solid"/>
            <a:miter lim="800000"/>
          </a:ln>
          <a:effectLst>
            <a:innerShdw blurRad="76200">
              <a:srgbClr val="000000"/>
            </a:innerShdw>
          </a:effectLst>
        </p:spPr>
      </p:pic>
      <p:pic>
        <p:nvPicPr>
          <p:cNvPr id="3" name="Imagen 2" descr="Interfaz de usuario gráfica, Texto, Aplicación&#10;&#10;Descripción generada automáticamente">
            <a:extLst>
              <a:ext uri="{FF2B5EF4-FFF2-40B4-BE49-F238E27FC236}">
                <a16:creationId xmlns:a16="http://schemas.microsoft.com/office/drawing/2014/main" id="{4A1EB864-DD36-6317-279E-5AC8B171E5C1}"/>
              </a:ext>
            </a:extLst>
          </p:cNvPr>
          <p:cNvPicPr>
            <a:picLocks noChangeAspect="1"/>
          </p:cNvPicPr>
          <p:nvPr/>
        </p:nvPicPr>
        <p:blipFill>
          <a:blip r:embed="rId3"/>
          <a:stretch>
            <a:fillRect/>
          </a:stretch>
        </p:blipFill>
        <p:spPr>
          <a:xfrm>
            <a:off x="478615" y="2119884"/>
            <a:ext cx="3555799" cy="2260092"/>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300936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rgbClr val="FFFF00"/>
                </a:solidFill>
              </a:rPr>
              <a:t>Ejecución</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5" name="Imagen 4">
            <a:extLst>
              <a:ext uri="{FF2B5EF4-FFF2-40B4-BE49-F238E27FC236}">
                <a16:creationId xmlns:a16="http://schemas.microsoft.com/office/drawing/2014/main" id="{2276B93C-F554-66AF-0C48-391946E802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2" y="2945984"/>
            <a:ext cx="4100535" cy="2769016"/>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a:extLst>
              <a:ext uri="{FF2B5EF4-FFF2-40B4-BE49-F238E27FC236}">
                <a16:creationId xmlns:a16="http://schemas.microsoft.com/office/drawing/2014/main" id="{0FA2B9B4-7CD8-00EE-C7C4-937F86AF02B4}"/>
              </a:ext>
            </a:extLst>
          </p:cNvPr>
          <p:cNvPicPr>
            <a:picLocks noChangeAspect="1"/>
          </p:cNvPicPr>
          <p:nvPr/>
        </p:nvPicPr>
        <p:blipFill>
          <a:blip r:embed="rId3"/>
          <a:stretch>
            <a:fillRect/>
          </a:stretch>
        </p:blipFill>
        <p:spPr>
          <a:xfrm>
            <a:off x="4921076" y="2945985"/>
            <a:ext cx="3945509" cy="2769016"/>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313244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rgbClr val="FFFF00"/>
                </a:solidFill>
              </a:rPr>
              <a:t>Ejecución</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93210339-4EDA-9B07-5968-2052F4CB3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832" y="3071240"/>
            <a:ext cx="4332381" cy="2644264"/>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descr="Interfaz de usuario gráfica, Sitio web&#10;&#10;Descripción generada automáticamente">
            <a:extLst>
              <a:ext uri="{FF2B5EF4-FFF2-40B4-BE49-F238E27FC236}">
                <a16:creationId xmlns:a16="http://schemas.microsoft.com/office/drawing/2014/main" id="{9423D682-106A-1FAE-F223-C32334433699}"/>
              </a:ext>
            </a:extLst>
          </p:cNvPr>
          <p:cNvPicPr>
            <a:picLocks noChangeAspect="1"/>
          </p:cNvPicPr>
          <p:nvPr/>
        </p:nvPicPr>
        <p:blipFill>
          <a:blip r:embed="rId3"/>
          <a:stretch>
            <a:fillRect/>
          </a:stretch>
        </p:blipFill>
        <p:spPr>
          <a:xfrm>
            <a:off x="4941188" y="3071240"/>
            <a:ext cx="3992499" cy="2644264"/>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234428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ESCRITORIO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rgbClr val="FFFF00"/>
                </a:solidFill>
              </a:rPr>
              <a:t>CLLIENTE ESCRITORIO</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err="1">
                <a:solidFill>
                  <a:schemeClr val="bg1"/>
                </a:solidFill>
              </a:rPr>
              <a:t>Service</a:t>
            </a:r>
            <a:endParaRPr lang="es-ES" sz="1600" dirty="0">
              <a:solidFill>
                <a:schemeClr val="bg1"/>
              </a:solidFill>
            </a:endParaRP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rgbClr val="FFFF00"/>
                </a:solidFill>
              </a:rPr>
              <a:t>Ejecución</a:t>
            </a:r>
          </a:p>
          <a:p>
            <a:pPr marL="342900" indent="-342900">
              <a:buFont typeface="+mj-lt"/>
              <a:buAutoNum type="arabicPeriod"/>
            </a:pPr>
            <a:r>
              <a:rPr lang="es-ES" sz="1600" dirty="0"/>
              <a:t>CLIENTE MÓVIL</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8297A5FD-A09E-975D-707F-AA35AFB6DBD3}"/>
              </a:ext>
            </a:extLst>
          </p:cNvPr>
          <p:cNvPicPr>
            <a:picLocks noChangeAspect="1"/>
          </p:cNvPicPr>
          <p:nvPr/>
        </p:nvPicPr>
        <p:blipFill>
          <a:blip r:embed="rId2"/>
          <a:stretch>
            <a:fillRect/>
          </a:stretch>
        </p:blipFill>
        <p:spPr>
          <a:xfrm>
            <a:off x="493776" y="3030372"/>
            <a:ext cx="4160520" cy="2748637"/>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64DC0371-64EA-8305-A9B6-ECDB60106E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4341" y="2822947"/>
            <a:ext cx="3831616" cy="3175517"/>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2904938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Funcionamiento</a:t>
            </a:r>
            <a:endParaRPr lang="es-ES" sz="1600" dirty="0"/>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ABAAE269-D754-33CA-293D-7EAAD5CE9069}"/>
              </a:ext>
            </a:extLst>
          </p:cNvPr>
          <p:cNvPicPr>
            <a:picLocks noChangeAspect="1"/>
          </p:cNvPicPr>
          <p:nvPr/>
        </p:nvPicPr>
        <p:blipFill>
          <a:blip r:embed="rId2"/>
          <a:stretch>
            <a:fillRect/>
          </a:stretch>
        </p:blipFill>
        <p:spPr>
          <a:xfrm>
            <a:off x="403606" y="1953576"/>
            <a:ext cx="4525010" cy="1475423"/>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EE29B0A9-4D29-C32A-42AC-03028558DE2F}"/>
              </a:ext>
            </a:extLst>
          </p:cNvPr>
          <p:cNvPicPr>
            <a:picLocks noChangeAspect="1"/>
          </p:cNvPicPr>
          <p:nvPr/>
        </p:nvPicPr>
        <p:blipFill>
          <a:blip r:embed="rId3"/>
          <a:stretch>
            <a:fillRect/>
          </a:stretch>
        </p:blipFill>
        <p:spPr>
          <a:xfrm>
            <a:off x="403606" y="3666620"/>
            <a:ext cx="4525010" cy="3104232"/>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519C36A1-CAE1-5BF7-1814-DBE8424E5538}"/>
              </a:ext>
            </a:extLst>
          </p:cNvPr>
          <p:cNvPicPr>
            <a:picLocks noChangeAspect="1"/>
          </p:cNvPicPr>
          <p:nvPr/>
        </p:nvPicPr>
        <p:blipFill>
          <a:blip r:embed="rId4"/>
          <a:stretch>
            <a:fillRect/>
          </a:stretch>
        </p:blipFill>
        <p:spPr>
          <a:xfrm>
            <a:off x="5128008" y="1953576"/>
            <a:ext cx="3959860" cy="2985770"/>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a:extLst>
              <a:ext uri="{FF2B5EF4-FFF2-40B4-BE49-F238E27FC236}">
                <a16:creationId xmlns:a16="http://schemas.microsoft.com/office/drawing/2014/main" id="{D66A04DC-37F9-C114-6D2B-996A6DA37C3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7175" b="77628"/>
          <a:stretch/>
        </p:blipFill>
        <p:spPr bwMode="auto">
          <a:xfrm>
            <a:off x="5154310" y="5176967"/>
            <a:ext cx="3959860" cy="1581859"/>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2178126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Funcionamiento</a:t>
            </a:r>
            <a:endParaRPr lang="es-ES" sz="1600" dirty="0"/>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7" name="Imagen 6" descr="Texto&#10;&#10;Descripción generada automáticamente">
            <a:extLst>
              <a:ext uri="{FF2B5EF4-FFF2-40B4-BE49-F238E27FC236}">
                <a16:creationId xmlns:a16="http://schemas.microsoft.com/office/drawing/2014/main" id="{E8DD8886-1719-76DC-DBD9-B64BE5A85D88}"/>
              </a:ext>
            </a:extLst>
          </p:cNvPr>
          <p:cNvPicPr>
            <a:picLocks noChangeAspect="1"/>
          </p:cNvPicPr>
          <p:nvPr/>
        </p:nvPicPr>
        <p:blipFill>
          <a:blip r:embed="rId2"/>
          <a:stretch>
            <a:fillRect/>
          </a:stretch>
        </p:blipFill>
        <p:spPr>
          <a:xfrm>
            <a:off x="1362968" y="1959990"/>
            <a:ext cx="6786685" cy="1469009"/>
          </a:xfrm>
          <a:prstGeom prst="rect">
            <a:avLst/>
          </a:prstGeom>
          <a:ln w="76200" cap="sq" cmpd="thickThin">
            <a:solidFill>
              <a:srgbClr val="000000"/>
            </a:solidFill>
            <a:prstDash val="solid"/>
            <a:miter lim="800000"/>
          </a:ln>
          <a:effectLst>
            <a:innerShdw blurRad="76200">
              <a:srgbClr val="000000"/>
            </a:innerShdw>
          </a:effectLst>
        </p:spPr>
      </p:pic>
      <p:pic>
        <p:nvPicPr>
          <p:cNvPr id="9" name="Imagen 8">
            <a:extLst>
              <a:ext uri="{FF2B5EF4-FFF2-40B4-BE49-F238E27FC236}">
                <a16:creationId xmlns:a16="http://schemas.microsoft.com/office/drawing/2014/main" id="{2BC124C3-DB1B-3D63-8263-389E3EEC091E}"/>
              </a:ext>
            </a:extLst>
          </p:cNvPr>
          <p:cNvPicPr>
            <a:picLocks noChangeAspect="1"/>
          </p:cNvPicPr>
          <p:nvPr/>
        </p:nvPicPr>
        <p:blipFill>
          <a:blip r:embed="rId3"/>
          <a:stretch>
            <a:fillRect/>
          </a:stretch>
        </p:blipFill>
        <p:spPr>
          <a:xfrm>
            <a:off x="3762471" y="3673034"/>
            <a:ext cx="4387182" cy="2914298"/>
          </a:xfrm>
          <a:prstGeom prst="rect">
            <a:avLst/>
          </a:prstGeom>
          <a:ln w="76200" cap="sq" cmpd="thickThin">
            <a:solidFill>
              <a:srgbClr val="000000"/>
            </a:solidFill>
            <a:prstDash val="solid"/>
            <a:miter lim="800000"/>
          </a:ln>
          <a:effectLst>
            <a:innerShdw blurRad="76200">
              <a:srgbClr val="000000"/>
            </a:innerShdw>
          </a:effectLst>
        </p:spPr>
      </p:pic>
      <p:pic>
        <p:nvPicPr>
          <p:cNvPr id="1026" name="Picture 2" descr="Gradle Tutorial - Javatpoint">
            <a:extLst>
              <a:ext uri="{FF2B5EF4-FFF2-40B4-BE49-F238E27FC236}">
                <a16:creationId xmlns:a16="http://schemas.microsoft.com/office/drawing/2014/main" id="{D2AC8816-77D7-0256-C413-DC4327020E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115" y="3910778"/>
            <a:ext cx="1491310" cy="1491310"/>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559B9C9A-149B-F4D4-3960-6EE6A2B4E13B}"/>
              </a:ext>
            </a:extLst>
          </p:cNvPr>
          <p:cNvSpPr txBox="1">
            <a:spLocks/>
          </p:cNvSpPr>
          <p:nvPr/>
        </p:nvSpPr>
        <p:spPr>
          <a:xfrm>
            <a:off x="1207008" y="5495543"/>
            <a:ext cx="2555464"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Permisos de internet y dependencias </a:t>
            </a:r>
            <a:r>
              <a:rPr lang="es-EC" dirty="0" err="1">
                <a:latin typeface="Calibri" panose="020F0502020204030204" pitchFamily="34" charset="0"/>
                <a:ea typeface="Calibri" panose="020F0502020204030204" pitchFamily="34" charset="0"/>
                <a:cs typeface="Times New Roman" panose="02020603050405020304" pitchFamily="18" charset="0"/>
              </a:rPr>
              <a:t>gradle</a:t>
            </a:r>
            <a:r>
              <a:rPr lang="es-EC" dirty="0">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0561777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-CONTROLLER</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rgbClr val="FFFF00"/>
                </a:solidFill>
              </a:rPr>
              <a:t>Controller</a:t>
            </a:r>
            <a:endParaRPr lang="es-ES" sz="1600" dirty="0">
              <a:solidFill>
                <a:srgbClr val="FFFF00"/>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Funcionamiento</a:t>
            </a:r>
            <a:endParaRPr lang="es-ES" sz="1600" dirty="0"/>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descr="Interfaz de usuario gráfica, Aplicación&#10;&#10;Descripción generada automáticamente">
            <a:extLst>
              <a:ext uri="{FF2B5EF4-FFF2-40B4-BE49-F238E27FC236}">
                <a16:creationId xmlns:a16="http://schemas.microsoft.com/office/drawing/2014/main" id="{DC232473-E3DC-8C18-45B8-23FBBF2AB523}"/>
              </a:ext>
            </a:extLst>
          </p:cNvPr>
          <p:cNvPicPr>
            <a:picLocks noChangeAspect="1"/>
          </p:cNvPicPr>
          <p:nvPr/>
        </p:nvPicPr>
        <p:blipFill>
          <a:blip r:embed="rId2"/>
          <a:stretch>
            <a:fillRect/>
          </a:stretch>
        </p:blipFill>
        <p:spPr>
          <a:xfrm>
            <a:off x="515620" y="2012756"/>
            <a:ext cx="4457700" cy="1297373"/>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descr="Interfaz de usuario gráfica, Texto, Aplicación&#10;&#10;Descripción generada automáticamente">
            <a:extLst>
              <a:ext uri="{FF2B5EF4-FFF2-40B4-BE49-F238E27FC236}">
                <a16:creationId xmlns:a16="http://schemas.microsoft.com/office/drawing/2014/main" id="{653CA385-0EBB-E235-BDE0-F7F30DABE0A6}"/>
              </a:ext>
            </a:extLst>
          </p:cNvPr>
          <p:cNvPicPr>
            <a:picLocks noChangeAspect="1"/>
          </p:cNvPicPr>
          <p:nvPr/>
        </p:nvPicPr>
        <p:blipFill>
          <a:blip r:embed="rId3"/>
          <a:stretch>
            <a:fillRect/>
          </a:stretch>
        </p:blipFill>
        <p:spPr>
          <a:xfrm>
            <a:off x="515620" y="3547870"/>
            <a:ext cx="4457700" cy="3099817"/>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descr="Interfaz de usuario gráfica, Texto, Aplicación&#10;&#10;Descripción generada automáticamente">
            <a:extLst>
              <a:ext uri="{FF2B5EF4-FFF2-40B4-BE49-F238E27FC236}">
                <a16:creationId xmlns:a16="http://schemas.microsoft.com/office/drawing/2014/main" id="{BE57C444-9200-F5BB-C2F2-E98B5EB88FE9}"/>
              </a:ext>
            </a:extLst>
          </p:cNvPr>
          <p:cNvPicPr>
            <a:picLocks noChangeAspect="1"/>
          </p:cNvPicPr>
          <p:nvPr/>
        </p:nvPicPr>
        <p:blipFill>
          <a:blip r:embed="rId3"/>
          <a:stretch>
            <a:fillRect/>
          </a:stretch>
        </p:blipFill>
        <p:spPr>
          <a:xfrm>
            <a:off x="5155370" y="2039561"/>
            <a:ext cx="3923538" cy="2614735"/>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descr="Captura de pantalla de computadora&#10;&#10;Descripción generada automáticamente con confianza media">
            <a:extLst>
              <a:ext uri="{FF2B5EF4-FFF2-40B4-BE49-F238E27FC236}">
                <a16:creationId xmlns:a16="http://schemas.microsoft.com/office/drawing/2014/main" id="{2C46DFC4-C27C-D5D9-559C-71E81B8CC56D}"/>
              </a:ext>
            </a:extLst>
          </p:cNvPr>
          <p:cNvPicPr>
            <a:picLocks noChangeAspect="1"/>
          </p:cNvPicPr>
          <p:nvPr/>
        </p:nvPicPr>
        <p:blipFill>
          <a:blip r:embed="rId4"/>
          <a:stretch>
            <a:fillRect/>
          </a:stretch>
        </p:blipFill>
        <p:spPr>
          <a:xfrm>
            <a:off x="5155370" y="4887221"/>
            <a:ext cx="3923538" cy="1760466"/>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610479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-CONTROLLER</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rgbClr val="FFFF00"/>
                </a:solidFill>
              </a:rPr>
              <a:t>Controller</a:t>
            </a:r>
            <a:endParaRPr lang="es-ES" sz="1600" dirty="0">
              <a:solidFill>
                <a:srgbClr val="FFFF00"/>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Funcionamiento</a:t>
            </a:r>
            <a:endParaRPr lang="es-ES" sz="1600" dirty="0"/>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7" name="Imagen 6" descr="Captura de pantalla de un celular&#10;&#10;Descripción generada automáticamente">
            <a:extLst>
              <a:ext uri="{FF2B5EF4-FFF2-40B4-BE49-F238E27FC236}">
                <a16:creationId xmlns:a16="http://schemas.microsoft.com/office/drawing/2014/main" id="{6F8C25DD-491C-E801-3551-71D1E5A8ECF6}"/>
              </a:ext>
            </a:extLst>
          </p:cNvPr>
          <p:cNvPicPr>
            <a:picLocks noChangeAspect="1"/>
          </p:cNvPicPr>
          <p:nvPr/>
        </p:nvPicPr>
        <p:blipFill rotWithShape="1">
          <a:blip r:embed="rId2"/>
          <a:srcRect l="1464"/>
          <a:stretch/>
        </p:blipFill>
        <p:spPr>
          <a:xfrm>
            <a:off x="506767" y="2009331"/>
            <a:ext cx="4338644" cy="1703134"/>
          </a:xfrm>
          <a:prstGeom prst="rect">
            <a:avLst/>
          </a:prstGeom>
          <a:ln w="76200" cap="sq" cmpd="thickThin">
            <a:solidFill>
              <a:srgbClr val="000000"/>
            </a:solidFill>
            <a:prstDash val="solid"/>
            <a:miter lim="800000"/>
          </a:ln>
          <a:effectLst>
            <a:innerShdw blurRad="76200">
              <a:srgbClr val="000000"/>
            </a:innerShdw>
          </a:effectLst>
        </p:spPr>
      </p:pic>
      <p:pic>
        <p:nvPicPr>
          <p:cNvPr id="9" name="Imagen 8" descr="Interfaz de usuario gráfica, Texto, Aplicación, Chat o mensaje de texto&#10;&#10;Descripción generada automáticamente">
            <a:extLst>
              <a:ext uri="{FF2B5EF4-FFF2-40B4-BE49-F238E27FC236}">
                <a16:creationId xmlns:a16="http://schemas.microsoft.com/office/drawing/2014/main" id="{8CB7AA52-E31C-7503-63B1-E14C84BC0835}"/>
              </a:ext>
            </a:extLst>
          </p:cNvPr>
          <p:cNvPicPr>
            <a:picLocks noChangeAspect="1"/>
          </p:cNvPicPr>
          <p:nvPr/>
        </p:nvPicPr>
        <p:blipFill>
          <a:blip r:embed="rId3"/>
          <a:stretch>
            <a:fillRect/>
          </a:stretch>
        </p:blipFill>
        <p:spPr>
          <a:xfrm>
            <a:off x="5148983" y="2009332"/>
            <a:ext cx="3876145" cy="1703133"/>
          </a:xfrm>
          <a:prstGeom prst="rect">
            <a:avLst/>
          </a:prstGeom>
          <a:ln w="76200" cap="sq" cmpd="thickThin">
            <a:solidFill>
              <a:srgbClr val="000000"/>
            </a:solidFill>
            <a:prstDash val="solid"/>
            <a:miter lim="800000"/>
          </a:ln>
          <a:effectLst>
            <a:innerShdw blurRad="76200">
              <a:srgbClr val="000000"/>
            </a:innerShdw>
          </a:effectLst>
        </p:spPr>
      </p:pic>
      <p:pic>
        <p:nvPicPr>
          <p:cNvPr id="10" name="Imagen 9">
            <a:extLst>
              <a:ext uri="{FF2B5EF4-FFF2-40B4-BE49-F238E27FC236}">
                <a16:creationId xmlns:a16="http://schemas.microsoft.com/office/drawing/2014/main" id="{A71DCC1F-81D8-575D-8AF8-991AA175F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345" y="3904765"/>
            <a:ext cx="4513459" cy="2787817"/>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625269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-CONTROLLER</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rgbClr val="FFFF00"/>
                </a:solidFill>
              </a:rPr>
              <a:t>Controller</a:t>
            </a:r>
            <a:endParaRPr lang="es-ES" sz="1600" dirty="0">
              <a:solidFill>
                <a:srgbClr val="FFFF00"/>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Funcionamiento</a:t>
            </a:r>
            <a:endParaRPr lang="es-ES" sz="1600" dirty="0"/>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Imagen 3">
            <a:extLst>
              <a:ext uri="{FF2B5EF4-FFF2-40B4-BE49-F238E27FC236}">
                <a16:creationId xmlns:a16="http://schemas.microsoft.com/office/drawing/2014/main" id="{7AF85E29-2841-28FB-FBAB-89CD513CB48F}"/>
              </a:ext>
            </a:extLst>
          </p:cNvPr>
          <p:cNvPicPr>
            <a:picLocks noChangeAspect="1"/>
          </p:cNvPicPr>
          <p:nvPr/>
        </p:nvPicPr>
        <p:blipFill rotWithShape="1">
          <a:blip r:embed="rId2">
            <a:extLst>
              <a:ext uri="{28A0092B-C50C-407E-A947-70E740481C1C}">
                <a14:useLocalDpi xmlns:a14="http://schemas.microsoft.com/office/drawing/2010/main" val="0"/>
              </a:ext>
            </a:extLst>
          </a:blip>
          <a:srcRect t="6959"/>
          <a:stretch/>
        </p:blipFill>
        <p:spPr bwMode="auto">
          <a:xfrm>
            <a:off x="137160" y="1964698"/>
            <a:ext cx="4344485" cy="2556224"/>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pic>
        <p:nvPicPr>
          <p:cNvPr id="5" name="Imagen 4" descr="Texto&#10;&#10;Descripción generada automáticamente">
            <a:extLst>
              <a:ext uri="{FF2B5EF4-FFF2-40B4-BE49-F238E27FC236}">
                <a16:creationId xmlns:a16="http://schemas.microsoft.com/office/drawing/2014/main" id="{AF1F35C8-7EAB-7897-63D6-784B4D7AF00B}"/>
              </a:ext>
            </a:extLst>
          </p:cNvPr>
          <p:cNvPicPr>
            <a:picLocks noChangeAspect="1"/>
          </p:cNvPicPr>
          <p:nvPr/>
        </p:nvPicPr>
        <p:blipFill>
          <a:blip r:embed="rId3"/>
          <a:stretch>
            <a:fillRect/>
          </a:stretch>
        </p:blipFill>
        <p:spPr>
          <a:xfrm>
            <a:off x="4740148" y="1964698"/>
            <a:ext cx="4348882" cy="4701278"/>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849736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MODELS</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rgbClr val="FFFF00"/>
                </a:solidFill>
              </a:rPr>
              <a:t>Models</a:t>
            </a:r>
            <a:endParaRPr lang="es-ES" sz="1600" dirty="0">
              <a:solidFill>
                <a:srgbClr val="FFFF00"/>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Funcionamiento</a:t>
            </a:r>
            <a:endParaRPr lang="es-ES" sz="1600" dirty="0"/>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Imagen 3">
            <a:extLst>
              <a:ext uri="{FF2B5EF4-FFF2-40B4-BE49-F238E27FC236}">
                <a16:creationId xmlns:a16="http://schemas.microsoft.com/office/drawing/2014/main" id="{E3781FE8-11C9-0FE1-3946-FC64493ECFFF}"/>
              </a:ext>
            </a:extLst>
          </p:cNvPr>
          <p:cNvPicPr>
            <a:picLocks noChangeAspect="1"/>
          </p:cNvPicPr>
          <p:nvPr/>
        </p:nvPicPr>
        <p:blipFill rotWithShape="1">
          <a:blip r:embed="rId2">
            <a:extLst>
              <a:ext uri="{28A0092B-C50C-407E-A947-70E740481C1C}">
                <a14:useLocalDpi xmlns:a14="http://schemas.microsoft.com/office/drawing/2010/main" val="0"/>
              </a:ext>
            </a:extLst>
          </a:blip>
          <a:srcRect l="7204"/>
          <a:stretch/>
        </p:blipFill>
        <p:spPr bwMode="auto">
          <a:xfrm>
            <a:off x="164592" y="2088054"/>
            <a:ext cx="3776472" cy="2365074"/>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descr="Texto&#10;&#10;Descripción generada automáticamente">
            <a:extLst>
              <a:ext uri="{FF2B5EF4-FFF2-40B4-BE49-F238E27FC236}">
                <a16:creationId xmlns:a16="http://schemas.microsoft.com/office/drawing/2014/main" id="{55A18751-A127-6773-007C-E24E1174A123}"/>
              </a:ext>
            </a:extLst>
          </p:cNvPr>
          <p:cNvPicPr>
            <a:picLocks noChangeAspect="1"/>
          </p:cNvPicPr>
          <p:nvPr/>
        </p:nvPicPr>
        <p:blipFill>
          <a:blip r:embed="rId3"/>
          <a:stretch>
            <a:fillRect/>
          </a:stretch>
        </p:blipFill>
        <p:spPr>
          <a:xfrm>
            <a:off x="4215447" y="2088054"/>
            <a:ext cx="4584065" cy="4541346"/>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012765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a:t>
            </a:r>
            <a:r>
              <a:rPr lang="es-EC" dirty="0" err="1"/>
              <a:t>models</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rgbClr val="FFFF00"/>
                </a:solidFill>
              </a:rPr>
              <a:t>Models</a:t>
            </a:r>
            <a:endParaRPr lang="es-ES" sz="1600" dirty="0">
              <a:solidFill>
                <a:srgbClr val="FFFF00"/>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chemeClr val="bg1"/>
                </a:solidFill>
              </a:rPr>
              <a:t>Funcionamiento</a:t>
            </a:r>
            <a:endParaRPr lang="es-ES" sz="1600" dirty="0"/>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Imagen 3">
            <a:extLst>
              <a:ext uri="{FF2B5EF4-FFF2-40B4-BE49-F238E27FC236}">
                <a16:creationId xmlns:a16="http://schemas.microsoft.com/office/drawing/2014/main" id="{E07F99CC-FBAC-F529-FB96-3734DE046E5D}"/>
              </a:ext>
            </a:extLst>
          </p:cNvPr>
          <p:cNvPicPr>
            <a:picLocks noChangeAspect="1"/>
          </p:cNvPicPr>
          <p:nvPr/>
        </p:nvPicPr>
        <p:blipFill>
          <a:blip r:embed="rId2"/>
          <a:stretch>
            <a:fillRect/>
          </a:stretch>
        </p:blipFill>
        <p:spPr>
          <a:xfrm>
            <a:off x="184623" y="2290409"/>
            <a:ext cx="4366158" cy="3176924"/>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3F993930-8346-E9A8-0B1D-A0871DB56989}"/>
              </a:ext>
            </a:extLst>
          </p:cNvPr>
          <p:cNvPicPr>
            <a:picLocks noChangeAspect="1"/>
          </p:cNvPicPr>
          <p:nvPr/>
        </p:nvPicPr>
        <p:blipFill>
          <a:blip r:embed="rId3"/>
          <a:stretch>
            <a:fillRect/>
          </a:stretch>
        </p:blipFill>
        <p:spPr>
          <a:xfrm>
            <a:off x="4752657" y="2290409"/>
            <a:ext cx="4366158" cy="321272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730254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descr="Captura de pantalla de computadora&#10;&#10;Descripción generada automáticamente">
            <a:extLst>
              <a:ext uri="{FF2B5EF4-FFF2-40B4-BE49-F238E27FC236}">
                <a16:creationId xmlns:a16="http://schemas.microsoft.com/office/drawing/2014/main" id="{D35ADA17-2D72-86A6-1C60-C1B87D10786E}"/>
              </a:ext>
            </a:extLst>
          </p:cNvPr>
          <p:cNvPicPr>
            <a:picLocks noChangeAspect="1"/>
          </p:cNvPicPr>
          <p:nvPr/>
        </p:nvPicPr>
        <p:blipFill>
          <a:blip r:embed="rId2"/>
          <a:stretch>
            <a:fillRect/>
          </a:stretch>
        </p:blipFill>
        <p:spPr>
          <a:xfrm>
            <a:off x="505582" y="1952583"/>
            <a:ext cx="5480554" cy="2582101"/>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3191EE23-91A9-2ABD-E1AC-5782CEC11FA9}"/>
              </a:ext>
            </a:extLst>
          </p:cNvPr>
          <p:cNvPicPr>
            <a:picLocks noChangeAspect="1"/>
          </p:cNvPicPr>
          <p:nvPr/>
        </p:nvPicPr>
        <p:blipFill rotWithShape="1">
          <a:blip r:embed="rId3">
            <a:extLst>
              <a:ext uri="{28A0092B-C50C-407E-A947-70E740481C1C}">
                <a14:useLocalDpi xmlns:a14="http://schemas.microsoft.com/office/drawing/2010/main" val="0"/>
              </a:ext>
            </a:extLst>
          </a:blip>
          <a:srcRect b="60143"/>
          <a:stretch/>
        </p:blipFill>
        <p:spPr>
          <a:xfrm>
            <a:off x="505581" y="4844463"/>
            <a:ext cx="5480555" cy="1689228"/>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C36265B7-FFD9-7DAC-7A8C-BC9445A1E5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5866" y="2775578"/>
            <a:ext cx="2900258" cy="3213742"/>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02234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5" name="Imagen 4" descr="Texto&#10;&#10;Descripción generada automáticamente">
            <a:extLst>
              <a:ext uri="{FF2B5EF4-FFF2-40B4-BE49-F238E27FC236}">
                <a16:creationId xmlns:a16="http://schemas.microsoft.com/office/drawing/2014/main" id="{F53B9A7F-08AE-D924-741E-C37F8B50161C}"/>
              </a:ext>
            </a:extLst>
          </p:cNvPr>
          <p:cNvPicPr>
            <a:picLocks noChangeAspect="1"/>
          </p:cNvPicPr>
          <p:nvPr/>
        </p:nvPicPr>
        <p:blipFill rotWithShape="1">
          <a:blip r:embed="rId2"/>
          <a:srcRect b="17276"/>
          <a:stretch/>
        </p:blipFill>
        <p:spPr bwMode="auto">
          <a:xfrm>
            <a:off x="133137" y="2784071"/>
            <a:ext cx="4186960" cy="3005808"/>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pic>
        <p:nvPicPr>
          <p:cNvPr id="6" name="Imagen 5" descr="Interfaz de usuario gráfica&#10;&#10;Descripción generada automáticamente">
            <a:extLst>
              <a:ext uri="{FF2B5EF4-FFF2-40B4-BE49-F238E27FC236}">
                <a16:creationId xmlns:a16="http://schemas.microsoft.com/office/drawing/2014/main" id="{2A2B92BC-4350-E300-D742-FBB229AE7912}"/>
              </a:ext>
            </a:extLst>
          </p:cNvPr>
          <p:cNvPicPr>
            <a:picLocks noChangeAspect="1"/>
          </p:cNvPicPr>
          <p:nvPr/>
        </p:nvPicPr>
        <p:blipFill rotWithShape="1">
          <a:blip r:embed="rId3"/>
          <a:srcRect r="47573"/>
          <a:stretch/>
        </p:blipFill>
        <p:spPr>
          <a:xfrm>
            <a:off x="4532247" y="2784071"/>
            <a:ext cx="2623233" cy="3005808"/>
          </a:xfrm>
          <a:prstGeom prst="rect">
            <a:avLst/>
          </a:prstGeom>
          <a:ln w="76200" cap="sq" cmpd="thickThin">
            <a:solidFill>
              <a:srgbClr val="000000"/>
            </a:solidFill>
            <a:prstDash val="solid"/>
            <a:miter lim="800000"/>
          </a:ln>
          <a:effectLst>
            <a:innerShdw blurRad="76200">
              <a:srgbClr val="000000"/>
            </a:innerShdw>
          </a:effectLst>
        </p:spPr>
      </p:pic>
      <p:pic>
        <p:nvPicPr>
          <p:cNvPr id="7" name="Imagen 6" descr="Interfaz de usuario gráfica&#10;&#10;Descripción generada automáticamente">
            <a:extLst>
              <a:ext uri="{FF2B5EF4-FFF2-40B4-BE49-F238E27FC236}">
                <a16:creationId xmlns:a16="http://schemas.microsoft.com/office/drawing/2014/main" id="{B636F3D7-7957-1DEF-954F-7A203C0ABC0D}"/>
              </a:ext>
            </a:extLst>
          </p:cNvPr>
          <p:cNvPicPr>
            <a:picLocks noChangeAspect="1"/>
          </p:cNvPicPr>
          <p:nvPr/>
        </p:nvPicPr>
        <p:blipFill rotWithShape="1">
          <a:blip r:embed="rId3"/>
          <a:srcRect l="57563" t="34705" r="21270" b="240"/>
          <a:stretch/>
        </p:blipFill>
        <p:spPr>
          <a:xfrm>
            <a:off x="7348207" y="2784071"/>
            <a:ext cx="1786587" cy="3005808"/>
          </a:xfrm>
          <a:prstGeom prst="rect">
            <a:avLst/>
          </a:prstGeom>
          <a:ln w="76200" cap="sq" cmpd="thickThin">
            <a:solidFill>
              <a:srgbClr val="000000"/>
            </a:solidFill>
            <a:prstDash val="solid"/>
            <a:miter lim="800000"/>
          </a:ln>
          <a:effectLst>
            <a:innerShdw blurRad="76200">
              <a:srgbClr val="000000"/>
            </a:innerShdw>
          </a:effectLst>
        </p:spPr>
      </p:pic>
      <p:sp>
        <p:nvSpPr>
          <p:cNvPr id="9" name="Content Placeholder 2">
            <a:extLst>
              <a:ext uri="{FF2B5EF4-FFF2-40B4-BE49-F238E27FC236}">
                <a16:creationId xmlns:a16="http://schemas.microsoft.com/office/drawing/2014/main" id="{B18A2BF5-93CF-6755-A8C3-02005873A915}"/>
              </a:ext>
            </a:extLst>
          </p:cNvPr>
          <p:cNvSpPr txBox="1">
            <a:spLocks/>
          </p:cNvSpPr>
          <p:nvPr/>
        </p:nvSpPr>
        <p:spPr>
          <a:xfrm>
            <a:off x="321801" y="1626491"/>
            <a:ext cx="7772400"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err="1">
                <a:latin typeface="Calibri" panose="020F0502020204030204" pitchFamily="34" charset="0"/>
                <a:ea typeface="Calibri" panose="020F0502020204030204" pitchFamily="34" charset="0"/>
                <a:cs typeface="Times New Roman" panose="02020603050405020304" pitchFamily="18" charset="0"/>
              </a:rPr>
              <a:t>ConversionActivity</a:t>
            </a:r>
            <a:endParaRPr lang="es-EC"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332720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5" name="Imagen 4">
            <a:extLst>
              <a:ext uri="{FF2B5EF4-FFF2-40B4-BE49-F238E27FC236}">
                <a16:creationId xmlns:a16="http://schemas.microsoft.com/office/drawing/2014/main" id="{F53B9A7F-08AE-D924-741E-C37F8B50161C}"/>
              </a:ext>
            </a:extLst>
          </p:cNvPr>
          <p:cNvPicPr>
            <a:picLocks noChangeAspect="1"/>
          </p:cNvPicPr>
          <p:nvPr/>
        </p:nvPicPr>
        <p:blipFill rotWithShape="1">
          <a:blip r:embed="rId2">
            <a:extLst>
              <a:ext uri="{28A0092B-C50C-407E-A947-70E740481C1C}">
                <a14:useLocalDpi xmlns:a14="http://schemas.microsoft.com/office/drawing/2010/main" val="0"/>
              </a:ext>
            </a:extLst>
          </a:blip>
          <a:srcRect t="2418" b="2418"/>
          <a:stretch/>
        </p:blipFill>
        <p:spPr bwMode="auto">
          <a:xfrm>
            <a:off x="154334" y="2756641"/>
            <a:ext cx="4263383" cy="3060672"/>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2A2B92BC-4350-E300-D742-FBB229AE7912}"/>
              </a:ext>
            </a:extLst>
          </p:cNvPr>
          <p:cNvPicPr>
            <a:picLocks noChangeAspect="1"/>
          </p:cNvPicPr>
          <p:nvPr/>
        </p:nvPicPr>
        <p:blipFill rotWithShape="1">
          <a:blip r:embed="rId3">
            <a:extLst>
              <a:ext uri="{28A0092B-C50C-407E-A947-70E740481C1C}">
                <a14:useLocalDpi xmlns:a14="http://schemas.microsoft.com/office/drawing/2010/main" val="0"/>
              </a:ext>
            </a:extLst>
          </a:blip>
          <a:srcRect t="6867" b="6867"/>
          <a:stretch/>
        </p:blipFill>
        <p:spPr>
          <a:xfrm>
            <a:off x="4636741" y="2767626"/>
            <a:ext cx="2565451" cy="3060672"/>
          </a:xfrm>
          <a:prstGeom prst="rect">
            <a:avLst/>
          </a:prstGeom>
          <a:ln w="76200" cap="sq" cmpd="thickThin">
            <a:solidFill>
              <a:srgbClr val="000000"/>
            </a:solidFill>
            <a:prstDash val="solid"/>
            <a:miter lim="800000"/>
          </a:ln>
          <a:effectLst>
            <a:innerShdw blurRad="76200">
              <a:srgbClr val="000000"/>
            </a:innerShdw>
          </a:effectLst>
        </p:spPr>
      </p:pic>
      <p:pic>
        <p:nvPicPr>
          <p:cNvPr id="9" name="Imagen 8" descr="Interfaz de usuario gráfica, Aplicación&#10;&#10;Descripción generada automáticamente">
            <a:extLst>
              <a:ext uri="{FF2B5EF4-FFF2-40B4-BE49-F238E27FC236}">
                <a16:creationId xmlns:a16="http://schemas.microsoft.com/office/drawing/2014/main" id="{9C0B8119-4CC3-2BEA-4740-CEEC25CFED76}"/>
              </a:ext>
            </a:extLst>
          </p:cNvPr>
          <p:cNvPicPr>
            <a:picLocks noChangeAspect="1"/>
          </p:cNvPicPr>
          <p:nvPr/>
        </p:nvPicPr>
        <p:blipFill rotWithShape="1">
          <a:blip r:embed="rId4"/>
          <a:srcRect l="54051" t="28281" r="23089" b="8569"/>
          <a:stretch/>
        </p:blipFill>
        <p:spPr>
          <a:xfrm>
            <a:off x="7387491" y="2778612"/>
            <a:ext cx="1688167" cy="3038701"/>
          </a:xfrm>
          <a:prstGeom prst="rect">
            <a:avLst/>
          </a:prstGeom>
          <a:ln w="76200" cap="sq" cmpd="thickThin">
            <a:solidFill>
              <a:srgbClr val="000000"/>
            </a:solidFill>
            <a:prstDash val="solid"/>
            <a:miter lim="800000"/>
          </a:ln>
          <a:effectLst>
            <a:innerShdw blurRad="76200">
              <a:srgbClr val="000000"/>
            </a:innerShdw>
          </a:effectLst>
        </p:spPr>
      </p:pic>
      <p:sp>
        <p:nvSpPr>
          <p:cNvPr id="10" name="Content Placeholder 2">
            <a:extLst>
              <a:ext uri="{FF2B5EF4-FFF2-40B4-BE49-F238E27FC236}">
                <a16:creationId xmlns:a16="http://schemas.microsoft.com/office/drawing/2014/main" id="{D5ECB654-481E-0D7F-527E-079528A44A93}"/>
              </a:ext>
            </a:extLst>
          </p:cNvPr>
          <p:cNvSpPr txBox="1">
            <a:spLocks/>
          </p:cNvSpPr>
          <p:nvPr/>
        </p:nvSpPr>
        <p:spPr>
          <a:xfrm>
            <a:off x="321801" y="1626491"/>
            <a:ext cx="7772400"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err="1">
                <a:latin typeface="Calibri" panose="020F0502020204030204" pitchFamily="34" charset="0"/>
                <a:ea typeface="Calibri" panose="020F0502020204030204" pitchFamily="34" charset="0"/>
                <a:cs typeface="Times New Roman" panose="02020603050405020304" pitchFamily="18" charset="0"/>
              </a:rPr>
              <a:t>LoginActivity</a:t>
            </a:r>
            <a:endParaRPr lang="es-EC"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28134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a:t>
            </a:r>
            <a:r>
              <a:rPr lang="es-EC" dirty="0" err="1"/>
              <a:t>view</a:t>
            </a:r>
            <a:endParaRPr lang="es-EC" dirty="0"/>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sp>
        <p:nvSpPr>
          <p:cNvPr id="10" name="Content Placeholder 2">
            <a:extLst>
              <a:ext uri="{FF2B5EF4-FFF2-40B4-BE49-F238E27FC236}">
                <a16:creationId xmlns:a16="http://schemas.microsoft.com/office/drawing/2014/main" id="{D5ECB654-481E-0D7F-527E-079528A44A93}"/>
              </a:ext>
            </a:extLst>
          </p:cNvPr>
          <p:cNvSpPr txBox="1">
            <a:spLocks/>
          </p:cNvSpPr>
          <p:nvPr/>
        </p:nvSpPr>
        <p:spPr>
          <a:xfrm>
            <a:off x="321801" y="1626491"/>
            <a:ext cx="7772400"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err="1">
                <a:latin typeface="Calibri" panose="020F0502020204030204" pitchFamily="34" charset="0"/>
                <a:ea typeface="Calibri" panose="020F0502020204030204" pitchFamily="34" charset="0"/>
                <a:cs typeface="Times New Roman" panose="02020603050405020304" pitchFamily="18" charset="0"/>
              </a:rPr>
              <a:t>RegisterActivity</a:t>
            </a:r>
            <a:endParaRPr lang="es-EC"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descr="Texto&#10;&#10;Descripción generada automáticamente">
            <a:extLst>
              <a:ext uri="{FF2B5EF4-FFF2-40B4-BE49-F238E27FC236}">
                <a16:creationId xmlns:a16="http://schemas.microsoft.com/office/drawing/2014/main" id="{BFBA1275-5B2A-6567-B99F-A19B5F197262}"/>
              </a:ext>
            </a:extLst>
          </p:cNvPr>
          <p:cNvPicPr>
            <a:picLocks noChangeAspect="1"/>
          </p:cNvPicPr>
          <p:nvPr/>
        </p:nvPicPr>
        <p:blipFill>
          <a:blip r:embed="rId2"/>
          <a:stretch>
            <a:fillRect/>
          </a:stretch>
        </p:blipFill>
        <p:spPr>
          <a:xfrm>
            <a:off x="224576" y="2789511"/>
            <a:ext cx="3847863" cy="3236567"/>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BA42074C-0550-786D-AD27-5A5E248A8D64}"/>
              </a:ext>
            </a:extLst>
          </p:cNvPr>
          <p:cNvPicPr>
            <a:picLocks noChangeAspect="1"/>
          </p:cNvPicPr>
          <p:nvPr/>
        </p:nvPicPr>
        <p:blipFill rotWithShape="1">
          <a:blip r:embed="rId3"/>
          <a:srcRect r="52873" b="2606"/>
          <a:stretch/>
        </p:blipFill>
        <p:spPr>
          <a:xfrm>
            <a:off x="4265516" y="2789511"/>
            <a:ext cx="2544888" cy="3233703"/>
          </a:xfrm>
          <a:prstGeom prst="rect">
            <a:avLst/>
          </a:prstGeom>
          <a:ln w="762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4B55FD4D-17D0-01CE-4E3D-81A680936A46}"/>
              </a:ext>
            </a:extLst>
          </p:cNvPr>
          <p:cNvPicPr>
            <a:picLocks noChangeAspect="1"/>
          </p:cNvPicPr>
          <p:nvPr/>
        </p:nvPicPr>
        <p:blipFill rotWithShape="1">
          <a:blip r:embed="rId3"/>
          <a:srcRect l="49943" t="29440" r="28382" b="9156"/>
          <a:stretch/>
        </p:blipFill>
        <p:spPr>
          <a:xfrm>
            <a:off x="7108635" y="2789511"/>
            <a:ext cx="1737051" cy="3233702"/>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409559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a:t>
            </a:r>
            <a:r>
              <a:rPr lang="es-EC" dirty="0" err="1"/>
              <a:t>view</a:t>
            </a:r>
            <a:r>
              <a:rPr lang="es-EC" dirty="0"/>
              <a:t> - Configuraciones</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rgbClr val="FFFF00"/>
                </a:solidFill>
              </a:rPr>
              <a:t>View</a:t>
            </a:r>
          </a:p>
          <a:p>
            <a:pPr marL="800100" lvl="1" indent="-342900">
              <a:buFont typeface="+mj-lt"/>
              <a:buAutoNum type="arabicPeriod"/>
            </a:pPr>
            <a:r>
              <a:rPr lang="es-ES" sz="1600" dirty="0">
                <a:solidFill>
                  <a:schemeClr val="bg1"/>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6" name="Imagen 5" descr="Texto&#10;&#10;Descripción generada automáticamente">
            <a:extLst>
              <a:ext uri="{FF2B5EF4-FFF2-40B4-BE49-F238E27FC236}">
                <a16:creationId xmlns:a16="http://schemas.microsoft.com/office/drawing/2014/main" id="{8B8C6D6C-637C-9BA8-0A52-2481F3F4D918}"/>
              </a:ext>
            </a:extLst>
          </p:cNvPr>
          <p:cNvPicPr>
            <a:picLocks noChangeAspect="1"/>
          </p:cNvPicPr>
          <p:nvPr/>
        </p:nvPicPr>
        <p:blipFill>
          <a:blip r:embed="rId2"/>
          <a:stretch>
            <a:fillRect/>
          </a:stretch>
        </p:blipFill>
        <p:spPr>
          <a:xfrm>
            <a:off x="3939723" y="2418112"/>
            <a:ext cx="4993965" cy="3303206"/>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descr="Captura de pantalla de computadora&#10;&#10;Descripción generada automáticamente">
            <a:extLst>
              <a:ext uri="{FF2B5EF4-FFF2-40B4-BE49-F238E27FC236}">
                <a16:creationId xmlns:a16="http://schemas.microsoft.com/office/drawing/2014/main" id="{DF2EFC44-F7C9-C625-063F-9318DEC95CD1}"/>
              </a:ext>
            </a:extLst>
          </p:cNvPr>
          <p:cNvPicPr>
            <a:picLocks noChangeAspect="1"/>
          </p:cNvPicPr>
          <p:nvPr/>
        </p:nvPicPr>
        <p:blipFill>
          <a:blip r:embed="rId3"/>
          <a:stretch>
            <a:fillRect/>
          </a:stretch>
        </p:blipFill>
        <p:spPr>
          <a:xfrm>
            <a:off x="483438" y="4044596"/>
            <a:ext cx="4656134" cy="2111248"/>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descr="Captura de pantalla de un celular&#10;&#10;Descripción generada automáticamente">
            <a:extLst>
              <a:ext uri="{FF2B5EF4-FFF2-40B4-BE49-F238E27FC236}">
                <a16:creationId xmlns:a16="http://schemas.microsoft.com/office/drawing/2014/main" id="{4BAB9A28-BC46-B2C5-FAFD-E5FC76A9E26D}"/>
              </a:ext>
            </a:extLst>
          </p:cNvPr>
          <p:cNvPicPr>
            <a:picLocks noChangeAspect="1"/>
          </p:cNvPicPr>
          <p:nvPr/>
        </p:nvPicPr>
        <p:blipFill>
          <a:blip r:embed="rId4"/>
          <a:stretch>
            <a:fillRect/>
          </a:stretch>
        </p:blipFill>
        <p:spPr>
          <a:xfrm>
            <a:off x="483438" y="1983586"/>
            <a:ext cx="4670028" cy="1560703"/>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182557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Configurar celular</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rgbClr val="FFFF00"/>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descr="Interfaz de usuario gráfica, Texto, Aplicación, Chat o mensaje de texto&#10;&#10;Descripción generada automáticamente">
            <a:extLst>
              <a:ext uri="{FF2B5EF4-FFF2-40B4-BE49-F238E27FC236}">
                <a16:creationId xmlns:a16="http://schemas.microsoft.com/office/drawing/2014/main" id="{6324C4A2-F6A2-4130-5593-66E364C650C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193" y="2640291"/>
            <a:ext cx="2273394" cy="2591218"/>
          </a:xfrm>
          <a:prstGeom prst="rect">
            <a:avLst/>
          </a:prstGeom>
          <a:ln w="76200" cap="sq" cmpd="thickThin">
            <a:solidFill>
              <a:srgbClr val="000000"/>
            </a:solidFill>
            <a:prstDash val="solid"/>
            <a:miter lim="800000"/>
          </a:ln>
          <a:effectLst>
            <a:innerShdw blurRad="76200">
              <a:srgbClr val="000000"/>
            </a:innerShdw>
          </a:effectLst>
        </p:spPr>
      </p:pic>
      <p:sp>
        <p:nvSpPr>
          <p:cNvPr id="4" name="Content Placeholder 2">
            <a:extLst>
              <a:ext uri="{FF2B5EF4-FFF2-40B4-BE49-F238E27FC236}">
                <a16:creationId xmlns:a16="http://schemas.microsoft.com/office/drawing/2014/main" id="{683483A2-986F-D74A-ED82-54A57519DF57}"/>
              </a:ext>
            </a:extLst>
          </p:cNvPr>
          <p:cNvSpPr txBox="1">
            <a:spLocks/>
          </p:cNvSpPr>
          <p:nvPr/>
        </p:nvSpPr>
        <p:spPr>
          <a:xfrm>
            <a:off x="321800" y="1626491"/>
            <a:ext cx="8639319"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Configuración necesaria para la ejecución de la aplicación en un celular Android</a:t>
            </a:r>
          </a:p>
        </p:txBody>
      </p:sp>
      <p:pic>
        <p:nvPicPr>
          <p:cNvPr id="5" name="Imagen 4" descr="Interfaz de usuario gráfica, Texto, Aplicación&#10;&#10;Descripción generada automáticamente">
            <a:extLst>
              <a:ext uri="{FF2B5EF4-FFF2-40B4-BE49-F238E27FC236}">
                <a16:creationId xmlns:a16="http://schemas.microsoft.com/office/drawing/2014/main" id="{97A957A1-201C-67E0-D792-159F83714C4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26131" y="2632529"/>
            <a:ext cx="2220595" cy="3634740"/>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a:extLst>
              <a:ext uri="{FF2B5EF4-FFF2-40B4-BE49-F238E27FC236}">
                <a16:creationId xmlns:a16="http://schemas.microsoft.com/office/drawing/2014/main" id="{3D906C34-781B-DF46-86AB-F3D5DEECB5D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0" y="2659107"/>
            <a:ext cx="2315845" cy="2818765"/>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3762127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Configurar celular</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rgbClr val="FFFF00"/>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descr="Interfaz de usuario gráfica, Aplicación&#10;&#10;Descripción generada automáticamente">
            <a:extLst>
              <a:ext uri="{FF2B5EF4-FFF2-40B4-BE49-F238E27FC236}">
                <a16:creationId xmlns:a16="http://schemas.microsoft.com/office/drawing/2014/main" id="{D80A32C7-8B38-0D2D-0092-8D75D861219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192" y="2418112"/>
            <a:ext cx="2308312" cy="3572920"/>
          </a:xfrm>
          <a:prstGeom prst="rect">
            <a:avLst/>
          </a:prstGeom>
          <a:ln w="762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A79263D7-0449-D028-E4EC-6118CF4E1BB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1779" y="2418112"/>
            <a:ext cx="2383231" cy="3572920"/>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EFDBF6B7-6C04-7D9E-7978-16901FC96B2C}"/>
              </a:ext>
            </a:extLst>
          </p:cNvPr>
          <p:cNvPicPr>
            <a:picLocks noChangeAspect="1"/>
          </p:cNvPicPr>
          <p:nvPr/>
        </p:nvPicPr>
        <p:blipFill>
          <a:blip r:embed="rId4"/>
          <a:stretch>
            <a:fillRect/>
          </a:stretch>
        </p:blipFill>
        <p:spPr>
          <a:xfrm>
            <a:off x="6012653" y="3428999"/>
            <a:ext cx="2783840" cy="162052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4792936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Configurar celular</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800100" lvl="1" indent="-342900">
              <a:buFont typeface="+mj-lt"/>
              <a:buAutoNum type="arabicPeriod"/>
            </a:pPr>
            <a:r>
              <a:rPr lang="es-ES" sz="1600" dirty="0" err="1">
                <a:solidFill>
                  <a:schemeClr val="bg1"/>
                </a:solidFill>
              </a:rPr>
              <a:t>Controller</a:t>
            </a:r>
            <a:endParaRPr lang="es-ES" sz="1600" dirty="0">
              <a:solidFill>
                <a:schemeClr val="bg1"/>
              </a:solidFill>
            </a:endParaRPr>
          </a:p>
          <a:p>
            <a:pPr marL="800100" lvl="1" indent="-342900">
              <a:buFont typeface="+mj-lt"/>
              <a:buAutoNum type="arabicPeriod"/>
            </a:pPr>
            <a:r>
              <a:rPr lang="es-ES" sz="1600" dirty="0" err="1">
                <a:solidFill>
                  <a:schemeClr val="bg1"/>
                </a:solidFill>
              </a:rPr>
              <a:t>Models</a:t>
            </a:r>
            <a:endParaRPr lang="es-ES" sz="1600" dirty="0">
              <a:solidFill>
                <a:schemeClr val="bg1"/>
              </a:solidFill>
            </a:endParaRPr>
          </a:p>
          <a:p>
            <a:pPr marL="800100" lvl="1" indent="-342900">
              <a:buFont typeface="+mj-lt"/>
              <a:buAutoNum type="arabicPeriod"/>
            </a:pPr>
            <a:r>
              <a:rPr lang="es-ES" sz="1600" dirty="0">
                <a:solidFill>
                  <a:schemeClr val="bg1"/>
                </a:solidFill>
              </a:rPr>
              <a:t>View</a:t>
            </a:r>
          </a:p>
          <a:p>
            <a:pPr marL="800100" lvl="1" indent="-342900">
              <a:buFont typeface="+mj-lt"/>
              <a:buAutoNum type="arabicPeriod"/>
            </a:pPr>
            <a:r>
              <a:rPr lang="es-ES" sz="1600" dirty="0">
                <a:solidFill>
                  <a:srgbClr val="FFFF00"/>
                </a:solidFill>
              </a:rPr>
              <a:t>Funcionamiento</a:t>
            </a:r>
          </a:p>
          <a:p>
            <a:pPr marL="342900" indent="-342900">
              <a:buFont typeface="+mj-lt"/>
              <a:buAutoNum type="arabicPeriod"/>
            </a:pPr>
            <a:r>
              <a:rPr lang="es-ES" sz="1600" dirty="0"/>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descr="Interfaz de usuario gráfica, Texto, Aplicación&#10;&#10;Descripción generada automáticamente">
            <a:extLst>
              <a:ext uri="{FF2B5EF4-FFF2-40B4-BE49-F238E27FC236}">
                <a16:creationId xmlns:a16="http://schemas.microsoft.com/office/drawing/2014/main" id="{E73CEC94-76AB-B86C-0053-5D18ABAABDB6}"/>
              </a:ext>
            </a:extLst>
          </p:cNvPr>
          <p:cNvPicPr>
            <a:picLocks noChangeAspect="1"/>
          </p:cNvPicPr>
          <p:nvPr/>
        </p:nvPicPr>
        <p:blipFill>
          <a:blip r:embed="rId2"/>
          <a:stretch>
            <a:fillRect/>
          </a:stretch>
        </p:blipFill>
        <p:spPr>
          <a:xfrm>
            <a:off x="321800" y="3013202"/>
            <a:ext cx="3372307" cy="2363470"/>
          </a:xfrm>
          <a:prstGeom prst="rect">
            <a:avLst/>
          </a:prstGeom>
          <a:ln w="76200" cap="sq" cmpd="thickThin">
            <a:solidFill>
              <a:srgbClr val="000000"/>
            </a:solidFill>
            <a:prstDash val="solid"/>
            <a:miter lim="800000"/>
          </a:ln>
          <a:effectLst>
            <a:innerShdw blurRad="76200">
              <a:srgbClr val="000000"/>
            </a:innerShdw>
          </a:effectLst>
        </p:spPr>
      </p:pic>
      <p:sp>
        <p:nvSpPr>
          <p:cNvPr id="4" name="Content Placeholder 2">
            <a:extLst>
              <a:ext uri="{FF2B5EF4-FFF2-40B4-BE49-F238E27FC236}">
                <a16:creationId xmlns:a16="http://schemas.microsoft.com/office/drawing/2014/main" id="{746E17BE-4EF7-9ED7-A5E6-A9CD5EEB103A}"/>
              </a:ext>
            </a:extLst>
          </p:cNvPr>
          <p:cNvSpPr txBox="1">
            <a:spLocks/>
          </p:cNvSpPr>
          <p:nvPr/>
        </p:nvSpPr>
        <p:spPr>
          <a:xfrm>
            <a:off x="321800" y="1626491"/>
            <a:ext cx="8639319"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Conectamos por USB el celular a la computadora – Android Studio reconoce automáticamente</a:t>
            </a:r>
          </a:p>
        </p:txBody>
      </p:sp>
      <p:pic>
        <p:nvPicPr>
          <p:cNvPr id="5" name="Imagen 4" descr="Interfaz de usuario gráfica&#10;&#10;Descripción generada automáticamente">
            <a:extLst>
              <a:ext uri="{FF2B5EF4-FFF2-40B4-BE49-F238E27FC236}">
                <a16:creationId xmlns:a16="http://schemas.microsoft.com/office/drawing/2014/main" id="{9B08BB75-324D-FF01-2AC3-E12F3BB51F2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60584"/>
          <a:stretch/>
        </p:blipFill>
        <p:spPr bwMode="auto">
          <a:xfrm>
            <a:off x="5598447" y="3013202"/>
            <a:ext cx="2630170" cy="2301240"/>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
        <p:nvSpPr>
          <p:cNvPr id="6" name="Flecha: a la derecha 5">
            <a:extLst>
              <a:ext uri="{FF2B5EF4-FFF2-40B4-BE49-F238E27FC236}">
                <a16:creationId xmlns:a16="http://schemas.microsoft.com/office/drawing/2014/main" id="{3E8E32C4-DDD2-2DBF-639B-EF4A22C9F461}"/>
              </a:ext>
            </a:extLst>
          </p:cNvPr>
          <p:cNvSpPr/>
          <p:nvPr/>
        </p:nvSpPr>
        <p:spPr>
          <a:xfrm>
            <a:off x="4348106" y="3975908"/>
            <a:ext cx="596342" cy="4754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9" name="Content Placeholder 2">
            <a:extLst>
              <a:ext uri="{FF2B5EF4-FFF2-40B4-BE49-F238E27FC236}">
                <a16:creationId xmlns:a16="http://schemas.microsoft.com/office/drawing/2014/main" id="{93415CBD-A0C4-733B-7181-AD8E3BDED79B}"/>
              </a:ext>
            </a:extLst>
          </p:cNvPr>
          <p:cNvSpPr txBox="1">
            <a:spLocks/>
          </p:cNvSpPr>
          <p:nvPr/>
        </p:nvSpPr>
        <p:spPr>
          <a:xfrm>
            <a:off x="3774828" y="2996484"/>
            <a:ext cx="1903240"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lnSpc>
                <a:spcPct val="115000"/>
              </a:lnSpc>
              <a:spcAft>
                <a:spcPts val="1000"/>
              </a:spcAft>
              <a:buNone/>
            </a:pPr>
            <a:r>
              <a:rPr lang="es-EC" dirty="0">
                <a:latin typeface="Calibri" panose="020F0502020204030204" pitchFamily="34" charset="0"/>
                <a:ea typeface="Calibri" panose="020F0502020204030204" pitchFamily="34" charset="0"/>
                <a:cs typeface="Times New Roman" panose="02020603050405020304" pitchFamily="18" charset="0"/>
              </a:rPr>
              <a:t>Al ejecutar la aplicación</a:t>
            </a:r>
          </a:p>
        </p:txBody>
      </p:sp>
    </p:spTree>
    <p:extLst>
      <p:ext uri="{BB962C8B-B14F-4D97-AF65-F5344CB8AC3E}">
        <p14:creationId xmlns:p14="http://schemas.microsoft.com/office/powerpoint/2010/main" val="8073066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a:t>
            </a:r>
            <a:r>
              <a:rPr lang="es-EC" dirty="0" err="1"/>
              <a:t>mÓVIL</a:t>
            </a:r>
            <a:r>
              <a:rPr lang="es-EC" dirty="0"/>
              <a:t>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rgbClr val="FFFF00"/>
                </a:solidFill>
              </a:rPr>
              <a:t>CLIENTE MÓVIL</a:t>
            </a:r>
          </a:p>
          <a:p>
            <a:pPr marL="342900" indent="-342900">
              <a:buFont typeface="+mj-lt"/>
              <a:buAutoNum type="arabicPeriod"/>
            </a:pPr>
            <a:r>
              <a:rPr lang="es-ES" sz="1600" dirty="0"/>
              <a:t>CLIENTE WEB</a:t>
            </a:r>
          </a:p>
          <a:p>
            <a:pPr marL="342900" indent="-342900">
              <a:buFont typeface="+mj-lt"/>
              <a:buAutoNum type="arabicPeriod"/>
            </a:pPr>
            <a:endParaRPr lang="es-ES" sz="1600" dirty="0"/>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9DE9161A-5CEA-FC4E-08C5-9C85303819D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88" y="2418112"/>
            <a:ext cx="2030095" cy="3832860"/>
          </a:xfrm>
          <a:prstGeom prst="rect">
            <a:avLst/>
          </a:prstGeom>
          <a:ln w="76200" cap="sq" cmpd="thickThin">
            <a:solidFill>
              <a:srgbClr val="000000"/>
            </a:solidFill>
            <a:prstDash val="solid"/>
            <a:miter lim="800000"/>
          </a:ln>
          <a:effectLst>
            <a:innerShdw blurRad="76200">
              <a:srgbClr val="000000"/>
            </a:innerShdw>
          </a:effectLst>
        </p:spPr>
      </p:pic>
      <p:pic>
        <p:nvPicPr>
          <p:cNvPr id="5" name="Imagen 4">
            <a:extLst>
              <a:ext uri="{FF2B5EF4-FFF2-40B4-BE49-F238E27FC236}">
                <a16:creationId xmlns:a16="http://schemas.microsoft.com/office/drawing/2014/main" id="{E7CBD1D3-9C9C-8089-E7BD-2A3728487B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496390" y="2418112"/>
            <a:ext cx="2067243" cy="3832860"/>
          </a:xfrm>
          <a:prstGeom prst="rect">
            <a:avLst/>
          </a:prstGeom>
          <a:ln w="76200" cap="sq" cmpd="thickThin">
            <a:solidFill>
              <a:srgbClr val="000000"/>
            </a:solidFill>
            <a:prstDash val="solid"/>
            <a:miter lim="800000"/>
          </a:ln>
          <a:effectLst>
            <a:innerShdw blurRad="76200">
              <a:srgbClr val="000000"/>
            </a:innerShdw>
          </a:effectLst>
        </p:spPr>
      </p:pic>
      <p:pic>
        <p:nvPicPr>
          <p:cNvPr id="6" name="Imagen 5" descr="Imagen que contiene Interfaz de usuario gráfica&#10;&#10;Descripción generada automáticamente">
            <a:extLst>
              <a:ext uri="{FF2B5EF4-FFF2-40B4-BE49-F238E27FC236}">
                <a16:creationId xmlns:a16="http://schemas.microsoft.com/office/drawing/2014/main" id="{EDFD7FDE-C2A3-4C50-0E17-5AC5596FBF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4838880" y="2418112"/>
            <a:ext cx="1995170" cy="3832860"/>
          </a:xfrm>
          <a:prstGeom prst="rect">
            <a:avLst/>
          </a:prstGeom>
          <a:ln w="76200" cap="sq" cmpd="thickThin">
            <a:solidFill>
              <a:srgbClr val="000000"/>
            </a:solidFill>
            <a:prstDash val="solid"/>
            <a:miter lim="800000"/>
          </a:ln>
          <a:effectLst>
            <a:innerShdw blurRad="76200">
              <a:srgbClr val="000000"/>
            </a:innerShdw>
          </a:effectLst>
        </p:spPr>
      </p:pic>
      <p:pic>
        <p:nvPicPr>
          <p:cNvPr id="7" name="Imagen 6" descr="Imagen que contiene Interfaz de usuario gráfica&#10;&#10;Descripción generada automáticamente">
            <a:extLst>
              <a:ext uri="{FF2B5EF4-FFF2-40B4-BE49-F238E27FC236}">
                <a16:creationId xmlns:a16="http://schemas.microsoft.com/office/drawing/2014/main" id="{E66E2071-9F6F-F522-4144-AECC446EB6C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3061"/>
          <a:stretch/>
        </p:blipFill>
        <p:spPr bwMode="auto">
          <a:xfrm>
            <a:off x="7049918" y="2418112"/>
            <a:ext cx="1995171" cy="3832860"/>
          </a:xfrm>
          <a:prstGeom prst="rect">
            <a:avLst/>
          </a:prstGeom>
          <a:ln w="762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
        <p:nvSpPr>
          <p:cNvPr id="9" name="Flecha: a la derecha 8">
            <a:extLst>
              <a:ext uri="{FF2B5EF4-FFF2-40B4-BE49-F238E27FC236}">
                <a16:creationId xmlns:a16="http://schemas.microsoft.com/office/drawing/2014/main" id="{246D9985-6F9B-67C1-C848-78C8FA38E41E}"/>
              </a:ext>
            </a:extLst>
          </p:cNvPr>
          <p:cNvSpPr/>
          <p:nvPr/>
        </p:nvSpPr>
        <p:spPr>
          <a:xfrm>
            <a:off x="2157984" y="6501384"/>
            <a:ext cx="429768" cy="274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0" name="Flecha: a la derecha 9">
            <a:extLst>
              <a:ext uri="{FF2B5EF4-FFF2-40B4-BE49-F238E27FC236}">
                <a16:creationId xmlns:a16="http://schemas.microsoft.com/office/drawing/2014/main" id="{4E6E334E-3EE5-E66D-AF02-55C014657203}"/>
              </a:ext>
            </a:extLst>
          </p:cNvPr>
          <p:cNvSpPr/>
          <p:nvPr/>
        </p:nvSpPr>
        <p:spPr>
          <a:xfrm>
            <a:off x="4491307" y="6516624"/>
            <a:ext cx="429768" cy="274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1" name="Flecha: a la derecha 10">
            <a:extLst>
              <a:ext uri="{FF2B5EF4-FFF2-40B4-BE49-F238E27FC236}">
                <a16:creationId xmlns:a16="http://schemas.microsoft.com/office/drawing/2014/main" id="{536001CB-4D3E-32FD-628E-186BE141D893}"/>
              </a:ext>
            </a:extLst>
          </p:cNvPr>
          <p:cNvSpPr/>
          <p:nvPr/>
        </p:nvSpPr>
        <p:spPr>
          <a:xfrm>
            <a:off x="6661248" y="6498336"/>
            <a:ext cx="429768" cy="274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8265772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rgbClr val="FFFF00"/>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chemeClr val="bg1"/>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Picture 1" descr="A screenshot of a computer&#10;&#10;Description automatically generated">
            <a:extLst>
              <a:ext uri="{FF2B5EF4-FFF2-40B4-BE49-F238E27FC236}">
                <a16:creationId xmlns:a16="http://schemas.microsoft.com/office/drawing/2014/main" id="{A241E308-817A-8283-DB8E-4031239CE50B}"/>
              </a:ext>
            </a:extLst>
          </p:cNvPr>
          <p:cNvPicPr>
            <a:picLocks noChangeAspect="1"/>
          </p:cNvPicPr>
          <p:nvPr/>
        </p:nvPicPr>
        <p:blipFill>
          <a:blip r:embed="rId2"/>
          <a:stretch>
            <a:fillRect/>
          </a:stretch>
        </p:blipFill>
        <p:spPr>
          <a:xfrm>
            <a:off x="514413" y="2008186"/>
            <a:ext cx="4012565" cy="2841625"/>
          </a:xfrm>
          <a:prstGeom prst="rect">
            <a:avLst/>
          </a:prstGeom>
          <a:ln w="88900" cap="sq" cmpd="thickThin">
            <a:solidFill>
              <a:srgbClr val="000000"/>
            </a:solidFill>
            <a:prstDash val="solid"/>
            <a:miter lim="800000"/>
          </a:ln>
          <a:effectLst>
            <a:innerShdw blurRad="76200">
              <a:srgbClr val="000000"/>
            </a:innerShdw>
          </a:effectLst>
        </p:spPr>
      </p:pic>
      <p:pic>
        <p:nvPicPr>
          <p:cNvPr id="9" name="Picture 1" descr="A screenshot of a computer&#10;&#10;Description automatically generated">
            <a:extLst>
              <a:ext uri="{FF2B5EF4-FFF2-40B4-BE49-F238E27FC236}">
                <a16:creationId xmlns:a16="http://schemas.microsoft.com/office/drawing/2014/main" id="{6EFE13E5-C3FA-8DE6-F83D-88D664EE972F}"/>
              </a:ext>
            </a:extLst>
          </p:cNvPr>
          <p:cNvPicPr>
            <a:picLocks noChangeAspect="1"/>
          </p:cNvPicPr>
          <p:nvPr/>
        </p:nvPicPr>
        <p:blipFill>
          <a:blip r:embed="rId3"/>
          <a:stretch>
            <a:fillRect/>
          </a:stretch>
        </p:blipFill>
        <p:spPr>
          <a:xfrm>
            <a:off x="4865460" y="3843591"/>
            <a:ext cx="4057015" cy="2755265"/>
          </a:xfrm>
          <a:prstGeom prst="rect">
            <a:avLst/>
          </a:prstGeom>
          <a:ln w="88900" cap="sq" cmpd="thickThin">
            <a:solidFill>
              <a:srgbClr val="000000"/>
            </a:solidFill>
            <a:prstDash val="solid"/>
            <a:miter lim="800000"/>
          </a:ln>
          <a:effectLst>
            <a:innerShdw blurRad="76200">
              <a:srgbClr val="000000"/>
            </a:innerShdw>
          </a:effectLst>
        </p:spPr>
      </p:pic>
      <p:sp>
        <p:nvSpPr>
          <p:cNvPr id="10" name="Content Placeholder 2">
            <a:extLst>
              <a:ext uri="{FF2B5EF4-FFF2-40B4-BE49-F238E27FC236}">
                <a16:creationId xmlns:a16="http://schemas.microsoft.com/office/drawing/2014/main" id="{4B5A0834-9389-A266-8D86-22D57B39B572}"/>
              </a:ext>
            </a:extLst>
          </p:cNvPr>
          <p:cNvSpPr txBox="1">
            <a:spLocks/>
          </p:cNvSpPr>
          <p:nvPr/>
        </p:nvSpPr>
        <p:spPr>
          <a:xfrm>
            <a:off x="349233" y="5221223"/>
            <a:ext cx="3152920" cy="11630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15000"/>
              </a:lnSpc>
              <a:spcAft>
                <a:spcPts val="1000"/>
              </a:spcAft>
            </a:pPr>
            <a:r>
              <a:rPr lang="es-EC" dirty="0">
                <a:latin typeface="Calibri" panose="020F0502020204030204" pitchFamily="34" charset="0"/>
                <a:ea typeface="Calibri" panose="020F0502020204030204" pitchFamily="34" charset="0"/>
                <a:cs typeface="Times New Roman" panose="02020603050405020304" pitchFamily="18" charset="0"/>
              </a:rPr>
              <a:t>Creación y nombre de la aplicación</a:t>
            </a:r>
          </a:p>
        </p:txBody>
      </p:sp>
    </p:spTree>
    <p:extLst>
      <p:ext uri="{BB962C8B-B14F-4D97-AF65-F5344CB8AC3E}">
        <p14:creationId xmlns:p14="http://schemas.microsoft.com/office/powerpoint/2010/main" val="18313012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chemeClr val="bg1"/>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Picture 1" descr="Interfaz de usuario gráfica, Texto, Aplicación&#10;&#10;Descripción generada automáticamente">
            <a:extLst>
              <a:ext uri="{FF2B5EF4-FFF2-40B4-BE49-F238E27FC236}">
                <a16:creationId xmlns:a16="http://schemas.microsoft.com/office/drawing/2014/main" id="{DEEAFD1F-6F3E-2132-AFA0-C75184B1ABDD}"/>
              </a:ext>
            </a:extLst>
          </p:cNvPr>
          <p:cNvPicPr>
            <a:picLocks noChangeAspect="1"/>
          </p:cNvPicPr>
          <p:nvPr/>
        </p:nvPicPr>
        <p:blipFill rotWithShape="1">
          <a:blip r:embed="rId2"/>
          <a:srcRect l="2041" t="449" r="20167" b="75755"/>
          <a:stretch/>
        </p:blipFill>
        <p:spPr bwMode="auto">
          <a:xfrm>
            <a:off x="1762661" y="2145833"/>
            <a:ext cx="6560596" cy="1013800"/>
          </a:xfrm>
          <a:prstGeom prst="rect">
            <a:avLst/>
          </a:prstGeom>
          <a:ln w="88900" cap="sq" cmpd="thickThin" algn="ctr">
            <a:solidFill>
              <a:srgbClr val="000000"/>
            </a:solidFill>
            <a:prstDash val="solid"/>
            <a:miter lim="800000"/>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a:innerShdw blurRad="76200">
              <a:srgbClr val="000000"/>
            </a:innerShdw>
          </a:effectLst>
          <a:extLst>
            <a:ext uri="{53640926-AAD7-44D8-BBD7-CCE9431645EC}">
              <a14:shadowObscured xmlns:a14="http://schemas.microsoft.com/office/drawing/2010/main"/>
            </a:ext>
          </a:extLst>
        </p:spPr>
      </p:pic>
      <p:pic>
        <p:nvPicPr>
          <p:cNvPr id="4" name="Picture 1" descr="A screenshot of a computer&#10;&#10;Description automatically generated">
            <a:extLst>
              <a:ext uri="{FF2B5EF4-FFF2-40B4-BE49-F238E27FC236}">
                <a16:creationId xmlns:a16="http://schemas.microsoft.com/office/drawing/2014/main" id="{321A9F2D-43A8-5D97-D398-0C9C450DA38C}"/>
              </a:ext>
            </a:extLst>
          </p:cNvPr>
          <p:cNvPicPr>
            <a:picLocks noChangeAspect="1"/>
          </p:cNvPicPr>
          <p:nvPr/>
        </p:nvPicPr>
        <p:blipFill>
          <a:blip r:embed="rId3"/>
          <a:stretch>
            <a:fillRect/>
          </a:stretch>
        </p:blipFill>
        <p:spPr>
          <a:xfrm>
            <a:off x="2522961" y="3392422"/>
            <a:ext cx="5039995" cy="313626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9363707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 – Inicio de sesión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rgbClr val="FFFF00"/>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chemeClr val="bg1"/>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Picture 1" descr="A screenshot of a computer&#10;&#10;Description automatically generated">
            <a:extLst>
              <a:ext uri="{FF2B5EF4-FFF2-40B4-BE49-F238E27FC236}">
                <a16:creationId xmlns:a16="http://schemas.microsoft.com/office/drawing/2014/main" id="{60DD1FC1-5355-C27C-8B7A-AD44CCC80A25}"/>
              </a:ext>
            </a:extLst>
          </p:cNvPr>
          <p:cNvPicPr>
            <a:picLocks noChangeAspect="1"/>
          </p:cNvPicPr>
          <p:nvPr/>
        </p:nvPicPr>
        <p:blipFill rotWithShape="1">
          <a:blip r:embed="rId2"/>
          <a:srcRect l="1438" t="12546" r="26898" b="14486"/>
          <a:stretch/>
        </p:blipFill>
        <p:spPr>
          <a:xfrm>
            <a:off x="3647764" y="3715581"/>
            <a:ext cx="5340789" cy="2852928"/>
          </a:xfrm>
          <a:prstGeom prst="rect">
            <a:avLst/>
          </a:prstGeom>
          <a:ln w="88900" cap="sq" cmpd="thickThin">
            <a:solidFill>
              <a:srgbClr val="000000"/>
            </a:solidFill>
            <a:prstDash val="solid"/>
            <a:miter lim="800000"/>
          </a:ln>
          <a:effectLst>
            <a:innerShdw blurRad="76200">
              <a:srgbClr val="000000"/>
            </a:innerShdw>
          </a:effectLst>
        </p:spPr>
      </p:pic>
      <p:pic>
        <p:nvPicPr>
          <p:cNvPr id="3" name="Picture 1" descr="Interfaz de usuario gráfica, Texto, Aplicación, Correo electrónico&#10;&#10;Descripción generada automáticamente">
            <a:extLst>
              <a:ext uri="{FF2B5EF4-FFF2-40B4-BE49-F238E27FC236}">
                <a16:creationId xmlns:a16="http://schemas.microsoft.com/office/drawing/2014/main" id="{8E1A08EB-D3F4-C178-310C-74294B53BFCA}"/>
              </a:ext>
            </a:extLst>
          </p:cNvPr>
          <p:cNvPicPr>
            <a:picLocks noChangeAspect="1"/>
          </p:cNvPicPr>
          <p:nvPr/>
        </p:nvPicPr>
        <p:blipFill>
          <a:blip r:embed="rId3"/>
          <a:stretch>
            <a:fillRect/>
          </a:stretch>
        </p:blipFill>
        <p:spPr>
          <a:xfrm>
            <a:off x="754928" y="2124201"/>
            <a:ext cx="3998642" cy="260959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8475513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 – registro de usuario</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rgbClr val="FFFF00"/>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chemeClr val="bg1"/>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Picture 1" descr="Interfaz de usuario gráfica, Texto, Aplicación&#10;&#10;Descripción generada automáticamente">
            <a:extLst>
              <a:ext uri="{FF2B5EF4-FFF2-40B4-BE49-F238E27FC236}">
                <a16:creationId xmlns:a16="http://schemas.microsoft.com/office/drawing/2014/main" id="{83996AA4-C674-8DE1-B286-D5B001A60855}"/>
              </a:ext>
            </a:extLst>
          </p:cNvPr>
          <p:cNvPicPr>
            <a:picLocks noChangeAspect="1"/>
          </p:cNvPicPr>
          <p:nvPr/>
        </p:nvPicPr>
        <p:blipFill rotWithShape="1">
          <a:blip r:embed="rId2"/>
          <a:srcRect l="1074" t="11998" r="27556" b="11921"/>
          <a:stretch/>
        </p:blipFill>
        <p:spPr>
          <a:xfrm>
            <a:off x="3538728" y="3429000"/>
            <a:ext cx="5542641" cy="3099816"/>
          </a:xfrm>
          <a:prstGeom prst="rect">
            <a:avLst/>
          </a:prstGeom>
          <a:ln w="88900" cap="sq" cmpd="thickThin">
            <a:solidFill>
              <a:srgbClr val="000000"/>
            </a:solidFill>
            <a:prstDash val="solid"/>
            <a:miter lim="800000"/>
          </a:ln>
          <a:effectLst>
            <a:innerShdw blurRad="76200">
              <a:srgbClr val="000000"/>
            </a:innerShdw>
          </a:effectLst>
        </p:spPr>
      </p:pic>
      <p:pic>
        <p:nvPicPr>
          <p:cNvPr id="3" name="Picture 1" descr="A screenshot of a computer&#10;&#10;Description automatically generated">
            <a:extLst>
              <a:ext uri="{FF2B5EF4-FFF2-40B4-BE49-F238E27FC236}">
                <a16:creationId xmlns:a16="http://schemas.microsoft.com/office/drawing/2014/main" id="{EF0B3A53-4E15-1931-9615-EC54458AE621}"/>
              </a:ext>
            </a:extLst>
          </p:cNvPr>
          <p:cNvPicPr>
            <a:picLocks noChangeAspect="1"/>
          </p:cNvPicPr>
          <p:nvPr/>
        </p:nvPicPr>
        <p:blipFill>
          <a:blip r:embed="rId3"/>
          <a:stretch>
            <a:fillRect/>
          </a:stretch>
        </p:blipFill>
        <p:spPr>
          <a:xfrm>
            <a:off x="492633" y="2172714"/>
            <a:ext cx="3596994" cy="224383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7460137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 – conversión de unidades</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rgbClr val="FFFF00"/>
                </a:solidFill>
              </a:rPr>
              <a:t>Página Conversión</a:t>
            </a:r>
          </a:p>
          <a:p>
            <a:pPr marL="800100" lvl="1" indent="-342900">
              <a:buFont typeface="+mj-lt"/>
              <a:buAutoNum type="arabicPeriod"/>
            </a:pPr>
            <a:r>
              <a:rPr lang="es-ES" sz="1600" dirty="0">
                <a:solidFill>
                  <a:schemeClr val="bg1"/>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4" name="Picture 1" descr="A screenshot of a computer&#10;&#10;Description automatically generated">
            <a:extLst>
              <a:ext uri="{FF2B5EF4-FFF2-40B4-BE49-F238E27FC236}">
                <a16:creationId xmlns:a16="http://schemas.microsoft.com/office/drawing/2014/main" id="{115F0CD8-F6EE-3525-0F8F-9F7EABA9F648}"/>
              </a:ext>
            </a:extLst>
          </p:cNvPr>
          <p:cNvPicPr>
            <a:picLocks noChangeAspect="1"/>
          </p:cNvPicPr>
          <p:nvPr/>
        </p:nvPicPr>
        <p:blipFill rotWithShape="1">
          <a:blip r:embed="rId2"/>
          <a:srcRect l="1438" t="10883" r="26354" b="13698"/>
          <a:stretch/>
        </p:blipFill>
        <p:spPr>
          <a:xfrm>
            <a:off x="3529583" y="2926079"/>
            <a:ext cx="5486128" cy="3694177"/>
          </a:xfrm>
          <a:prstGeom prst="rect">
            <a:avLst/>
          </a:prstGeom>
          <a:ln w="88900" cap="sq" cmpd="thickThin">
            <a:solidFill>
              <a:srgbClr val="000000"/>
            </a:solidFill>
            <a:prstDash val="solid"/>
            <a:miter lim="800000"/>
          </a:ln>
          <a:effectLst>
            <a:innerShdw blurRad="76200">
              <a:srgbClr val="000000"/>
            </a:innerShdw>
          </a:effectLst>
        </p:spPr>
      </p:pic>
      <p:pic>
        <p:nvPicPr>
          <p:cNvPr id="3" name="Picture 1" descr="A screenshot of a computer&#10;&#10;Description automatically generated">
            <a:extLst>
              <a:ext uri="{FF2B5EF4-FFF2-40B4-BE49-F238E27FC236}">
                <a16:creationId xmlns:a16="http://schemas.microsoft.com/office/drawing/2014/main" id="{611659BD-B326-1FA8-2DEC-E5EC77923AD4}"/>
              </a:ext>
            </a:extLst>
          </p:cNvPr>
          <p:cNvPicPr>
            <a:picLocks noChangeAspect="1"/>
          </p:cNvPicPr>
          <p:nvPr/>
        </p:nvPicPr>
        <p:blipFill>
          <a:blip r:embed="rId3"/>
          <a:stretch>
            <a:fillRect/>
          </a:stretch>
        </p:blipFill>
        <p:spPr>
          <a:xfrm>
            <a:off x="503618" y="2158472"/>
            <a:ext cx="4071151" cy="254105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912348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rgbClr val="FFFF00"/>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53121F18-5A04-BFDC-B67E-F98BD71D75EC}"/>
              </a:ext>
            </a:extLst>
          </p:cNvPr>
          <p:cNvPicPr>
            <a:picLocks noChangeAspect="1"/>
          </p:cNvPicPr>
          <p:nvPr/>
        </p:nvPicPr>
        <p:blipFill>
          <a:blip r:embed="rId2"/>
          <a:stretch>
            <a:fillRect/>
          </a:stretch>
        </p:blipFill>
        <p:spPr>
          <a:xfrm>
            <a:off x="1216152" y="1956361"/>
            <a:ext cx="7166783" cy="465475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0818811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rgbClr val="FFFF00"/>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53121F18-5A04-BFDC-B67E-F98BD71D75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81800" y="1956361"/>
            <a:ext cx="7035487" cy="465475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290143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rgbClr val="FFFF00"/>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53121F18-5A04-BFDC-B67E-F98BD71D75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16152" y="1956915"/>
            <a:ext cx="7166783" cy="465364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7356791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C" dirty="0"/>
              <a:t>CLIENTE WEB - ejecución</a:t>
            </a:r>
          </a:p>
        </p:txBody>
      </p:sp>
      <p:sp>
        <p:nvSpPr>
          <p:cNvPr id="8" name="Rectangle 5">
            <a:extLst>
              <a:ext uri="{FF2B5EF4-FFF2-40B4-BE49-F238E27FC236}">
                <a16:creationId xmlns:a16="http://schemas.microsoft.com/office/drawing/2014/main" id="{2EB8D3F2-A175-1A58-651C-689066F8968B}"/>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rgbClr val="FFFF00"/>
                </a:solidFill>
              </a:rPr>
              <a:t>CLIENTE WEB</a:t>
            </a:r>
          </a:p>
          <a:p>
            <a:pPr marL="800100" lvl="1" indent="-342900">
              <a:buFont typeface="+mj-lt"/>
              <a:buAutoNum type="arabicPeriod"/>
            </a:pPr>
            <a:r>
              <a:rPr lang="es-ES" sz="1600" dirty="0">
                <a:solidFill>
                  <a:schemeClr val="bg1"/>
                </a:solidFill>
              </a:rPr>
              <a:t>Referencia de servicio</a:t>
            </a:r>
          </a:p>
          <a:p>
            <a:pPr marL="800100" lvl="1" indent="-342900">
              <a:buFont typeface="+mj-lt"/>
              <a:buAutoNum type="arabicPeriod"/>
            </a:pPr>
            <a:r>
              <a:rPr lang="es-ES" sz="1600" dirty="0">
                <a:solidFill>
                  <a:schemeClr val="bg1"/>
                </a:solidFill>
              </a:rPr>
              <a:t>Página Iniciar Sesión</a:t>
            </a:r>
          </a:p>
          <a:p>
            <a:pPr marL="800100" lvl="1" indent="-342900">
              <a:buFont typeface="+mj-lt"/>
              <a:buAutoNum type="arabicPeriod"/>
            </a:pPr>
            <a:r>
              <a:rPr lang="es-ES" sz="1600" dirty="0">
                <a:solidFill>
                  <a:schemeClr val="bg1"/>
                </a:solidFill>
              </a:rPr>
              <a:t>Página Registrarse</a:t>
            </a:r>
          </a:p>
          <a:p>
            <a:pPr marL="800100" lvl="1" indent="-342900">
              <a:buFont typeface="+mj-lt"/>
              <a:buAutoNum type="arabicPeriod"/>
            </a:pPr>
            <a:r>
              <a:rPr lang="es-ES" sz="1600" dirty="0">
                <a:solidFill>
                  <a:schemeClr val="bg1"/>
                </a:solidFill>
              </a:rPr>
              <a:t>Página Conversión</a:t>
            </a:r>
          </a:p>
          <a:p>
            <a:pPr marL="800100" lvl="1" indent="-342900">
              <a:buFont typeface="+mj-lt"/>
              <a:buAutoNum type="arabicPeriod"/>
            </a:pPr>
            <a:r>
              <a:rPr lang="es-ES" sz="1600" dirty="0">
                <a:solidFill>
                  <a:srgbClr val="FFFF00"/>
                </a:solidFill>
              </a:rPr>
              <a:t>Ejecución</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pic>
        <p:nvPicPr>
          <p:cNvPr id="3" name="Imagen 2">
            <a:extLst>
              <a:ext uri="{FF2B5EF4-FFF2-40B4-BE49-F238E27FC236}">
                <a16:creationId xmlns:a16="http://schemas.microsoft.com/office/drawing/2014/main" id="{53121F18-5A04-BFDC-B67E-F98BD71D75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82638" y="1956915"/>
            <a:ext cx="7033811" cy="465364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520213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a:t>CONCLUSIONES</a:t>
            </a:r>
            <a:endParaRPr lang="es-EC"/>
          </a:p>
        </p:txBody>
      </p:sp>
      <p:sp>
        <p:nvSpPr>
          <p:cNvPr id="3" name="Content Placeholder 2">
            <a:extLst>
              <a:ext uri="{FF2B5EF4-FFF2-40B4-BE49-F238E27FC236}">
                <a16:creationId xmlns:a16="http://schemas.microsoft.com/office/drawing/2014/main" id="{36B30EDA-F2A7-4342-B586-213FA1382899}"/>
              </a:ext>
            </a:extLst>
          </p:cNvPr>
          <p:cNvSpPr>
            <a:spLocks noGrp="1"/>
          </p:cNvSpPr>
          <p:nvPr>
            <p:ph idx="1"/>
          </p:nvPr>
        </p:nvSpPr>
        <p:spPr>
          <a:xfrm>
            <a:off x="569552" y="2301347"/>
            <a:ext cx="8383061" cy="3929332"/>
          </a:xfrm>
        </p:spPr>
        <p:txBody>
          <a:bodyPr>
            <a:normAutofit lnSpcReduction="10000"/>
          </a:bodyPr>
          <a:lstStyle/>
          <a:p>
            <a:pPr marL="342900" lvl="0" indent="-342900" algn="just">
              <a:lnSpc>
                <a:spcPct val="115000"/>
              </a:lnSpc>
              <a:buFont typeface="Symbol" panose="05050102010706020507" pitchFamily="18" charset="2"/>
              <a:buChar char=""/>
            </a:pPr>
            <a:r>
              <a:rPr lang="es-ES" sz="1800" dirty="0">
                <a:effectLst/>
                <a:latin typeface="Times New Roman" panose="02020603050405020304" pitchFamily="18" charset="0"/>
                <a:ea typeface="Calibri" panose="020F0502020204030204" pitchFamily="34" charset="0"/>
              </a:rPr>
              <a:t>Los servicios SOAP son altamente interoperables, lo que significa que pueden ser utilizados en diferentes plataformas y lenguajes de programación. Esto los hace ideales para entornos heterogéneos donde la compatibilidad es una preocupación clave.</a:t>
            </a:r>
          </a:p>
          <a:p>
            <a:pPr marL="342900" lvl="0" indent="-342900" algn="just">
              <a:lnSpc>
                <a:spcPct val="115000"/>
              </a:lnSpc>
              <a:buFont typeface="Symbol" panose="05050102010706020507" pitchFamily="18" charset="2"/>
              <a:buChar char=""/>
            </a:pPr>
            <a:r>
              <a:rPr lang="es-ES" sz="1800" dirty="0">
                <a:effectLst/>
                <a:latin typeface="Times New Roman" panose="02020603050405020304" pitchFamily="18" charset="0"/>
                <a:ea typeface="Calibri" panose="020F0502020204030204" pitchFamily="34" charset="0"/>
                <a:cs typeface="Times New Roman" panose="02020603050405020304" pitchFamily="18" charset="0"/>
              </a:rPr>
              <a:t>SOAP es un protocolo basado en estándares establecidos por la W3C, lo que asegura un alto grado de consistencia y fiabilidad. Además, SOAP incluye extensiones como WS-Security que proporcionan un marco robusto para la seguridad de mensajes, incluyendo autenticación, integridad y confidencialidad.</a:t>
            </a:r>
            <a:endParaRPr lang="es-EC"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s-ES" sz="1800" dirty="0">
                <a:effectLst/>
                <a:latin typeface="Times New Roman" panose="02020603050405020304" pitchFamily="18" charset="0"/>
                <a:ea typeface="Calibri" panose="020F0502020204030204" pitchFamily="34" charset="0"/>
                <a:cs typeface="Times New Roman" panose="02020603050405020304" pitchFamily="18" charset="0"/>
              </a:rPr>
              <a:t>SOAP es adecuado para realizar operaciones complejas, como transacciones y secuencias de operaciones, debido a su capacidad para transportar datos estructurados de manera fiable. La definición precisa de contratos de servicio (WSDL) facilita la implementación y el mantenimiento de estas operaciones.</a:t>
            </a:r>
          </a:p>
          <a:p>
            <a:pPr marL="342900" lvl="0" indent="-342900" algn="just">
              <a:lnSpc>
                <a:spcPct val="107000"/>
              </a:lnSpc>
              <a:buFont typeface="Symbol" panose="05050102010706020507" pitchFamily="18" charset="2"/>
              <a:buChar char=""/>
            </a:pPr>
            <a:endParaRPr lang="es-EC"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5">
            <a:extLst>
              <a:ext uri="{FF2B5EF4-FFF2-40B4-BE49-F238E27FC236}">
                <a16:creationId xmlns:a16="http://schemas.microsoft.com/office/drawing/2014/main" id="{D08E9F68-A28B-AD58-EFDF-8F07CEAFB616}"/>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chemeClr val="bg1"/>
                </a:solidFill>
              </a:rPr>
              <a:t>CLIENTE WEB</a:t>
            </a:r>
          </a:p>
          <a:p>
            <a:pPr marL="342900" indent="-342900">
              <a:buFont typeface="+mj-lt"/>
              <a:buAutoNum type="arabicPeriod"/>
            </a:pPr>
            <a:r>
              <a:rPr lang="es-ES" sz="1600" dirty="0">
                <a:solidFill>
                  <a:srgbClr val="FFFF00"/>
                </a:solidFill>
              </a:rPr>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t>REFERENCIAS	</a:t>
            </a:r>
          </a:p>
        </p:txBody>
      </p:sp>
    </p:spTree>
    <p:extLst>
      <p:ext uri="{BB962C8B-B14F-4D97-AF65-F5344CB8AC3E}">
        <p14:creationId xmlns:p14="http://schemas.microsoft.com/office/powerpoint/2010/main" val="4162829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a:t>recomendaciones</a:t>
            </a:r>
            <a:endParaRPr lang="es-EC"/>
          </a:p>
        </p:txBody>
      </p:sp>
      <p:sp>
        <p:nvSpPr>
          <p:cNvPr id="3" name="Content Placeholder 2">
            <a:extLst>
              <a:ext uri="{FF2B5EF4-FFF2-40B4-BE49-F238E27FC236}">
                <a16:creationId xmlns:a16="http://schemas.microsoft.com/office/drawing/2014/main" id="{36B30EDA-F2A7-4342-B586-213FA1382899}"/>
              </a:ext>
            </a:extLst>
          </p:cNvPr>
          <p:cNvSpPr>
            <a:spLocks noGrp="1"/>
          </p:cNvSpPr>
          <p:nvPr>
            <p:ph idx="1"/>
          </p:nvPr>
        </p:nvSpPr>
        <p:spPr>
          <a:xfrm>
            <a:off x="569552" y="2301347"/>
            <a:ext cx="8383061" cy="3716681"/>
          </a:xfrm>
        </p:spPr>
        <p:txBody>
          <a:bodyPr>
            <a:normAutofit/>
          </a:bodyPr>
          <a:lstStyle/>
          <a:p>
            <a:pPr marL="342900" lvl="0" indent="-342900" algn="just">
              <a:lnSpc>
                <a:spcPct val="115000"/>
              </a:lnSpc>
              <a:buFont typeface="Symbol" panose="05050102010706020507" pitchFamily="18" charset="2"/>
              <a:buChar char=""/>
            </a:pPr>
            <a:r>
              <a:rPr lang="es-ES" sz="1800" dirty="0">
                <a:effectLst/>
                <a:latin typeface="Times New Roman" panose="02020603050405020304" pitchFamily="18" charset="0"/>
                <a:ea typeface="Calibri" panose="020F0502020204030204" pitchFamily="34" charset="0"/>
                <a:cs typeface="Times New Roman" panose="02020603050405020304" pitchFamily="18" charset="0"/>
              </a:rPr>
              <a:t>Antes de optar por SOAP, evalúe si realmente se necesita su robustez y características avanzadas, especialmente si REST o otros protocolos más ligeros podrían satisfacer los requisitos del proyecto con menor complejidad.</a:t>
            </a:r>
          </a:p>
          <a:p>
            <a:pPr marL="342900" lvl="0" indent="-342900" algn="just">
              <a:lnSpc>
                <a:spcPct val="115000"/>
              </a:lnSpc>
              <a:buFont typeface="Symbol" panose="05050102010706020507" pitchFamily="18" charset="2"/>
              <a:buChar char=""/>
            </a:pPr>
            <a:r>
              <a:rPr lang="es-ES" sz="1800" dirty="0">
                <a:effectLst/>
                <a:latin typeface="Times New Roman" panose="02020603050405020304" pitchFamily="18" charset="0"/>
                <a:ea typeface="Calibri" panose="020F0502020204030204" pitchFamily="34" charset="0"/>
                <a:cs typeface="Times New Roman" panose="02020603050405020304" pitchFamily="18" charset="0"/>
              </a:rPr>
              <a:t>Para mitigar el </a:t>
            </a:r>
            <a:r>
              <a:rPr lang="es-ES" sz="1800" dirty="0" err="1">
                <a:effectLst/>
                <a:latin typeface="Times New Roman" panose="02020603050405020304" pitchFamily="18" charset="0"/>
                <a:ea typeface="Calibri" panose="020F0502020204030204" pitchFamily="34" charset="0"/>
                <a:cs typeface="Times New Roman" panose="02020603050405020304" pitchFamily="18" charset="0"/>
              </a:rPr>
              <a:t>overhead</a:t>
            </a:r>
            <a:r>
              <a:rPr lang="es-ES" sz="1800" dirty="0">
                <a:effectLst/>
                <a:latin typeface="Times New Roman" panose="02020603050405020304" pitchFamily="18" charset="0"/>
                <a:ea typeface="Calibri" panose="020F0502020204030204" pitchFamily="34" charset="0"/>
                <a:cs typeface="Times New Roman" panose="02020603050405020304" pitchFamily="18" charset="0"/>
              </a:rPr>
              <a:t>, optimice el XML utilizado en los mensajes SOAP. Esto incluye el uso de compresión y la eliminación de datos redundantes. También considere el uso de formatos binarios para la codificación de mensajes cuando sea apropiado.</a:t>
            </a:r>
          </a:p>
          <a:p>
            <a:pPr marL="342900" lvl="0" indent="-342900" algn="just">
              <a:lnSpc>
                <a:spcPct val="107000"/>
              </a:lnSpc>
              <a:buFont typeface="Symbol" panose="05050102010706020507" pitchFamily="18" charset="2"/>
              <a:buChar char=""/>
            </a:pPr>
            <a:r>
              <a:rPr lang="es-E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Aproveche las extensiones de seguridad de SOAP como WS-Security. Asegúrese de implementar mecanismos adecuados de autenticación, autorización y encriptación para proteger los datos transmitidos a través de los servicios SOAP.</a:t>
            </a:r>
            <a:endParaRPr lang="es-EC"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5">
            <a:extLst>
              <a:ext uri="{FF2B5EF4-FFF2-40B4-BE49-F238E27FC236}">
                <a16:creationId xmlns:a16="http://schemas.microsoft.com/office/drawing/2014/main" id="{28D9F134-44B8-634F-A446-9455D1D0C172}"/>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chemeClr val="bg1"/>
                </a:solidFill>
              </a:rPr>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solidFill>
                  <a:srgbClr val="FFFF00"/>
                </a:solidFill>
              </a:rPr>
              <a:t>RECOMENDACIONES	</a:t>
            </a:r>
          </a:p>
          <a:p>
            <a:pPr marL="342900" indent="-342900">
              <a:buFont typeface="+mj-lt"/>
              <a:buAutoNum type="arabicPeriod"/>
            </a:pPr>
            <a:r>
              <a:rPr lang="es-ES" sz="1600" dirty="0"/>
              <a:t>REFERENCIAS	</a:t>
            </a:r>
          </a:p>
        </p:txBody>
      </p:sp>
    </p:spTree>
    <p:extLst>
      <p:ext uri="{BB962C8B-B14F-4D97-AF65-F5344CB8AC3E}">
        <p14:creationId xmlns:p14="http://schemas.microsoft.com/office/powerpoint/2010/main" val="26198089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804A-73CA-4EBD-942A-7BDE45367170}"/>
              </a:ext>
            </a:extLst>
          </p:cNvPr>
          <p:cNvSpPr>
            <a:spLocks noGrp="1"/>
          </p:cNvSpPr>
          <p:nvPr>
            <p:ph type="title"/>
          </p:nvPr>
        </p:nvSpPr>
        <p:spPr/>
        <p:txBody>
          <a:bodyPr/>
          <a:lstStyle/>
          <a:p>
            <a:r>
              <a:rPr lang="es-ES"/>
              <a:t>bibliografía</a:t>
            </a:r>
            <a:endParaRPr lang="es-EC"/>
          </a:p>
        </p:txBody>
      </p:sp>
      <p:sp>
        <p:nvSpPr>
          <p:cNvPr id="7" name="Content Placeholder 6">
            <a:extLst>
              <a:ext uri="{FF2B5EF4-FFF2-40B4-BE49-F238E27FC236}">
                <a16:creationId xmlns:a16="http://schemas.microsoft.com/office/drawing/2014/main" id="{AAD68A0B-0166-4860-81EF-8EA24F40C44A}"/>
              </a:ext>
            </a:extLst>
          </p:cNvPr>
          <p:cNvSpPr>
            <a:spLocks noGrp="1"/>
          </p:cNvSpPr>
          <p:nvPr>
            <p:ph idx="1"/>
          </p:nvPr>
        </p:nvSpPr>
        <p:spPr>
          <a:xfrm>
            <a:off x="581193" y="1908313"/>
            <a:ext cx="8483294" cy="4850296"/>
          </a:xfrm>
        </p:spPr>
        <p:txBody>
          <a:bodyPr>
            <a:normAutofit fontScale="77500" lnSpcReduction="20000"/>
          </a:bodyPr>
          <a:lstStyle/>
          <a:p>
            <a:pPr marL="342900" lvl="0" indent="-342900">
              <a:lnSpc>
                <a:spcPct val="106000"/>
              </a:lnSpc>
              <a:spcAft>
                <a:spcPts val="800"/>
              </a:spcAft>
              <a:buFont typeface="Wingdings" panose="05000000000000000000" pitchFamily="2"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http://www.jtech.ua.es/j2ee/publico/servc-web-2012-13/sesion01-apuntes.html</a:t>
            </a:r>
          </a:p>
          <a:p>
            <a:pPr marL="342900" lvl="0" indent="-342900">
              <a:lnSpc>
                <a:spcPct val="106000"/>
              </a:lnSpc>
              <a:spcAft>
                <a:spcPts val="800"/>
              </a:spcAft>
              <a:buFont typeface="Wingdings" panose="05000000000000000000" pitchFamily="2"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https://www.oscarblancarteblog.com/2017/03/06/soap-vs-rest-2/</a:t>
            </a:r>
          </a:p>
          <a:p>
            <a:pPr marL="342900" lvl="0" indent="-342900">
              <a:lnSpc>
                <a:spcPct val="106000"/>
              </a:lnSpc>
              <a:spcAft>
                <a:spcPts val="800"/>
              </a:spcAft>
              <a:buFont typeface="Wingdings" panose="05000000000000000000" pitchFamily="2"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https://drive.google.com/drive/folders/1xJuDUrSHsC_YKsmO3lB27IdC93PLdMlp</a:t>
            </a:r>
          </a:p>
          <a:p>
            <a:pPr marL="342900" lvl="0" indent="-342900">
              <a:lnSpc>
                <a:spcPct val="106000"/>
              </a:lnSpc>
              <a:spcAft>
                <a:spcPts val="800"/>
              </a:spcAft>
              <a:buFont typeface="Wingdings" panose="05000000000000000000" pitchFamily="2"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MIS.MDU.CCNA.CCIA., I. E. (2018). Ejemplo Práctico de SOAP. Quito</a:t>
            </a:r>
          </a:p>
          <a:p>
            <a:pPr marL="342900" lvl="0" indent="-342900">
              <a:lnSpc>
                <a:spcPct val="106000"/>
              </a:lnSpc>
              <a:spcAft>
                <a:spcPts val="800"/>
              </a:spcAft>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Ibm.com. (2019). IBM Knowledge Center. [online] Available at: https://www.ibm.com/support/knowledgecenter/es/SSMKHH_9.0.0/com.ibm.etools.mft.doc/ac55710_.htm [Accessed 13 Oct. 2019].</a:t>
            </a:r>
            <a:endParaRPr lang="es-EC"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Introducción a los Servicios Web. Invocación de servicios web SOAP.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(2019). Jtech.ua.es. Retrieved 2 October 2019, from http://www.jtech.ua.es/j2ee/publico/servc-web-2012-13/sesion01-apuntes.html</a:t>
            </a:r>
            <a:endParaRPr lang="es-EC"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How to Perform SOAP Requests With Node.js. (2019). Medium. Retrieved 9 November 2019, from https://medium.com/better-programming/how-to-perform-soap-requests-with-node-js-4a9627070eb6.</a:t>
            </a:r>
            <a:endParaRPr lang="es-EC"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Step-by-step SOAP web services example in Java using Eclipse. (2019). Theserverside.com. Retrieved 9 November 2019, from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https://www.theserverside.com/video/Step-by-step-SOAP-web-services-example-in-Java-using-Eclipse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s-EC"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Oliveira, W. (2017, junio 23). ¿Qué es BPM? Definición y aplicaciones para su negocio (Recomendado). </a:t>
            </a:r>
            <a:r>
              <a:rPr lang="es-EC" sz="1800" i="1" dirty="0">
                <a:effectLst/>
                <a:latin typeface="Times New Roman" panose="02020603050405020304" pitchFamily="18" charset="0"/>
                <a:ea typeface="Calibri" panose="020F0502020204030204" pitchFamily="34" charset="0"/>
                <a:cs typeface="Times New Roman" panose="02020603050405020304" pitchFamily="18" charset="0"/>
              </a:rPr>
              <a:t>HEFLO ES</a:t>
            </a: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s-EC"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https://www.heflo.com/es/blog/bpm/que-es-bpm/</a:t>
            </a:r>
            <a:endParaRPr lang="es-EC"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Documentación recolectada y brindada por el Ingeniero Master Monster (</a:t>
            </a:r>
            <a:r>
              <a:rPr lang="es-EC" sz="1800" dirty="0" err="1">
                <a:effectLst/>
                <a:latin typeface="Times New Roman" panose="02020603050405020304" pitchFamily="18" charset="0"/>
                <a:ea typeface="Calibri" panose="020F0502020204030204" pitchFamily="34" charset="0"/>
                <a:cs typeface="Times New Roman" panose="02020603050405020304" pitchFamily="18" charset="0"/>
              </a:rPr>
              <a:t>Ing.Mauricio</a:t>
            </a:r>
            <a:r>
              <a:rPr lang="es-EC" sz="1800" dirty="0">
                <a:effectLst/>
                <a:latin typeface="Times New Roman" panose="02020603050405020304" pitchFamily="18" charset="0"/>
                <a:ea typeface="Calibri" panose="020F0502020204030204" pitchFamily="34" charset="0"/>
                <a:cs typeface="Times New Roman" panose="02020603050405020304" pitchFamily="18" charset="0"/>
              </a:rPr>
              <a:t> Campaña).</a:t>
            </a:r>
          </a:p>
          <a:p>
            <a:pPr marL="0" indent="0">
              <a:buNone/>
            </a:pPr>
            <a:endParaRPr lang="es-EC" dirty="0"/>
          </a:p>
        </p:txBody>
      </p:sp>
      <p:sp>
        <p:nvSpPr>
          <p:cNvPr id="3" name="Rectangle 5">
            <a:extLst>
              <a:ext uri="{FF2B5EF4-FFF2-40B4-BE49-F238E27FC236}">
                <a16:creationId xmlns:a16="http://schemas.microsoft.com/office/drawing/2014/main" id="{2111F876-71FC-C7EC-3F2C-D53AD2F6D366}"/>
              </a:ext>
            </a:extLst>
          </p:cNvPr>
          <p:cNvSpPr/>
          <p:nvPr/>
        </p:nvSpPr>
        <p:spPr>
          <a:xfrm>
            <a:off x="9260958" y="0"/>
            <a:ext cx="2931042"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u="sng" dirty="0"/>
              <a:t>WS SOAP CONVERSIÓN DE UNIDADES</a:t>
            </a:r>
          </a:p>
          <a:p>
            <a:pPr algn="ctr"/>
            <a:endParaRPr lang="es-ES" sz="1600" b="1" u="sng" dirty="0"/>
          </a:p>
          <a:p>
            <a:pPr marL="342900" indent="-342900">
              <a:buFont typeface="+mj-lt"/>
              <a:buAutoNum type="arabicPeriod"/>
            </a:pPr>
            <a:r>
              <a:rPr lang="es-ES" sz="1600" dirty="0">
                <a:solidFill>
                  <a:schemeClr val="bg1"/>
                </a:solidFill>
              </a:rPr>
              <a:t>INTRODUCCIÓN</a:t>
            </a:r>
            <a:r>
              <a:rPr lang="es-ES" sz="1600" dirty="0"/>
              <a:t>	</a:t>
            </a:r>
          </a:p>
          <a:p>
            <a:pPr marL="342900" indent="-342900">
              <a:buFont typeface="+mj-lt"/>
              <a:buAutoNum type="arabicPeriod"/>
            </a:pPr>
            <a:r>
              <a:rPr lang="es-ES" sz="1600" dirty="0">
                <a:solidFill>
                  <a:schemeClr val="bg1"/>
                </a:solidFill>
              </a:rPr>
              <a:t>OBJETIVO	</a:t>
            </a:r>
          </a:p>
          <a:p>
            <a:pPr marL="342900" indent="-342900">
              <a:buFont typeface="+mj-lt"/>
              <a:buAutoNum type="arabicPeriod"/>
            </a:pPr>
            <a:r>
              <a:rPr lang="es-ES" sz="1600" dirty="0">
                <a:solidFill>
                  <a:schemeClr val="bg1"/>
                </a:solidFill>
              </a:rPr>
              <a:t>MARCO TEÓRICO	</a:t>
            </a:r>
          </a:p>
          <a:p>
            <a:pPr marL="342900" indent="-342900">
              <a:buFont typeface="+mj-lt"/>
              <a:buAutoNum type="arabicPeriod"/>
            </a:pPr>
            <a:r>
              <a:rPr lang="es-ES" sz="1600" dirty="0">
                <a:solidFill>
                  <a:schemeClr val="bg1"/>
                </a:solidFill>
              </a:rPr>
              <a:t>CONFIGURACIÓN IP ESTÁTICA	</a:t>
            </a:r>
          </a:p>
          <a:p>
            <a:pPr marL="342900" indent="-342900">
              <a:buFont typeface="+mj-lt"/>
              <a:buAutoNum type="arabicPeriod"/>
            </a:pPr>
            <a:r>
              <a:rPr lang="es-ES" sz="1600" dirty="0">
                <a:solidFill>
                  <a:schemeClr val="bg1"/>
                </a:solidFill>
              </a:rPr>
              <a:t>CREACIÓN DEL SERVIDOR</a:t>
            </a:r>
          </a:p>
          <a:p>
            <a:pPr marL="342900" indent="-342900">
              <a:buFont typeface="+mj-lt"/>
              <a:buAutoNum type="arabicPeriod"/>
            </a:pPr>
            <a:r>
              <a:rPr lang="es-ES" sz="1600" dirty="0">
                <a:solidFill>
                  <a:schemeClr val="bg1"/>
                </a:solidFill>
              </a:rPr>
              <a:t>CLIENTE CONSOLA</a:t>
            </a:r>
          </a:p>
          <a:p>
            <a:pPr marL="342900" indent="-342900">
              <a:buFont typeface="+mj-lt"/>
              <a:buAutoNum type="arabicPeriod"/>
            </a:pPr>
            <a:r>
              <a:rPr lang="es-ES" sz="1600" dirty="0">
                <a:solidFill>
                  <a:schemeClr val="bg1"/>
                </a:solidFill>
              </a:rPr>
              <a:t>CLLIENTE ESCRITORIO</a:t>
            </a:r>
          </a:p>
          <a:p>
            <a:pPr marL="342900" indent="-342900">
              <a:buFont typeface="+mj-lt"/>
              <a:buAutoNum type="arabicPeriod"/>
            </a:pPr>
            <a:r>
              <a:rPr lang="es-ES" sz="1600" dirty="0">
                <a:solidFill>
                  <a:schemeClr val="bg1"/>
                </a:solidFill>
              </a:rPr>
              <a:t>CLIENTE MÓVIL</a:t>
            </a:r>
          </a:p>
          <a:p>
            <a:pPr marL="342900" indent="-342900">
              <a:buFont typeface="+mj-lt"/>
              <a:buAutoNum type="arabicPeriod"/>
            </a:pPr>
            <a:r>
              <a:rPr lang="es-ES" sz="1600" dirty="0">
                <a:solidFill>
                  <a:schemeClr val="bg1"/>
                </a:solidFill>
              </a:rPr>
              <a:t>CLIENTE WEB</a:t>
            </a:r>
          </a:p>
          <a:p>
            <a:pPr marL="342900" indent="-342900">
              <a:buFont typeface="+mj-lt"/>
              <a:buAutoNum type="arabicPeriod"/>
            </a:pPr>
            <a:r>
              <a:rPr lang="es-ES" sz="1600" dirty="0"/>
              <a:t>CONCLUSIONES	</a:t>
            </a:r>
          </a:p>
          <a:p>
            <a:pPr marL="342900" indent="-342900">
              <a:buFont typeface="+mj-lt"/>
              <a:buAutoNum type="arabicPeriod"/>
            </a:pPr>
            <a:r>
              <a:rPr lang="es-ES" sz="1600" dirty="0"/>
              <a:t>RECOMENDACIONES	</a:t>
            </a:r>
          </a:p>
          <a:p>
            <a:pPr marL="342900" indent="-342900">
              <a:buFont typeface="+mj-lt"/>
              <a:buAutoNum type="arabicPeriod"/>
            </a:pPr>
            <a:r>
              <a:rPr lang="es-ES" sz="1600" dirty="0">
                <a:solidFill>
                  <a:srgbClr val="FFFF00"/>
                </a:solidFill>
              </a:rPr>
              <a:t>REFERENCIAS	</a:t>
            </a:r>
          </a:p>
        </p:txBody>
      </p:sp>
    </p:spTree>
    <p:extLst>
      <p:ext uri="{BB962C8B-B14F-4D97-AF65-F5344CB8AC3E}">
        <p14:creationId xmlns:p14="http://schemas.microsoft.com/office/powerpoint/2010/main" val="3451925188"/>
      </p:ext>
    </p:extLst>
  </p:cSld>
  <p:clrMapOvr>
    <a:masterClrMapping/>
  </p:clrMapOvr>
</p:sld>
</file>

<file path=ppt/theme/theme1.xml><?xml version="1.0" encoding="utf-8"?>
<a:theme xmlns:a="http://schemas.openxmlformats.org/drawingml/2006/main" name="Theme1">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heme1" id="{17CB59EE-027B-4B62-9C3F-9AEAA5DCE8D2}" vid="{7944465F-A04B-4F32-8C4C-2BC9458DB2D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968</TotalTime>
  <Words>4662</Words>
  <Application>Microsoft Office PowerPoint</Application>
  <PresentationFormat>Panorámica</PresentationFormat>
  <Paragraphs>1622</Paragraphs>
  <Slides>82</Slides>
  <Notes>2</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82</vt:i4>
      </vt:variant>
    </vt:vector>
  </HeadingPairs>
  <TitlesOfParts>
    <vt:vector size="92" baseType="lpstr">
      <vt:lpstr>Arial</vt:lpstr>
      <vt:lpstr>Calibri</vt:lpstr>
      <vt:lpstr>Gill Sans</vt:lpstr>
      <vt:lpstr>Gill Sans MT</vt:lpstr>
      <vt:lpstr>Noto Sans Symbols</vt:lpstr>
      <vt:lpstr>Symbol</vt:lpstr>
      <vt:lpstr>Times New Roman</vt:lpstr>
      <vt:lpstr>Wingdings</vt:lpstr>
      <vt:lpstr>Wingdings 2</vt:lpstr>
      <vt:lpstr>Theme1</vt:lpstr>
      <vt:lpstr>WEB SERVICE soap conversión de unidades</vt:lpstr>
      <vt:lpstr>Presentación de PowerPoint</vt:lpstr>
      <vt:lpstr>INTRODUCCIÓN</vt:lpstr>
      <vt:lpstr>OBJETIVO</vt:lpstr>
      <vt:lpstr>MARCO TEÓRICO</vt:lpstr>
      <vt:lpstr>MARCO TEÓRICO</vt:lpstr>
      <vt:lpstr>MARCO TEÓRICO</vt:lpstr>
      <vt:lpstr>CONFIGURACIÓN IP ESTÁTICA</vt:lpstr>
      <vt:lpstr>CONFIGURACIÓN IP ESTÁTICA</vt:lpstr>
      <vt:lpstr>CONFIGURACIÓN IP ESTÁTICA</vt:lpstr>
      <vt:lpstr>CONFIGURACIÓN IP ESTÁTICA</vt:lpstr>
      <vt:lpstr>CONFIGURACIÓN IP ESTÁTICA (Ordenador 1)</vt:lpstr>
      <vt:lpstr>CONFIGURACIÓN IP ESTÁTICA (Ordenador 2)</vt:lpstr>
      <vt:lpstr>Creación del servidor</vt:lpstr>
      <vt:lpstr>Creación del servidor</vt:lpstr>
      <vt:lpstr>Creación del servidor</vt:lpstr>
      <vt:lpstr>Paquete model</vt:lpstr>
      <vt:lpstr>Paquete model</vt:lpstr>
      <vt:lpstr>Paquete model</vt:lpstr>
      <vt:lpstr>Paquete model</vt:lpstr>
      <vt:lpstr>Paquete model</vt:lpstr>
      <vt:lpstr>Paquete SERVICE</vt:lpstr>
      <vt:lpstr>Paquete SERVICE</vt:lpstr>
      <vt:lpstr>Paquete SERVICE</vt:lpstr>
      <vt:lpstr>Paquete SERVICE</vt:lpstr>
      <vt:lpstr>Paquete Ws – web service</vt:lpstr>
      <vt:lpstr>Paquete Ws – web service</vt:lpstr>
      <vt:lpstr>Paquete Ws – web service</vt:lpstr>
      <vt:lpstr>Paquete Ws – web service</vt:lpstr>
      <vt:lpstr>Paquete de pruebas</vt:lpstr>
      <vt:lpstr>EJECUCIÓN DEL SERVIDOR</vt:lpstr>
      <vt:lpstr>EJECUCIÓN DEL SERVIDOR</vt:lpstr>
      <vt:lpstr>CLIENTE CONSOLA – Nuevo proyecto</vt:lpstr>
      <vt:lpstr>CLIENTE CONSOLA – referencia de servicio</vt:lpstr>
      <vt:lpstr>CLIENTE CONSOLA - Service</vt:lpstr>
      <vt:lpstr>CLIENTE CONSOLA - Service</vt:lpstr>
      <vt:lpstr>CLIENTE CONSOLA - Service</vt:lpstr>
      <vt:lpstr>CLIENTE CONSOLA - controller</vt:lpstr>
      <vt:lpstr>CLIENTE CONSOLA - View</vt:lpstr>
      <vt:lpstr>CLIENTE CONSOLA - View</vt:lpstr>
      <vt:lpstr>CLIENTE CONSOLA - ejecución</vt:lpstr>
      <vt:lpstr>CLIENTE ESCRITORIO</vt:lpstr>
      <vt:lpstr>CLIENTE ESCRITORIO – REFERENCIA DE SERVICIO</vt:lpstr>
      <vt:lpstr>CLIENTE ESCRITORIO - service</vt:lpstr>
      <vt:lpstr>CLIENTE ESCRITORIO - service</vt:lpstr>
      <vt:lpstr>CLIENTE ESCRITORIO - controller</vt:lpstr>
      <vt:lpstr>CLIENTE ESCRITORIO - controller</vt:lpstr>
      <vt:lpstr>CLIENTE ESCRITORIO - view</vt:lpstr>
      <vt:lpstr>CLIENTE ESCRITORIO - view</vt:lpstr>
      <vt:lpstr>CLIENTE ESCRITORIO - view</vt:lpstr>
      <vt:lpstr>CLIENTE ESCRITORIO - view</vt:lpstr>
      <vt:lpstr>CLIENTE ESCRITORIO - ejecución</vt:lpstr>
      <vt:lpstr>CLIENTE ESCRITORIO - ejecución</vt:lpstr>
      <vt:lpstr>CLIENTE ESCRITORIO - ejecución</vt:lpstr>
      <vt:lpstr>CLIENTE mÓVIL</vt:lpstr>
      <vt:lpstr>CLIENTE mÓVIL</vt:lpstr>
      <vt:lpstr>CLIENTE mÓVIL -CONTROLLER</vt:lpstr>
      <vt:lpstr>CLIENTE mÓVIL -CONTROLLER</vt:lpstr>
      <vt:lpstr>CLIENTE mÓVIL -CONTROLLER</vt:lpstr>
      <vt:lpstr>CLIENTE mÓVIL – MODELS</vt:lpstr>
      <vt:lpstr>CLIENTE mÓVIL – models</vt:lpstr>
      <vt:lpstr>CLIENTE mÓVIL - view</vt:lpstr>
      <vt:lpstr>CLIENTE mÓVIL - view</vt:lpstr>
      <vt:lpstr>CLIENTE mÓVIL - view</vt:lpstr>
      <vt:lpstr>CLIENTE mÓVIL - view</vt:lpstr>
      <vt:lpstr>CLIENTE mÓVIL – view - Configuraciones</vt:lpstr>
      <vt:lpstr>CLIENTE mÓVIL – Configurar celular</vt:lpstr>
      <vt:lpstr>CLIENTE mÓVIL – Configurar celular</vt:lpstr>
      <vt:lpstr>CLIENTE mÓVIL – Configurar celular</vt:lpstr>
      <vt:lpstr>CLIENTE mÓVIL - Ejecución</vt:lpstr>
      <vt:lpstr>CLIENTE WEB</vt:lpstr>
      <vt:lpstr>CLIENTE WEB</vt:lpstr>
      <vt:lpstr>CLIENTE WEB – Inicio de sesión</vt:lpstr>
      <vt:lpstr>CLIENTE WEB – registro de usuario</vt:lpstr>
      <vt:lpstr>CLIENTE WEB – conversión de unidades</vt:lpstr>
      <vt:lpstr>CLIENTE WEB - ejecución</vt:lpstr>
      <vt:lpstr>CLIENTE WEB - ejecución</vt:lpstr>
      <vt:lpstr>CLIENTE WEB - ejecución</vt:lpstr>
      <vt:lpstr>CLIENTE WEB - ejecución</vt:lpstr>
      <vt:lpstr>CONCLUSIONES</vt:lpstr>
      <vt:lpstr>recomendaciones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Taller Eureka Bank, Web Service SOAP DOTNET</dc:title>
  <dc:creator>Paula Monteros</dc:creator>
  <cp:lastModifiedBy>SANTIAGO FABIAN RISUE�O ZAPATA</cp:lastModifiedBy>
  <cp:revision>26</cp:revision>
  <dcterms:created xsi:type="dcterms:W3CDTF">2021-01-01T22:17:01Z</dcterms:created>
  <dcterms:modified xsi:type="dcterms:W3CDTF">2024-07-13T20:12:16Z</dcterms:modified>
</cp:coreProperties>
</file>