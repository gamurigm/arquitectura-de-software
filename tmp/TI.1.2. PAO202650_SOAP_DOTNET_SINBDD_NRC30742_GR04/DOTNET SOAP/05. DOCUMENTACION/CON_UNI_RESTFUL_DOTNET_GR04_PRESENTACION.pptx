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1829155061" name="Google Shape;3;n"/>
          <p:cNvSpPr txBox="1">
            <a:spLocks noGrp="1"/>
          </p:cNvSpPr>
          <p:nvPr>
            <p:ph type="hdr" idx="2"/>
          </p:nvPr>
        </p:nvSpPr>
        <p:spPr bwMode="auto">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41664523" name="Google Shape;4;n"/>
          <p:cNvSpPr txBox="1">
            <a:spLocks noGrp="1"/>
          </p:cNvSpPr>
          <p:nvPr>
            <p:ph type="dt" idx="10"/>
          </p:nvPr>
        </p:nvSpPr>
        <p:spPr bwMode="auto">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1117080002" name="Google Shape;5;n"/>
          <p:cNvSpPr>
            <a:spLocks noGrp="1" noRot="1" noChangeAspect="1"/>
          </p:cNvSpPr>
          <p:nvPr>
            <p:ph type="sldImg" idx="3"/>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
        <p:nvSpPr>
          <p:cNvPr id="745508423" name="Google Shape;6;n"/>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9pPr>
          </a:lstStyle>
          <a:p>
            <a:pPr>
              <a:defRPr/>
            </a:pPr>
            <a:endParaRPr/>
          </a:p>
        </p:txBody>
      </p:sp>
      <p:sp>
        <p:nvSpPr>
          <p:cNvPr id="1734052335" name="Google Shape;7;n"/>
          <p:cNvSpPr txBox="1">
            <a:spLocks noGrp="1"/>
          </p:cNvSpPr>
          <p:nvPr>
            <p:ph type="ftr" idx="11"/>
          </p:nvPr>
        </p:nvSpPr>
        <p:spPr bwMode="auto">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pPr>
              <a:defRPr/>
            </a:pPr>
            <a:endParaRPr/>
          </a:p>
        </p:txBody>
      </p:sp>
      <p:sp>
        <p:nvSpPr>
          <p:cNvPr id="845923481" name="Google Shape;8;n"/>
          <p:cNvSpPr txBox="1">
            <a:spLocks noGrp="1"/>
          </p:cNvSpPr>
          <p:nvPr>
            <p:ph type="sldNum" idx="12"/>
          </p:nvPr>
        </p:nvSpPr>
        <p:spPr bwMode="auto">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defRPr/>
            </a:pPr>
            <a:fld id="{00000000-1234-1234-1234-123412341234}" type="slidenum">
              <a:rPr lang="es-ES" sz="1200" b="0" i="0" u="none" strike="noStrike" cap="none">
                <a:solidFill>
                  <a:schemeClr val="dk1"/>
                </a:solidFill>
                <a:latin typeface="Calibri"/>
                <a:ea typeface="Calibri"/>
                <a:cs typeface="Calibri"/>
              </a:rPr>
              <a:t>‹#›</a:t>
            </a:fld>
            <a:endParaRPr sz="1200" b="0" i="0" u="none" strike="noStrike" cap="none">
              <a:solidFill>
                <a:schemeClr val="dk1"/>
              </a:solidFill>
              <a:latin typeface="Calibri"/>
              <a:ea typeface="Calibri"/>
              <a:cs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320814039" name="Google Shape;97;p1: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626935765" name="Google Shape;98;p1: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570907658" name="Google Shape;106;p3: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2077129341" name="Google Shape;107;p3: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913219785" name="Google Shape;118;p7: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373380923" name="Google Shape;119;p7: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29218885" name="Google Shape;129;p8: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920475412" name="Google Shape;130;p8: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223502418" name="Google Shape;140;p17: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935389083" name="Google Shape;141;p17: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443569931" name="Google Shape;161;g2524d66b2ad_0_22: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831625312" name="Google Shape;162;g2524d66b2ad_0_22: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904109000" name="Google Shape;216;g2524d66b2ad_0_97: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576657223" name="Google Shape;217;g2524d66b2ad_0_97: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111819861" name="Google Shape;227;g2524d66b2ad_0_118: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445472579" name="Google Shape;228;g2524d66b2ad_0_118: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316831931" name="Google Shape;238;g2524d66b2ad_0_127: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752066291" name="Google Shape;239;g2524d66b2ad_0_127: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053409363" name="Google Shape;249;g2524d66b2ad_0_140: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378957415" name="Google Shape;250;g2524d66b2ad_0_140: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609971952" name="Google Shape;260;g2524d66b2ad_0_155: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450347856" name="Google Shape;261;g2524d66b2ad_0_155: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000335389" name="Google Shape;270;g2524d66b2ad_0_170: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2059868076" name="Google Shape;271;g2524d66b2ad_0_170: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102014973" name="Google Shape;280;g2524d66b2ad_0_181: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239245825" name="Google Shape;281;g2524d66b2ad_0_181: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904452277" name="Google Shape;280;g2524d66b2ad_0_181: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975563009" name="Google Shape;281;g2524d66b2ad_0_181: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999481485" name="Google Shape;291;g2524d66b2ad_0_196: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976859654" name="Google Shape;292;g2524d66b2ad_0_196: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47676137" name="Google Shape;302;g2524d66b2ad_0_211: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245585247" name="Google Shape;303;g2524d66b2ad_0_211: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400032770" name="Google Shape;313;g2524d66b2ad_0_226: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346135546" name="Google Shape;314;g2524d66b2ad_0_226: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9813695" name="Google Shape;324;g2524d66b2ad_0_241: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395952084" name="Google Shape;325;g2524d66b2ad_0_241: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433043051" name="Google Shape;324;g2524d66b2ad_0_241: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822310979" name="Google Shape;325;g2524d66b2ad_0_241: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465789732" name="Google Shape;335;g1ddeedea7d3_1_27: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798823494" name="Google Shape;336;g1ddeedea7d3_1_27: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207240301" name="Google Shape;346;g2524d66b2ad_0_260: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279849161" name="Google Shape;347;g2524d66b2ad_0_260: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62528660" name="Google Shape;357;g2524d66b2ad_0_275: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803482678" name="Google Shape;358;g2524d66b2ad_0_275: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035144919" name="Google Shape;368;g2524d66b2ad_0_290: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554938457" name="Google Shape;369;g2524d66b2ad_0_290: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52908038" name="Google Shape;379;g2524d66b2ad_0_305: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210841109" name="Google Shape;380;g2524d66b2ad_0_305: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084173190" name="Google Shape;346;g2524d66b2ad_0_260: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711108613" name="Google Shape;347;g2524d66b2ad_0_260: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544411220" name="Google Shape;500;g2524d66b2ad_0_451: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2081415562" name="Google Shape;501;g2524d66b2ad_0_451: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00861403" name="Google Shape;512;g2524d66b2ad_0_464: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718656512" name="Google Shape;513;g2524d66b2ad_0_464: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50427420" name="Google Shape;512;g2524d66b2ad_0_464: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516135769" name="Google Shape;513;g2524d66b2ad_0_464: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542368449" name="Google Shape;512;g2524d66b2ad_0_464: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994655324" name="Google Shape;513;g2524d66b2ad_0_464: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413819525" name="Google Shape;522;g2524d66b2ad_0_476: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589385812" name="Google Shape;523;g2524d66b2ad_0_476: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01410066" name="Google Shape;500;g2524d66b2ad_0_451: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058238352" name="Google Shape;501;g2524d66b2ad_0_451: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313750882" name="Google Shape;512;g2524d66b2ad_0_464: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710413583" name="Google Shape;513;g2524d66b2ad_0_464: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02574455" name="Google Shape;512;g2524d66b2ad_0_464: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2009892779" name="Google Shape;513;g2524d66b2ad_0_464: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09561185" name="Google Shape;512;g2524d66b2ad_0_464: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776169645" name="Google Shape;513;g2524d66b2ad_0_464: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882360644" name="Google Shape;522;g2524d66b2ad_0_476: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049968706" name="Google Shape;523;g2524d66b2ad_0_476: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147196368" name="Google Shape;546;p35: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752196859" name="Google Shape;547;p35: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743097909" name="Google Shape;556;p36:notes"/>
          <p:cNvSpPr txBox="1">
            <a:spLocks noGrp="1"/>
          </p:cNvSpPr>
          <p:nvPr>
            <p:ph type="body" idx="1"/>
          </p:nvPr>
        </p:nvSpPr>
        <p:spPr bwMode="auto">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691831246" name="Google Shape;557;p36: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69567367" name="Google Shape;566;p37:notes"/>
          <p:cNvSpPr txBox="1">
            <a:spLocks noGrp="1"/>
          </p:cNvSpPr>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defRPr/>
            </a:pPr>
            <a:endParaRPr/>
          </a:p>
        </p:txBody>
      </p:sp>
      <p:sp>
        <p:nvSpPr>
          <p:cNvPr id="1246638391" name="Google Shape;567;p37:notes"/>
          <p:cNvSpPr>
            <a:spLocks noGrp="1" noRot="1" noChangeAspect="1"/>
          </p:cNvSpPr>
          <p:nvPr>
            <p:ph type="sldImg" idx="2"/>
          </p:nvPr>
        </p:nvSpPr>
        <p:spPr bwMode="auto">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MX"/>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Diapositiva de título" type="title" userDrawn="1">
  <p:cSld name="TITLE">
    <p:spTree>
      <p:nvGrpSpPr>
        <p:cNvPr id="1" name=""/>
        <p:cNvGrpSpPr/>
        <p:nvPr/>
      </p:nvGrpSpPr>
      <p:grpSpPr bwMode="auto">
        <a:xfrm>
          <a:off x="0" y="0"/>
          <a:ext cx="0" cy="0"/>
          <a:chOff x="0" y="0"/>
          <a:chExt cx="0" cy="0"/>
        </a:xfrm>
      </p:grpSpPr>
      <p:sp>
        <p:nvSpPr>
          <p:cNvPr id="101611403" name="Google Shape;19;p39"/>
          <p:cNvSpPr/>
          <p:nvPr/>
        </p:nvSpPr>
        <p:spPr bwMode="auto">
          <a:xfrm>
            <a:off x="446534" y="3085764"/>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585771313" name="Google Shape;20;p39"/>
          <p:cNvSpPr txBox="1">
            <a:spLocks noGrp="1"/>
          </p:cNvSpPr>
          <p:nvPr>
            <p:ph type="ctrTitle"/>
          </p:nvPr>
        </p:nvSpPr>
        <p:spPr bwMode="auto">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955772371" name="Google Shape;21;p39"/>
          <p:cNvSpPr txBox="1">
            <a:spLocks noGrp="1"/>
          </p:cNvSpPr>
          <p:nvPr>
            <p:ph type="subTitle" idx="1"/>
          </p:nvPr>
        </p:nvSpPr>
        <p:spPr bwMode="auto">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pPr>
              <a:defRPr/>
            </a:pPr>
            <a:endParaRPr/>
          </a:p>
        </p:txBody>
      </p:sp>
      <p:sp>
        <p:nvSpPr>
          <p:cNvPr id="50325626" name="Google Shape;22;p39"/>
          <p:cNvSpPr txBox="1">
            <a:spLocks noGrp="1"/>
          </p:cNvSpPr>
          <p:nvPr>
            <p:ph type="dt" idx="10"/>
          </p:nvPr>
        </p:nvSpPr>
        <p:spPr bwMode="auto">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993669166" name="Google Shape;23;p39"/>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600445723" name="Google Shape;24;p39"/>
          <p:cNvSpPr txBox="1">
            <a:spLocks noGrp="1"/>
          </p:cNvSpPr>
          <p:nvPr>
            <p:ph type="sldNum" idx="12"/>
          </p:nvPr>
        </p:nvSpPr>
        <p:spPr bwMode="auto">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matchingName="Título y objetos" type="obj" userDrawn="1">
  <p:cSld name="OBJECT">
    <p:spTree>
      <p:nvGrpSpPr>
        <p:cNvPr id="1" name=""/>
        <p:cNvGrpSpPr/>
        <p:nvPr/>
      </p:nvGrpSpPr>
      <p:grpSpPr bwMode="auto">
        <a:xfrm>
          <a:off x="0" y="0"/>
          <a:ext cx="0" cy="0"/>
          <a:chOff x="0" y="0"/>
          <a:chExt cx="0" cy="0"/>
        </a:xfrm>
      </p:grpSpPr>
      <p:sp>
        <p:nvSpPr>
          <p:cNvPr id="2026019553" name="Google Shape;26;p40"/>
          <p:cNvSpPr/>
          <p:nvPr/>
        </p:nvSpPr>
        <p:spPr bwMode="auto">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700842684" name="Google Shape;27;p40"/>
          <p:cNvSpPr txBox="1">
            <a:spLocks noGrp="1"/>
          </p:cNvSpPr>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72037368" name="Google Shape;28;p40"/>
          <p:cNvSpPr txBox="1">
            <a:spLocks noGrp="1"/>
          </p:cNvSpPr>
          <p:nvPr>
            <p:ph type="body" idx="1"/>
          </p:nvPr>
        </p:nvSpPr>
        <p:spPr bwMode="auto">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1589070503" name="Google Shape;29;p40"/>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36030538" name="Google Shape;30;p40"/>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268106373" name="Google Shape;31;p40"/>
          <p:cNvSpPr txBox="1">
            <a:spLocks noGrp="1"/>
          </p:cNvSpPr>
          <p:nvPr>
            <p:ph type="sldNum" idx="12"/>
          </p:nvPr>
        </p:nvSpPr>
        <p:spPr bwMode="auto">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matchingName="Encabezado de sección" type="secHead" userDrawn="1">
  <p:cSld name="SECTION_HEADER">
    <p:spTree>
      <p:nvGrpSpPr>
        <p:cNvPr id="1" name=""/>
        <p:cNvGrpSpPr/>
        <p:nvPr/>
      </p:nvGrpSpPr>
      <p:grpSpPr bwMode="auto">
        <a:xfrm>
          <a:off x="0" y="0"/>
          <a:ext cx="0" cy="0"/>
          <a:chOff x="0" y="0"/>
          <a:chExt cx="0" cy="0"/>
        </a:xfrm>
      </p:grpSpPr>
      <p:sp>
        <p:nvSpPr>
          <p:cNvPr id="1352307209" name="Google Shape;33;p41"/>
          <p:cNvSpPr/>
          <p:nvPr/>
        </p:nvSpPr>
        <p:spPr bwMode="auto">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294766293" name="Google Shape;34;p41"/>
          <p:cNvSpPr txBox="1">
            <a:spLocks noGrp="1"/>
          </p:cNvSpPr>
          <p:nvPr>
            <p:ph type="title"/>
          </p:nvPr>
        </p:nvSpPr>
        <p:spPr bwMode="auto">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75016125" name="Google Shape;35;p41"/>
          <p:cNvSpPr txBox="1">
            <a:spLocks noGrp="1"/>
          </p:cNvSpPr>
          <p:nvPr>
            <p:ph type="body" idx="1"/>
          </p:nvPr>
        </p:nvSpPr>
        <p:spPr bwMode="auto">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pPr>
              <a:defRPr/>
            </a:pPr>
            <a:endParaRPr/>
          </a:p>
        </p:txBody>
      </p:sp>
      <p:sp>
        <p:nvSpPr>
          <p:cNvPr id="125199443" name="Google Shape;36;p41"/>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491836238" name="Google Shape;37;p41"/>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080732173" name="Google Shape;38;p41"/>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matchingName="Dos objetos" type="twoObj" userDrawn="1">
  <p:cSld name="TWO_OBJECTS">
    <p:spTree>
      <p:nvGrpSpPr>
        <p:cNvPr id="1" name=""/>
        <p:cNvGrpSpPr/>
        <p:nvPr/>
      </p:nvGrpSpPr>
      <p:grpSpPr bwMode="auto">
        <a:xfrm>
          <a:off x="0" y="0"/>
          <a:ext cx="0" cy="0"/>
          <a:chOff x="0" y="0"/>
          <a:chExt cx="0" cy="0"/>
        </a:xfrm>
      </p:grpSpPr>
      <p:sp>
        <p:nvSpPr>
          <p:cNvPr id="1219923082" name="Google Shape;40;p42"/>
          <p:cNvSpPr/>
          <p:nvPr/>
        </p:nvSpPr>
        <p:spPr bwMode="auto">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53188253" name="Google Shape;41;p42"/>
          <p:cNvSpPr txBox="1">
            <a:spLocks noGrp="1"/>
          </p:cNvSpPr>
          <p:nvPr>
            <p:ph type="title"/>
          </p:nvPr>
        </p:nvSpPr>
        <p:spPr bwMode="auto">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918075565" name="Google Shape;42;p42"/>
          <p:cNvSpPr txBox="1">
            <a:spLocks noGrp="1"/>
          </p:cNvSpPr>
          <p:nvPr>
            <p:ph type="body" idx="1"/>
          </p:nvPr>
        </p:nvSpPr>
        <p:spPr bwMode="auto">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980701554" name="Google Shape;43;p42"/>
          <p:cNvSpPr txBox="1">
            <a:spLocks noGrp="1"/>
          </p:cNvSpPr>
          <p:nvPr>
            <p:ph type="body" idx="2"/>
          </p:nvPr>
        </p:nvSpPr>
        <p:spPr bwMode="auto">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494958970" name="Google Shape;44;p42"/>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961814590" name="Google Shape;45;p42"/>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17238247" name="Google Shape;46;p42"/>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matchingName="Comparación" type="twoTxTwoObj" userDrawn="1">
  <p:cSld name="TWO_OBJECTS_WITH_TEXT">
    <p:spTree>
      <p:nvGrpSpPr>
        <p:cNvPr id="1" name=""/>
        <p:cNvGrpSpPr/>
        <p:nvPr/>
      </p:nvGrpSpPr>
      <p:grpSpPr bwMode="auto">
        <a:xfrm>
          <a:off x="0" y="0"/>
          <a:ext cx="0" cy="0"/>
          <a:chOff x="0" y="0"/>
          <a:chExt cx="0" cy="0"/>
        </a:xfrm>
      </p:grpSpPr>
      <p:sp>
        <p:nvSpPr>
          <p:cNvPr id="289214233" name="Google Shape;48;p43"/>
          <p:cNvSpPr/>
          <p:nvPr/>
        </p:nvSpPr>
        <p:spPr bwMode="auto">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77569081" name="Google Shape;49;p43"/>
          <p:cNvSpPr txBox="1">
            <a:spLocks noGrp="1"/>
          </p:cNvSpPr>
          <p:nvPr>
            <p:ph type="title"/>
          </p:nvPr>
        </p:nvSpPr>
        <p:spPr bwMode="auto">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469173063" name="Google Shape;50;p43"/>
          <p:cNvSpPr txBox="1">
            <a:spLocks noGrp="1"/>
          </p:cNvSpPr>
          <p:nvPr>
            <p:ph type="body" idx="1"/>
          </p:nvPr>
        </p:nvSpPr>
        <p:spPr bwMode="auto">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pPr>
              <a:defRPr/>
            </a:pPr>
            <a:endParaRPr/>
          </a:p>
        </p:txBody>
      </p:sp>
      <p:sp>
        <p:nvSpPr>
          <p:cNvPr id="608557276" name="Google Shape;51;p43"/>
          <p:cNvSpPr txBox="1">
            <a:spLocks noGrp="1"/>
          </p:cNvSpPr>
          <p:nvPr>
            <p:ph type="body" idx="2"/>
          </p:nvPr>
        </p:nvSpPr>
        <p:spPr bwMode="auto">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1624342796" name="Google Shape;52;p43"/>
          <p:cNvSpPr txBox="1">
            <a:spLocks noGrp="1"/>
          </p:cNvSpPr>
          <p:nvPr>
            <p:ph type="body" idx="3"/>
          </p:nvPr>
        </p:nvSpPr>
        <p:spPr bwMode="auto">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pPr>
              <a:defRPr/>
            </a:pPr>
            <a:endParaRPr/>
          </a:p>
        </p:txBody>
      </p:sp>
      <p:sp>
        <p:nvSpPr>
          <p:cNvPr id="575191545" name="Google Shape;53;p43"/>
          <p:cNvSpPr txBox="1">
            <a:spLocks noGrp="1"/>
          </p:cNvSpPr>
          <p:nvPr>
            <p:ph type="body" idx="4"/>
          </p:nvPr>
        </p:nvSpPr>
        <p:spPr bwMode="auto">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2144411928" name="Google Shape;54;p43"/>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10677627" name="Google Shape;55;p43"/>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693689503" name="Google Shape;56;p43"/>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matchingName="Solo el título" type="titleOnly" userDrawn="1">
  <p:cSld name="TITLE_ONLY">
    <p:spTree>
      <p:nvGrpSpPr>
        <p:cNvPr id="1" name=""/>
        <p:cNvGrpSpPr/>
        <p:nvPr/>
      </p:nvGrpSpPr>
      <p:grpSpPr bwMode="auto">
        <a:xfrm>
          <a:off x="0" y="0"/>
          <a:ext cx="0" cy="0"/>
          <a:chOff x="0" y="0"/>
          <a:chExt cx="0" cy="0"/>
        </a:xfrm>
      </p:grpSpPr>
      <p:sp>
        <p:nvSpPr>
          <p:cNvPr id="985649998" name="Google Shape;58;p44"/>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927124122" name="Google Shape;59;p44"/>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152996753" name="Google Shape;60;p44"/>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
        <p:nvSpPr>
          <p:cNvPr id="481624061" name="Google Shape;61;p44"/>
          <p:cNvSpPr/>
          <p:nvPr/>
        </p:nvSpPr>
        <p:spPr bwMode="auto">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910497768" name="Google Shape;62;p44"/>
          <p:cNvSpPr txBox="1">
            <a:spLocks noGrp="1"/>
          </p:cNvSpPr>
          <p:nvPr>
            <p:ph type="title"/>
          </p:nvPr>
        </p:nvSpPr>
        <p:spPr bwMode="auto">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matchingName="En blanco" type="blank" userDrawn="1">
  <p:cSld name="BLANK">
    <p:spTree>
      <p:nvGrpSpPr>
        <p:cNvPr id="1" name=""/>
        <p:cNvGrpSpPr/>
        <p:nvPr/>
      </p:nvGrpSpPr>
      <p:grpSpPr bwMode="auto">
        <a:xfrm>
          <a:off x="0" y="0"/>
          <a:ext cx="0" cy="0"/>
          <a:chOff x="0" y="0"/>
          <a:chExt cx="0" cy="0"/>
        </a:xfrm>
      </p:grpSpPr>
      <p:sp>
        <p:nvSpPr>
          <p:cNvPr id="209300589" name="Google Shape;64;p45"/>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232676642" name="Google Shape;65;p45"/>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931798923" name="Google Shape;66;p45"/>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matchingName="Contenido con título" type="objTx" userDrawn="1">
  <p:cSld name="OBJECT_WITH_CAPTION_TEXT">
    <p:spTree>
      <p:nvGrpSpPr>
        <p:cNvPr id="1" name=""/>
        <p:cNvGrpSpPr/>
        <p:nvPr/>
      </p:nvGrpSpPr>
      <p:grpSpPr bwMode="auto">
        <a:xfrm>
          <a:off x="0" y="0"/>
          <a:ext cx="0" cy="0"/>
          <a:chOff x="0" y="0"/>
          <a:chExt cx="0" cy="0"/>
        </a:xfrm>
      </p:grpSpPr>
      <p:sp>
        <p:nvSpPr>
          <p:cNvPr id="1211396901" name="Google Shape;68;p46"/>
          <p:cNvSpPr/>
          <p:nvPr/>
        </p:nvSpPr>
        <p:spPr bwMode="auto">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253273119" name="Google Shape;69;p46"/>
          <p:cNvSpPr txBox="1">
            <a:spLocks noGrp="1"/>
          </p:cNvSpPr>
          <p:nvPr>
            <p:ph type="title"/>
          </p:nvPr>
        </p:nvSpPr>
        <p:spPr bwMode="auto">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364583497" name="Google Shape;70;p46"/>
          <p:cNvSpPr txBox="1">
            <a:spLocks noGrp="1"/>
          </p:cNvSpPr>
          <p:nvPr>
            <p:ph type="body" idx="1"/>
          </p:nvPr>
        </p:nvSpPr>
        <p:spPr bwMode="auto">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7" algn="l">
              <a:lnSpc>
                <a:spcPct val="100000"/>
              </a:lnSpc>
              <a:spcBef>
                <a:spcPts val="600"/>
              </a:spcBef>
              <a:spcAft>
                <a:spcPts val="0"/>
              </a:spcAft>
              <a:buSzPts val="1288"/>
              <a:buChar char="◼"/>
              <a:defRPr sz="1400">
                <a:solidFill>
                  <a:schemeClr val="dk2"/>
                </a:solidFill>
              </a:defRPr>
            </a:lvl4pPr>
            <a:lvl5pPr marL="2286000" lvl="4" indent="-310387" algn="l">
              <a:lnSpc>
                <a:spcPct val="100000"/>
              </a:lnSpc>
              <a:spcBef>
                <a:spcPts val="600"/>
              </a:spcBef>
              <a:spcAft>
                <a:spcPts val="0"/>
              </a:spcAft>
              <a:buSzPts val="1288"/>
              <a:buChar char="◼"/>
              <a:defRPr sz="1400">
                <a:solidFill>
                  <a:schemeClr val="dk2"/>
                </a:solidFill>
              </a:defRPr>
            </a:lvl5pPr>
            <a:lvl6pPr marL="2743200" lvl="5" indent="-310387" algn="l">
              <a:lnSpc>
                <a:spcPct val="100000"/>
              </a:lnSpc>
              <a:spcBef>
                <a:spcPts val="600"/>
              </a:spcBef>
              <a:spcAft>
                <a:spcPts val="0"/>
              </a:spcAft>
              <a:buSzPts val="1288"/>
              <a:buChar char="◼"/>
              <a:defRPr sz="1400">
                <a:solidFill>
                  <a:schemeClr val="dk2"/>
                </a:solidFill>
              </a:defRPr>
            </a:lvl6pPr>
            <a:lvl7pPr marL="3200400" lvl="6" indent="-310387" algn="l">
              <a:lnSpc>
                <a:spcPct val="100000"/>
              </a:lnSpc>
              <a:spcBef>
                <a:spcPts val="600"/>
              </a:spcBef>
              <a:spcAft>
                <a:spcPts val="0"/>
              </a:spcAft>
              <a:buSzPts val="1288"/>
              <a:buChar char="◼"/>
              <a:defRPr sz="1400">
                <a:solidFill>
                  <a:schemeClr val="dk2"/>
                </a:solidFill>
              </a:defRPr>
            </a:lvl7pPr>
            <a:lvl8pPr marL="3657600" lvl="7" indent="-310387" algn="l">
              <a:lnSpc>
                <a:spcPct val="100000"/>
              </a:lnSpc>
              <a:spcBef>
                <a:spcPts val="600"/>
              </a:spcBef>
              <a:spcAft>
                <a:spcPts val="0"/>
              </a:spcAft>
              <a:buSzPts val="1288"/>
              <a:buChar char="◼"/>
              <a:defRPr sz="1400">
                <a:solidFill>
                  <a:schemeClr val="dk2"/>
                </a:solidFill>
              </a:defRPr>
            </a:lvl8pPr>
            <a:lvl9pPr marL="4114800" lvl="8" indent="-310387" algn="l">
              <a:lnSpc>
                <a:spcPct val="100000"/>
              </a:lnSpc>
              <a:spcBef>
                <a:spcPts val="600"/>
              </a:spcBef>
              <a:spcAft>
                <a:spcPts val="600"/>
              </a:spcAft>
              <a:buSzPts val="1288"/>
              <a:buChar char="◼"/>
              <a:defRPr sz="1400">
                <a:solidFill>
                  <a:schemeClr val="dk2"/>
                </a:solidFill>
              </a:defRPr>
            </a:lvl9pPr>
          </a:lstStyle>
          <a:p>
            <a:pPr>
              <a:defRPr/>
            </a:pPr>
            <a:endParaRPr/>
          </a:p>
        </p:txBody>
      </p:sp>
      <p:sp>
        <p:nvSpPr>
          <p:cNvPr id="1480580466" name="Google Shape;71;p46"/>
          <p:cNvSpPr txBox="1">
            <a:spLocks noGrp="1"/>
          </p:cNvSpPr>
          <p:nvPr>
            <p:ph type="body" idx="2"/>
          </p:nvPr>
        </p:nvSpPr>
        <p:spPr bwMode="auto">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pPr>
              <a:defRPr/>
            </a:pPr>
            <a:endParaRPr/>
          </a:p>
        </p:txBody>
      </p:sp>
      <p:sp>
        <p:nvSpPr>
          <p:cNvPr id="1743345503" name="Google Shape;72;p46"/>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274988080" name="Google Shape;73;p46"/>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52319974" name="Google Shape;74;p46"/>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matchingName="Imagen con título" type="picTx" userDrawn="1">
  <p:cSld name="PICTURE_WITH_CAPTION_TEXT">
    <p:spTree>
      <p:nvGrpSpPr>
        <p:cNvPr id="1" name=""/>
        <p:cNvGrpSpPr/>
        <p:nvPr/>
      </p:nvGrpSpPr>
      <p:grpSpPr bwMode="auto">
        <a:xfrm>
          <a:off x="0" y="0"/>
          <a:ext cx="0" cy="0"/>
          <a:chOff x="0" y="0"/>
          <a:chExt cx="0" cy="0"/>
        </a:xfrm>
      </p:grpSpPr>
      <p:sp>
        <p:nvSpPr>
          <p:cNvPr id="592999947" name="Google Shape;76;p47"/>
          <p:cNvSpPr txBox="1">
            <a:spLocks noGrp="1"/>
          </p:cNvSpPr>
          <p:nvPr>
            <p:ph type="title"/>
          </p:nvPr>
        </p:nvSpPr>
        <p:spPr bwMode="auto">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63046518" name="Google Shape;77;p47"/>
          <p:cNvSpPr>
            <a:spLocks noGrp="1"/>
          </p:cNvSpPr>
          <p:nvPr>
            <p:ph type="pic" idx="2"/>
          </p:nvPr>
        </p:nvSpPr>
        <p:spPr bwMode="auto">
          <a:xfrm>
            <a:off x="447817" y="599725"/>
            <a:ext cx="11290859" cy="3557252"/>
          </a:xfrm>
          <a:prstGeom prst="rect">
            <a:avLst/>
          </a:prstGeom>
          <a:noFill/>
          <a:ln>
            <a:noFill/>
          </a:ln>
        </p:spPr>
        <p:txBody>
          <a:bodyPr/>
          <a:lstStyle/>
          <a:p>
            <a:endParaRPr lang="es-MX"/>
          </a:p>
        </p:txBody>
      </p:sp>
      <p:sp>
        <p:nvSpPr>
          <p:cNvPr id="788334226" name="Google Shape;78;p47"/>
          <p:cNvSpPr txBox="1">
            <a:spLocks noGrp="1"/>
          </p:cNvSpPr>
          <p:nvPr>
            <p:ph type="body" idx="1"/>
          </p:nvPr>
        </p:nvSpPr>
        <p:spPr bwMode="auto">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pPr>
              <a:defRPr/>
            </a:pPr>
            <a:endParaRPr/>
          </a:p>
        </p:txBody>
      </p:sp>
      <p:sp>
        <p:nvSpPr>
          <p:cNvPr id="1683957504" name="Google Shape;79;p47"/>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675780213" name="Google Shape;80;p47"/>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112238382" name="Google Shape;81;p47"/>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matchingName="Título y texto vertical" type="vertTx" userDrawn="1">
  <p:cSld name="VERTICAL_TEXT">
    <p:spTree>
      <p:nvGrpSpPr>
        <p:cNvPr id="1" name=""/>
        <p:cNvGrpSpPr/>
        <p:nvPr/>
      </p:nvGrpSpPr>
      <p:grpSpPr bwMode="auto">
        <a:xfrm>
          <a:off x="0" y="0"/>
          <a:ext cx="0" cy="0"/>
          <a:chOff x="0" y="0"/>
          <a:chExt cx="0" cy="0"/>
        </a:xfrm>
      </p:grpSpPr>
      <p:sp>
        <p:nvSpPr>
          <p:cNvPr id="221788007" name="Google Shape;83;p48"/>
          <p:cNvSpPr/>
          <p:nvPr/>
        </p:nvSpPr>
        <p:spPr bwMode="auto">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841139435" name="Google Shape;84;p48"/>
          <p:cNvSpPr txBox="1">
            <a:spLocks noGrp="1"/>
          </p:cNvSpPr>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822972789" name="Google Shape;85;p48"/>
          <p:cNvSpPr txBox="1">
            <a:spLocks noGrp="1"/>
          </p:cNvSpPr>
          <p:nvPr>
            <p:ph type="body" idx="1"/>
          </p:nvPr>
        </p:nvSpPr>
        <p:spPr bwMode="auto">
          <a:xfrm rot="5400000">
            <a:off x="4334603" y="-1417408"/>
            <a:ext cx="3522793"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7"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154921136" name="Google Shape;86;p48"/>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56206418" name="Google Shape;87;p48"/>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2060978805" name="Google Shape;88;p48"/>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matchingName="Título vertical y texto" type="vertTitleAndTx" userDrawn="1">
  <p:cSld name="VERTICAL_TITLE_AND_VERTICAL_TEXT">
    <p:spTree>
      <p:nvGrpSpPr>
        <p:cNvPr id="1" name=""/>
        <p:cNvGrpSpPr/>
        <p:nvPr/>
      </p:nvGrpSpPr>
      <p:grpSpPr bwMode="auto">
        <a:xfrm>
          <a:off x="0" y="0"/>
          <a:ext cx="0" cy="0"/>
          <a:chOff x="0" y="0"/>
          <a:chExt cx="0" cy="0"/>
        </a:xfrm>
      </p:grpSpPr>
      <p:sp>
        <p:nvSpPr>
          <p:cNvPr id="701351221" name="Google Shape;90;p49"/>
          <p:cNvSpPr/>
          <p:nvPr/>
        </p:nvSpPr>
        <p:spPr bwMode="auto">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603121314" name="Google Shape;91;p49"/>
          <p:cNvSpPr txBox="1">
            <a:spLocks noGrp="1"/>
          </p:cNvSpPr>
          <p:nvPr>
            <p:ph type="title"/>
          </p:nvPr>
        </p:nvSpPr>
        <p:spPr bwMode="auto">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115811092" name="Google Shape;92;p49"/>
          <p:cNvSpPr txBox="1">
            <a:spLocks noGrp="1"/>
          </p:cNvSpPr>
          <p:nvPr>
            <p:ph type="body" idx="1"/>
          </p:nvPr>
        </p:nvSpPr>
        <p:spPr bwMode="auto">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pPr>
              <a:defRPr/>
            </a:pPr>
            <a:endParaRPr/>
          </a:p>
        </p:txBody>
      </p:sp>
      <p:sp>
        <p:nvSpPr>
          <p:cNvPr id="1154322080" name="Google Shape;93;p49"/>
          <p:cNvSpPr txBox="1">
            <a:spLocks noGrp="1"/>
          </p:cNvSpPr>
          <p:nvPr>
            <p:ph type="dt" idx="10"/>
          </p:nvPr>
        </p:nvSpPr>
        <p:spPr bwMode="auto">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152284935" name="Google Shape;94;p49"/>
          <p:cNvSpPr txBox="1">
            <a:spLocks noGrp="1"/>
          </p:cNvSpPr>
          <p:nvPr>
            <p:ph type="ftr" idx="11"/>
          </p:nvPr>
        </p:nvSpPr>
        <p:spPr bwMode="auto">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a:defRPr/>
            </a:pPr>
            <a:endParaRPr/>
          </a:p>
        </p:txBody>
      </p:sp>
      <p:sp>
        <p:nvSpPr>
          <p:cNvPr id="135987206" name="Google Shape;95;p49"/>
          <p:cNvSpPr txBox="1">
            <a:spLocks noGrp="1"/>
          </p:cNvSpPr>
          <p:nvPr>
            <p:ph type="sldNum" idx="12"/>
          </p:nvPr>
        </p:nvSpPr>
        <p:spPr bwMode="auto">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1497693831" name="Google Shape;10;p38"/>
          <p:cNvSpPr txBox="1">
            <a:spLocks noGrp="1"/>
          </p:cNvSpPr>
          <p:nvPr>
            <p:ph type="title"/>
          </p:nvPr>
        </p:nvSpPr>
        <p:spPr bwMode="auto">
          <a:xfrm>
            <a:off x="581192" y="705123"/>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defRPr>
            </a:lvl9pPr>
          </a:lstStyle>
          <a:p>
            <a:pPr>
              <a:defRPr/>
            </a:pPr>
            <a:endParaRPr/>
          </a:p>
        </p:txBody>
      </p:sp>
      <p:sp>
        <p:nvSpPr>
          <p:cNvPr id="317658621" name="Google Shape;11;p38"/>
          <p:cNvSpPr txBox="1">
            <a:spLocks noGrp="1"/>
          </p:cNvSpPr>
          <p:nvPr>
            <p:ph type="body" idx="1"/>
          </p:nvPr>
        </p:nvSpPr>
        <p:spPr bwMode="auto">
          <a:xfrm>
            <a:off x="581192" y="2336003"/>
            <a:ext cx="11029616" cy="3522793"/>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defRPr>
            </a:lvl2pPr>
            <a:lvl3pPr marL="1371600" marR="0" lvl="2" indent="-310387"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defRPr>
            </a:lvl9pPr>
          </a:lstStyle>
          <a:p>
            <a:pPr>
              <a:defRPr/>
            </a:pPr>
            <a:endParaRPr/>
          </a:p>
        </p:txBody>
      </p:sp>
      <p:sp>
        <p:nvSpPr>
          <p:cNvPr id="917504815" name="Google Shape;12;p38"/>
          <p:cNvSpPr txBox="1">
            <a:spLocks noGrp="1"/>
          </p:cNvSpPr>
          <p:nvPr>
            <p:ph type="dt" idx="10"/>
          </p:nvPr>
        </p:nvSpPr>
        <p:spPr bwMode="auto">
          <a:xfrm>
            <a:off x="7605951" y="5956137"/>
            <a:ext cx="2844798"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9pPr>
          </a:lstStyle>
          <a:p>
            <a:pPr>
              <a:defRPr/>
            </a:pPr>
            <a:endParaRPr/>
          </a:p>
        </p:txBody>
      </p:sp>
      <p:sp>
        <p:nvSpPr>
          <p:cNvPr id="972999588" name="Google Shape;13;p38"/>
          <p:cNvSpPr txBox="1">
            <a:spLocks noGrp="1"/>
          </p:cNvSpPr>
          <p:nvPr>
            <p:ph type="ftr" idx="11"/>
          </p:nvPr>
        </p:nvSpPr>
        <p:spPr bwMode="auto">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defRPr>
            </a:lvl9pPr>
          </a:lstStyle>
          <a:p>
            <a:pPr>
              <a:defRPr/>
            </a:pPr>
            <a:endParaRPr/>
          </a:p>
        </p:txBody>
      </p:sp>
      <p:sp>
        <p:nvSpPr>
          <p:cNvPr id="1780339931" name="Google Shape;14;p38"/>
          <p:cNvSpPr txBox="1">
            <a:spLocks noGrp="1"/>
          </p:cNvSpPr>
          <p:nvPr>
            <p:ph type="sldNum" idx="12"/>
          </p:nvPr>
        </p:nvSpPr>
        <p:spPr bwMode="auto">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defRPr>
            </a:lvl9pPr>
          </a:lstStyle>
          <a:p>
            <a:pPr marL="0" lvl="0" indent="0" algn="r" rtl="0">
              <a:spcBef>
                <a:spcPts val="0"/>
              </a:spcBef>
              <a:spcAft>
                <a:spcPts val="0"/>
              </a:spcAft>
              <a:buNone/>
              <a:defRPr/>
            </a:pPr>
            <a:fld id="{00000000-1234-1234-1234-123412341234}" type="slidenum">
              <a:rPr lang="es-ES"/>
              <a:t>‹#›</a:t>
            </a:fld>
            <a:endParaRPr/>
          </a:p>
        </p:txBody>
      </p:sp>
      <p:sp>
        <p:nvSpPr>
          <p:cNvPr id="1693671623" name="Google Shape;15;p38"/>
          <p:cNvSpPr/>
          <p:nvPr/>
        </p:nvSpPr>
        <p:spPr bwMode="auto">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494236438" name="Google Shape;16;p38"/>
          <p:cNvSpPr/>
          <p:nvPr/>
        </p:nvSpPr>
        <p:spPr bwMode="auto">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796418184" name="Google Shape;17;p38"/>
          <p:cNvSpPr/>
          <p:nvPr/>
        </p:nvSpPr>
        <p:spPr bwMode="auto">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42759587" name="Google Shape;100;p1"/>
          <p:cNvSpPr txBox="1">
            <a:spLocks noGrp="1"/>
          </p:cNvSpPr>
          <p:nvPr>
            <p:ph type="ctrTitle"/>
          </p:nvPr>
        </p:nvSpPr>
        <p:spPr bwMode="auto">
          <a:xfrm>
            <a:off x="517945" y="3608618"/>
            <a:ext cx="10993549" cy="678311"/>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3600"/>
              <a:buFont typeface="Gill Sans"/>
              <a:buNone/>
              <a:defRPr/>
            </a:pPr>
            <a:r>
              <a:rPr lang="es-ES" dirty="0">
                <a:solidFill>
                  <a:schemeClr val="lt1"/>
                </a:solidFill>
              </a:rPr>
              <a:t>PROYECTO CONVERSOR UNIDADES SOAP DOTNET</a:t>
            </a:r>
            <a:endParaRPr dirty="0">
              <a:solidFill>
                <a:schemeClr val="lt1"/>
              </a:solidFill>
            </a:endParaRPr>
          </a:p>
        </p:txBody>
      </p:sp>
      <p:sp>
        <p:nvSpPr>
          <p:cNvPr id="1579500955" name="Google Shape;101;p1"/>
          <p:cNvSpPr txBox="1">
            <a:spLocks noGrp="1"/>
          </p:cNvSpPr>
          <p:nvPr>
            <p:ph type="subTitle" idx="1"/>
          </p:nvPr>
        </p:nvSpPr>
        <p:spPr bwMode="auto">
          <a:xfrm>
            <a:off x="599226" y="5149400"/>
            <a:ext cx="4734774" cy="1235358"/>
          </a:xfrm>
          <a:prstGeom prst="rect">
            <a:avLst/>
          </a:prstGeom>
          <a:noFill/>
          <a:ln>
            <a:noFill/>
          </a:ln>
        </p:spPr>
        <p:txBody>
          <a:bodyPr spcFirstLastPara="1" vertOverflow="overflow" horzOverflow="overflow" vert="horz" wrap="square" lIns="91423" tIns="45699" rIns="91423" bIns="45699" numCol="1" spcCol="0" rtlCol="0" fromWordArt="0" anchor="t" anchorCtr="0" forceAA="0" compatLnSpc="0">
            <a:normAutofit/>
          </a:bodyPr>
          <a:lstStyle/>
          <a:p>
            <a:pPr marL="0" lvl="0" indent="0" algn="l" rtl="0">
              <a:lnSpc>
                <a:spcPct val="100000"/>
              </a:lnSpc>
              <a:spcBef>
                <a:spcPts val="0"/>
              </a:spcBef>
              <a:spcAft>
                <a:spcPts val="0"/>
              </a:spcAft>
              <a:buSzPts val="1472"/>
              <a:buNone/>
              <a:defRPr/>
            </a:pPr>
            <a:r>
              <a:rPr lang="es-ES" b="1">
                <a:solidFill>
                  <a:schemeClr val="lt1"/>
                </a:solidFill>
              </a:rPr>
              <a:t>INTEGRANTES</a:t>
            </a:r>
            <a:r>
              <a:rPr lang="es-MX" b="1">
                <a:solidFill>
                  <a:schemeClr val="lt1"/>
                </a:solidFill>
              </a:rPr>
              <a:t> GRUPO 4</a:t>
            </a:r>
            <a:r>
              <a:rPr lang="es-ES" b="1">
                <a:solidFill>
                  <a:schemeClr val="lt1"/>
                </a:solidFill>
              </a:rPr>
              <a:t>: </a:t>
            </a:r>
            <a:r>
              <a:rPr sz="1600" b="0" i="0" u="none">
                <a:solidFill>
                  <a:srgbClr val="FFFFFF"/>
                </a:solidFill>
                <a:latin typeface="Arial"/>
                <a:ea typeface="Arial"/>
                <a:cs typeface="Arial"/>
              </a:rPr>
              <a:t>	</a:t>
            </a:r>
            <a:r>
              <a:rPr lang="es-MX" sz="1600" b="0" i="0" u="none">
                <a:solidFill>
                  <a:srgbClr val="FFFFFF"/>
                </a:solidFill>
                <a:latin typeface="Arial"/>
                <a:ea typeface="Arial"/>
                <a:cs typeface="Arial"/>
              </a:rPr>
              <a:t>   </a:t>
            </a:r>
            <a:endParaRPr/>
          </a:p>
          <a:p>
            <a:pPr>
              <a:defRPr/>
            </a:pPr>
            <a:r>
              <a:rPr lang="es-MX" sz="1600" b="0" i="0" u="none">
                <a:solidFill>
                  <a:srgbClr val="FFFFFF"/>
                </a:solidFill>
                <a:latin typeface="Arial"/>
                <a:ea typeface="Arial"/>
                <a:cs typeface="Arial"/>
              </a:rPr>
              <a:t>   </a:t>
            </a:r>
            <a:r>
              <a:rPr sz="1600" b="0" i="0" u="none">
                <a:solidFill>
                  <a:srgbClr val="FFFFFF"/>
                </a:solidFill>
                <a:latin typeface="Arial"/>
                <a:ea typeface="Arial"/>
                <a:cs typeface="Arial"/>
              </a:rPr>
              <a:t>	</a:t>
            </a:r>
            <a:r>
              <a:rPr lang="es-MX" sz="1600" b="0" i="0" u="none">
                <a:solidFill>
                  <a:srgbClr val="FFFFFF"/>
                </a:solidFill>
                <a:latin typeface="Arial"/>
                <a:ea typeface="Arial"/>
                <a:cs typeface="Arial"/>
              </a:rPr>
              <a:t>   </a:t>
            </a:r>
            <a:r>
              <a:rPr sz="1600" b="0" i="0" u="none">
                <a:solidFill>
                  <a:srgbClr val="FFFFFF"/>
                </a:solidFill>
                <a:latin typeface="Arial"/>
                <a:ea typeface="Arial"/>
                <a:cs typeface="Arial"/>
              </a:rPr>
              <a:t>GRANDA VELASQUEZ CARLOS JAVIER</a:t>
            </a:r>
            <a:endParaRPr/>
          </a:p>
          <a:p>
            <a:pPr lvl="1" algn="l" rtl="0">
              <a:lnSpc>
                <a:spcPct val="100000"/>
              </a:lnSpc>
              <a:spcBef>
                <a:spcPts val="0"/>
              </a:spcBef>
              <a:spcAft>
                <a:spcPts val="0"/>
              </a:spcAft>
              <a:defRPr/>
            </a:pPr>
            <a:r>
              <a:rPr sz="1600" b="0" i="0" u="none">
                <a:solidFill>
                  <a:srgbClr val="FFFFFF"/>
                </a:solidFill>
                <a:latin typeface="Arial"/>
                <a:ea typeface="Arial"/>
                <a:cs typeface="Arial"/>
              </a:rPr>
              <a:t>MOREIRA VINUEZA ERICK PATRICIO</a:t>
            </a:r>
          </a:p>
          <a:p>
            <a:pPr lvl="1" algn="l" rtl="0">
              <a:lnSpc>
                <a:spcPct val="100000"/>
              </a:lnSpc>
              <a:spcBef>
                <a:spcPts val="0"/>
              </a:spcBef>
              <a:spcAft>
                <a:spcPts val="0"/>
              </a:spcAft>
              <a:defRPr/>
            </a:pPr>
            <a:r>
              <a:rPr lang="en-US" sz="1600" b="0" i="0" u="none" strike="noStrike" cap="none" spc="0">
                <a:solidFill>
                  <a:srgbClr val="FFFFFF"/>
                </a:solidFill>
                <a:latin typeface="Arial"/>
                <a:ea typeface="Arial"/>
                <a:cs typeface="Arial"/>
              </a:rPr>
              <a:t>COLOMA ERAZO KEVIN BLADIMIR</a:t>
            </a:r>
            <a:endParaRPr/>
          </a:p>
        </p:txBody>
      </p:sp>
      <p:pic>
        <p:nvPicPr>
          <p:cNvPr id="555566832" name="Google Shape;102;p1" descr="Resultado de imagen para espe"/>
          <p:cNvPicPr/>
          <p:nvPr/>
        </p:nvPicPr>
        <p:blipFill rotWithShape="1">
          <a:blip r:embed="rId3">
            <a:alphaModFix/>
          </a:blip>
          <a:stretch/>
        </p:blipFill>
        <p:spPr bwMode="auto">
          <a:xfrm>
            <a:off x="319597" y="716302"/>
            <a:ext cx="11647502" cy="2193925"/>
          </a:xfrm>
          <a:prstGeom prst="rect">
            <a:avLst/>
          </a:prstGeom>
          <a:noFill/>
          <a:ln>
            <a:noFill/>
          </a:ln>
        </p:spPr>
      </p:pic>
      <p:sp>
        <p:nvSpPr>
          <p:cNvPr id="1910990785" name="Google Shape;103;p1"/>
          <p:cNvSpPr txBox="1"/>
          <p:nvPr/>
        </p:nvSpPr>
        <p:spPr bwMode="auto">
          <a:xfrm>
            <a:off x="7874425" y="5149400"/>
            <a:ext cx="3718500" cy="132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accent2"/>
              </a:buClr>
              <a:buSzPts val="1472"/>
              <a:buFont typeface="Noto Sans Symbols"/>
              <a:buNone/>
              <a:defRPr/>
            </a:pPr>
            <a:r>
              <a:rPr lang="es-ES" sz="1600" b="1" i="0" u="none" strike="noStrike" cap="none" dirty="0">
                <a:solidFill>
                  <a:schemeClr val="lt1"/>
                </a:solidFill>
                <a:latin typeface="Gill Sans"/>
                <a:ea typeface="Gill Sans"/>
                <a:cs typeface="Gill Sans"/>
              </a:rPr>
              <a:t>NRC:	</a:t>
            </a:r>
            <a:r>
              <a:rPr lang="es-ES" sz="1600" b="1" i="0" u="none" strike="noStrike" cap="none" spc="0" dirty="0">
                <a:solidFill>
                  <a:schemeClr val="lt1"/>
                </a:solidFill>
                <a:latin typeface="Gill Sans"/>
                <a:ea typeface="Gill Sans"/>
                <a:cs typeface="Gill Sans"/>
              </a:rPr>
              <a:t>30742</a:t>
            </a:r>
            <a:endParaRPr sz="1400" i="0" u="none" strike="noStrike" cap="none" dirty="0">
              <a:solidFill>
                <a:srgbClr val="000000"/>
              </a:solidFill>
              <a:latin typeface="Arial"/>
              <a:ea typeface="Arial"/>
              <a:cs typeface="Arial"/>
            </a:endParaRPr>
          </a:p>
          <a:p>
            <a:pPr marL="0" marR="0" lvl="0" indent="0" algn="l" rtl="0">
              <a:lnSpc>
                <a:spcPct val="100000"/>
              </a:lnSpc>
              <a:spcBef>
                <a:spcPts val="920"/>
              </a:spcBef>
              <a:spcAft>
                <a:spcPts val="0"/>
              </a:spcAft>
              <a:buClr>
                <a:schemeClr val="accent2"/>
              </a:buClr>
              <a:buSzPts val="1472"/>
              <a:buFont typeface="Noto Sans Symbols"/>
              <a:buNone/>
              <a:defRPr/>
            </a:pPr>
            <a:r>
              <a:rPr lang="es-ES" sz="1600" b="1" i="0" u="none" strike="noStrike" cap="none" dirty="0">
                <a:solidFill>
                  <a:schemeClr val="lt1"/>
                </a:solidFill>
                <a:latin typeface="Gill Sans"/>
                <a:ea typeface="Gill Sans"/>
                <a:cs typeface="Gill Sans"/>
              </a:rPr>
              <a:t>FECHA: </a:t>
            </a:r>
            <a:r>
              <a:rPr lang="es-MX" sz="1600" b="1" i="0" u="none" strike="noStrike" cap="none" dirty="0">
                <a:solidFill>
                  <a:schemeClr val="lt1"/>
                </a:solidFill>
                <a:latin typeface="Gill Sans"/>
                <a:ea typeface="Gill Sans"/>
                <a:cs typeface="Gill Sans"/>
              </a:rPr>
              <a:t>12</a:t>
            </a:r>
            <a:r>
              <a:rPr lang="es-ES" sz="1600" dirty="0">
                <a:solidFill>
                  <a:schemeClr val="lt1"/>
                </a:solidFill>
                <a:latin typeface="Gill Sans"/>
                <a:ea typeface="Gill Sans"/>
                <a:cs typeface="Gill Sans"/>
              </a:rPr>
              <a:t>/</a:t>
            </a:r>
            <a:r>
              <a:rPr lang="es-MX" sz="1600" dirty="0">
                <a:solidFill>
                  <a:schemeClr val="lt1"/>
                </a:solidFill>
                <a:latin typeface="Gill Sans"/>
                <a:ea typeface="Gill Sans"/>
                <a:cs typeface="Gill Sans"/>
              </a:rPr>
              <a:t>05</a:t>
            </a:r>
            <a:r>
              <a:rPr lang="es-ES" sz="1600" dirty="0">
                <a:solidFill>
                  <a:schemeClr val="lt1"/>
                </a:solidFill>
                <a:latin typeface="Gill Sans"/>
                <a:ea typeface="Gill Sans"/>
                <a:cs typeface="Gill Sans"/>
              </a:rPr>
              <a:t>/20</a:t>
            </a:r>
            <a:r>
              <a:rPr lang="es-MX" sz="1600" dirty="0">
                <a:solidFill>
                  <a:schemeClr val="lt1"/>
                </a:solidFill>
                <a:latin typeface="Gill Sans"/>
                <a:ea typeface="Gill Sans"/>
                <a:cs typeface="Gill Sans"/>
              </a:rPr>
              <a:t>26</a:t>
            </a:r>
            <a:endParaRPr sz="1400" b="0" i="0" u="none" strike="noStrike" cap="none" dirty="0">
              <a:solidFill>
                <a:srgbClr val="000000"/>
              </a:solidFill>
              <a:latin typeface="Arial"/>
              <a:ea typeface="Arial"/>
              <a:cs typeface="Arial"/>
            </a:endParaRPr>
          </a:p>
          <a:p>
            <a:pPr marL="0" marR="0" lvl="0" indent="0" algn="l" rtl="0">
              <a:lnSpc>
                <a:spcPct val="100000"/>
              </a:lnSpc>
              <a:spcBef>
                <a:spcPts val="920"/>
              </a:spcBef>
              <a:spcAft>
                <a:spcPts val="0"/>
              </a:spcAft>
              <a:buClr>
                <a:schemeClr val="accent2"/>
              </a:buClr>
              <a:buSzPts val="1472"/>
              <a:buFont typeface="Noto Sans Symbols"/>
              <a:buNone/>
              <a:defRPr/>
            </a:pPr>
            <a:r>
              <a:rPr lang="es-ES" sz="1600" b="1" i="0" u="none" strike="noStrike" cap="none" dirty="0">
                <a:solidFill>
                  <a:schemeClr val="lt1"/>
                </a:solidFill>
                <a:latin typeface="Gill Sans"/>
                <a:ea typeface="Gill Sans"/>
                <a:cs typeface="Gill Sans"/>
              </a:rPr>
              <a:t>TUTOR:	</a:t>
            </a:r>
            <a:r>
              <a:rPr lang="es-ES" sz="1600" b="0" i="0" u="none" strike="noStrike" cap="none" dirty="0">
                <a:solidFill>
                  <a:schemeClr val="lt1"/>
                </a:solidFill>
                <a:latin typeface="Gill Sans"/>
                <a:ea typeface="Gill Sans"/>
                <a:cs typeface="Gill Sans"/>
              </a:rPr>
              <a:t>ING. MAURICIO CAMPAÑA</a:t>
            </a:r>
            <a:endParaRPr sz="1600" b="1" i="0" u="none" strike="noStrike" cap="none" dirty="0">
              <a:solidFill>
                <a:schemeClr val="lt1"/>
              </a:solidFill>
              <a:latin typeface="Gill Sans"/>
              <a:ea typeface="Gill Sans"/>
              <a:cs typeface="Gill Sans"/>
            </a:endParaRPr>
          </a:p>
        </p:txBody>
      </p:sp>
      <p:sp>
        <p:nvSpPr>
          <p:cNvPr id="297149630" name="Google Shape;104;p1"/>
          <p:cNvSpPr txBox="1"/>
          <p:nvPr/>
        </p:nvSpPr>
        <p:spPr bwMode="auto">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dk1"/>
                </a:solidFill>
                <a:latin typeface="Gill Sans"/>
                <a:ea typeface="Gill Sans"/>
                <a:cs typeface="Gill Sans"/>
              </a:rPr>
              <a:t>1</a:t>
            </a:r>
            <a:endParaRPr sz="1400" b="0" i="0" u="none" strike="noStrike" cap="none">
              <a:solidFill>
                <a:srgbClr val="000000"/>
              </a:solidFill>
              <a:latin typeface="Arial"/>
              <a:ea typeface="Arial"/>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83435801" name="Google Shape;109;p3"/>
          <p:cNvSpPr txBox="1">
            <a:spLocks noGrp="1"/>
          </p:cNvSpPr>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1	OBJETIVO</a:t>
            </a:r>
            <a:endParaRPr/>
          </a:p>
        </p:txBody>
      </p:sp>
      <p:sp>
        <p:nvSpPr>
          <p:cNvPr id="757912751" name="Google Shape;110;p3"/>
          <p:cNvSpPr txBox="1"/>
          <p:nvPr/>
        </p:nvSpPr>
        <p:spPr bwMode="auto">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3</a:t>
            </a:r>
            <a:endParaRPr sz="2000" b="0" i="0" u="none" strike="noStrike" cap="none">
              <a:solidFill>
                <a:schemeClr val="lt1"/>
              </a:solidFill>
              <a:latin typeface="Gill Sans"/>
              <a:ea typeface="Gill Sans"/>
              <a:cs typeface="Gill Sans"/>
            </a:endParaRPr>
          </a:p>
        </p:txBody>
      </p:sp>
      <p:sp>
        <p:nvSpPr>
          <p:cNvPr id="1406211078" name="Google Shape;111;p3"/>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1	OBJETIVOS</a:t>
            </a:r>
            <a:endParaRPr sz="1300" b="0" i="0" u="none" strike="noStrike" cap="none">
              <a:solidFill>
                <a:srgbClr val="FFFF00"/>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a:solidFill>
                  <a:schemeClr val="lt1"/>
                </a:solidFill>
                <a:latin typeface="Gill Sans"/>
                <a:ea typeface="Gill Sans"/>
                <a:cs typeface="Gill Sans"/>
              </a:rPr>
              <a:t>2</a:t>
            </a:r>
            <a:r>
              <a:rPr lang="es-ES" sz="1100" b="0" i="0" u="none" strike="noStrike" cap="none">
                <a:solidFill>
                  <a:schemeClr val="lt1"/>
                </a:solidFill>
                <a:latin typeface="Gill Sans"/>
                <a:ea typeface="Gill Sans"/>
                <a:cs typeface="Gill Sans"/>
              </a:rPr>
              <a:t>	</a:t>
            </a:r>
            <a:r>
              <a:rPr lang="es-ES" sz="1100">
                <a:solidFill>
                  <a:schemeClr val="lt1"/>
                </a:solidFill>
                <a:latin typeface="Gill Sans"/>
                <a:ea typeface="Gill Sans"/>
                <a:cs typeface="Gill Sans"/>
              </a:rPr>
              <a:t>DESARROLLO</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grpSp>
        <p:nvGrpSpPr>
          <p:cNvPr id="1665799720" name="Google Shape;112;p3"/>
          <p:cNvGrpSpPr/>
          <p:nvPr/>
        </p:nvGrpSpPr>
        <p:grpSpPr bwMode="auto">
          <a:xfrm>
            <a:off x="624325" y="2081723"/>
            <a:ext cx="8293916" cy="2239342"/>
            <a:chOff x="0" y="597724"/>
            <a:chExt cx="8269933" cy="2753401"/>
          </a:xfrm>
        </p:grpSpPr>
        <p:sp>
          <p:nvSpPr>
            <p:cNvPr id="113" name="Google Shape;113;p3"/>
            <p:cNvSpPr/>
            <p:nvPr/>
          </p:nvSpPr>
          <p:spPr bwMode="auto">
            <a:xfrm>
              <a:off x="0" y="597726"/>
              <a:ext cx="8269800" cy="2753400"/>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4" name="Google Shape;114;p3"/>
            <p:cNvSpPr/>
            <p:nvPr/>
          </p:nvSpPr>
          <p:spPr bwMode="auto">
            <a:xfrm>
              <a:off x="333805" y="846009"/>
              <a:ext cx="606900" cy="606900"/>
            </a:xfrm>
            <a:prstGeom prst="rect">
              <a:avLst/>
            </a:prstGeom>
            <a:blipFill rotWithShape="1">
              <a:blip r:embed="rId3">
                <a:alphaModFix/>
              </a:blip>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5" name="Google Shape;115;p3"/>
            <p:cNvSpPr/>
            <p:nvPr/>
          </p:nvSpPr>
          <p:spPr bwMode="auto">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16" name="Google Shape;116;p3"/>
            <p:cNvSpPr txBox="1"/>
            <p:nvPr/>
          </p:nvSpPr>
          <p:spPr bwMode="auto">
            <a:xfrm>
              <a:off x="1274533" y="597735"/>
              <a:ext cx="6995400" cy="2482800"/>
            </a:xfrm>
            <a:prstGeom prst="rect">
              <a:avLst/>
            </a:prstGeom>
            <a:noFill/>
            <a:ln>
              <a:noFill/>
            </a:ln>
          </p:spPr>
          <p:txBody>
            <a:bodyPr spcFirstLastPara="1" wrap="square" lIns="116775" tIns="116775" rIns="116775" bIns="116775" anchor="ctr" anchorCtr="0">
              <a:noAutofit/>
            </a:bodyPr>
            <a:lstStyle/>
            <a:p>
              <a:pPr marL="0" marR="0" lvl="0" indent="0" algn="just" rtl="0">
                <a:lnSpc>
                  <a:spcPct val="114999"/>
                </a:lnSpc>
                <a:spcBef>
                  <a:spcPts val="1200"/>
                </a:spcBef>
                <a:spcAft>
                  <a:spcPts val="0"/>
                </a:spcAft>
                <a:buClr>
                  <a:schemeClr val="dk1"/>
                </a:buClr>
                <a:buSzPts val="1100"/>
                <a:buFont typeface="Arial"/>
                <a:buNone/>
                <a:defRPr/>
              </a:pPr>
              <a:endParaRPr sz="1800" b="0" i="0" u="none" strike="noStrike" cap="none" dirty="0">
                <a:solidFill>
                  <a:schemeClr val="dk1"/>
                </a:solidFill>
                <a:latin typeface="Gill Sans"/>
                <a:ea typeface="Gill Sans"/>
                <a:cs typeface="Gill Sans"/>
              </a:endParaRPr>
            </a:p>
            <a:p>
              <a:pPr algn="just">
                <a:lnSpc>
                  <a:spcPct val="114999"/>
                </a:lnSpc>
                <a:spcBef>
                  <a:spcPts val="1200"/>
                </a:spcBef>
                <a:buClr>
                  <a:schemeClr val="dk1"/>
                </a:buClr>
                <a:buSzPts val="1100"/>
                <a:defRPr/>
              </a:pPr>
              <a:r>
                <a:rPr lang="es-ES" sz="1800" b="0" i="0" u="none" strike="noStrike" cap="none" dirty="0">
                  <a:solidFill>
                    <a:schemeClr val="dk1"/>
                  </a:solidFill>
                  <a:latin typeface="Gill Sans"/>
                  <a:ea typeface="Gill Sans"/>
                  <a:cs typeface="Gill Sans"/>
                </a:rPr>
                <a:t>•	</a:t>
              </a:r>
              <a:r>
                <a:rPr lang="es-ES" sz="1800" dirty="0"/>
                <a:t>Adquirir un dominio profundo en el diseño, implementación y consumo de servicios web SOAP en </a:t>
              </a:r>
              <a:r>
                <a:rPr lang="es-ES" sz="1800" dirty="0" err="1"/>
                <a:t>Dotnet</a:t>
              </a:r>
              <a:r>
                <a:rPr lang="es-ES" sz="1800" dirty="0"/>
                <a:t>, garantizando una interacción fluida y segura entre sistemas distribuido.</a:t>
              </a:r>
              <a:endParaRPr dirty="0"/>
            </a:p>
            <a:p>
              <a:pPr marL="0" marR="0" lvl="0" indent="0" algn="just" rtl="0">
                <a:lnSpc>
                  <a:spcPct val="114999"/>
                </a:lnSpc>
                <a:spcBef>
                  <a:spcPts val="1200"/>
                </a:spcBef>
                <a:spcAft>
                  <a:spcPts val="0"/>
                </a:spcAft>
                <a:buClr>
                  <a:schemeClr val="dk1"/>
                </a:buClr>
                <a:buSzPts val="1100"/>
                <a:buFont typeface="Arial"/>
                <a:buNone/>
                <a:defRPr/>
              </a:pPr>
              <a:endParaRPr lang="es-ES" sz="2300" b="0" i="0" u="none" strike="noStrike" cap="none" dirty="0">
                <a:solidFill>
                  <a:schemeClr val="dk1"/>
                </a:solidFill>
                <a:latin typeface="Gill Sans"/>
                <a:ea typeface="Gill Sans"/>
                <a:cs typeface="Gill Sans"/>
              </a:endParaRPr>
            </a:p>
          </p:txBody>
        </p:sp>
      </p:gr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chemeClr val="lt1"/>
        </a:solidFill>
        <a:effectLst/>
      </p:bgPr>
    </p:bg>
    <p:spTree>
      <p:nvGrpSpPr>
        <p:cNvPr id="1" name=""/>
        <p:cNvGrpSpPr/>
        <p:nvPr/>
      </p:nvGrpSpPr>
      <p:grpSpPr bwMode="auto">
        <a:xfrm>
          <a:off x="0" y="0"/>
          <a:ext cx="0" cy="0"/>
          <a:chOff x="0" y="0"/>
          <a:chExt cx="0" cy="0"/>
        </a:xfrm>
      </p:grpSpPr>
      <p:sp>
        <p:nvSpPr>
          <p:cNvPr id="1125783271" name="Google Shape;121;p7"/>
          <p:cNvSpPr/>
          <p:nvPr/>
        </p:nvSpPr>
        <p:spPr bwMode="auto">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defRPr/>
            </a:pPr>
            <a:endParaRPr sz="1800" b="0" i="0" u="none" strike="noStrike" cap="none">
              <a:solidFill>
                <a:schemeClr val="lt1"/>
              </a:solidFill>
              <a:latin typeface="Gill Sans"/>
              <a:ea typeface="Gill Sans"/>
              <a:cs typeface="Gill Sans"/>
            </a:endParaRPr>
          </a:p>
        </p:txBody>
      </p:sp>
      <p:sp>
        <p:nvSpPr>
          <p:cNvPr id="116406274" name="Google Shape;122;p7"/>
          <p:cNvSpPr/>
          <p:nvPr/>
        </p:nvSpPr>
        <p:spPr bwMode="auto">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939306193" name="Google Shape;123;p7"/>
          <p:cNvSpPr/>
          <p:nvPr/>
        </p:nvSpPr>
        <p:spPr bwMode="auto">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1741628652" name="Google Shape;124;p7"/>
          <p:cNvSpPr/>
          <p:nvPr/>
        </p:nvSpPr>
        <p:spPr bwMode="auto">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defRPr/>
            </a:pPr>
            <a:endParaRPr sz="1800" b="0" i="0" u="none" strike="noStrike" cap="none">
              <a:solidFill>
                <a:schemeClr val="lt1"/>
              </a:solidFill>
              <a:latin typeface="Gill Sans"/>
              <a:ea typeface="Gill Sans"/>
              <a:cs typeface="Gill Sans"/>
            </a:endParaRPr>
          </a:p>
        </p:txBody>
      </p:sp>
      <p:sp>
        <p:nvSpPr>
          <p:cNvPr id="252366952" name="Google Shape;125;p7"/>
          <p:cNvSpPr txBox="1">
            <a:spLocks noGrp="1"/>
          </p:cNvSpPr>
          <p:nvPr>
            <p:ph type="title"/>
          </p:nvPr>
        </p:nvSpPr>
        <p:spPr bwMode="auto">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defRPr/>
            </a:pPr>
            <a:r>
              <a:rPr lang="es-ES" sz="5400">
                <a:solidFill>
                  <a:srgbClr val="FFFFFF"/>
                </a:solidFill>
              </a:rPr>
              <a:t>2	DESARROLLO</a:t>
            </a:r>
            <a:endParaRPr sz="5400">
              <a:solidFill>
                <a:srgbClr val="FFFFFF"/>
              </a:solidFill>
            </a:endParaRPr>
          </a:p>
        </p:txBody>
      </p:sp>
      <p:sp>
        <p:nvSpPr>
          <p:cNvPr id="1769744214" name="Google Shape;126;p7"/>
          <p:cNvSpPr txBox="1">
            <a:spLocks noGrp="1"/>
          </p:cNvSpPr>
          <p:nvPr>
            <p:ph type="body" idx="1"/>
          </p:nvPr>
        </p:nvSpPr>
        <p:spPr bwMode="auto">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defRPr/>
            </a:pPr>
            <a:endParaRPr/>
          </a:p>
          <a:p>
            <a:pPr marL="306000" lvl="0" indent="-200844" algn="l" rtl="0">
              <a:lnSpc>
                <a:spcPct val="100000"/>
              </a:lnSpc>
              <a:spcBef>
                <a:spcPts val="960"/>
              </a:spcBef>
              <a:spcAft>
                <a:spcPts val="0"/>
              </a:spcAft>
              <a:buSzPts val="1656"/>
              <a:buNone/>
              <a:defRPr/>
            </a:pPr>
            <a:endParaRPr/>
          </a:p>
        </p:txBody>
      </p:sp>
      <p:sp>
        <p:nvSpPr>
          <p:cNvPr id="2054467373" name="Google Shape;127;p7"/>
          <p:cNvSpPr txBox="1"/>
          <p:nvPr/>
        </p:nvSpPr>
        <p:spPr bwMode="auto">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dk1"/>
                </a:solidFill>
                <a:latin typeface="Gill Sans"/>
                <a:ea typeface="Gill Sans"/>
                <a:cs typeface="Gill Sans"/>
              </a:rPr>
              <a:t>7</a:t>
            </a:r>
            <a:endParaRPr sz="1400" b="0" i="0" u="none" strike="noStrike" cap="none">
              <a:solidFill>
                <a:srgbClr val="000000"/>
              </a:solidFill>
              <a:latin typeface="Arial"/>
              <a:ea typeface="Arial"/>
              <a:cs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2016777" name="Google Shape;132;p8"/>
          <p:cNvSpPr txBox="1">
            <a:spLocks noGrp="1"/>
          </p:cNvSpPr>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2.1 CREACIÓN DEL PROYECTO POR PARTE DEL SERVIDOR  </a:t>
            </a:r>
            <a:endParaRPr/>
          </a:p>
          <a:p>
            <a:pPr marL="0" lvl="0" indent="0" algn="l" rtl="0">
              <a:lnSpc>
                <a:spcPct val="100000"/>
              </a:lnSpc>
              <a:spcBef>
                <a:spcPts val="0"/>
              </a:spcBef>
              <a:spcAft>
                <a:spcPts val="0"/>
              </a:spcAft>
              <a:buClr>
                <a:schemeClr val="lt1"/>
              </a:buClr>
              <a:buSzPts val="2800"/>
              <a:buFont typeface="Gill Sans"/>
              <a:buNone/>
              <a:defRPr/>
            </a:pPr>
            <a:endParaRPr/>
          </a:p>
        </p:txBody>
      </p:sp>
      <p:sp>
        <p:nvSpPr>
          <p:cNvPr id="1394797684" name="Google Shape;133;p8"/>
          <p:cNvSpPr txBox="1"/>
          <p:nvPr/>
        </p:nvSpPr>
        <p:spPr bwMode="auto">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8</a:t>
            </a:r>
            <a:endParaRPr sz="1400" b="0" i="0" u="none" strike="noStrike" cap="none">
              <a:solidFill>
                <a:srgbClr val="000000"/>
              </a:solidFill>
              <a:latin typeface="Arial"/>
              <a:ea typeface="Arial"/>
              <a:cs typeface="Arial"/>
            </a:endParaRPr>
          </a:p>
        </p:txBody>
      </p:sp>
      <p:sp>
        <p:nvSpPr>
          <p:cNvPr id="1110858333" name="Google Shape;134;p8"/>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81410402" name="Google Shape;135;p8"/>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494610021" name="Google Shape;137;p8"/>
          <p:cNvSpPr txBox="1">
            <a:spLocks noGrp="1"/>
          </p:cNvSpPr>
          <p:nvPr>
            <p:ph type="body" idx="1"/>
          </p:nvPr>
        </p:nvSpPr>
        <p:spPr bwMode="auto">
          <a:xfrm>
            <a:off x="237600" y="2057800"/>
            <a:ext cx="30747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4999"/>
              </a:lnSpc>
              <a:spcBef>
                <a:spcPts val="1200"/>
              </a:spcBef>
              <a:spcAft>
                <a:spcPts val="0"/>
              </a:spcAft>
              <a:buClr>
                <a:schemeClr val="dk1"/>
              </a:buClr>
              <a:buSzPts val="1656"/>
              <a:buChar char="◼"/>
              <a:defRPr/>
            </a:pPr>
            <a:r>
              <a:rPr lang="es-ES" dirty="0">
                <a:solidFill>
                  <a:schemeClr val="dk1"/>
                </a:solidFill>
              </a:rPr>
              <a:t>Crear un nuevo proyecto </a:t>
            </a:r>
            <a:r>
              <a:rPr lang="en-US" sz="1800" dirty="0">
                <a:solidFill>
                  <a:srgbClr val="548DD4"/>
                </a:solidFill>
                <a:latin typeface="Calibri"/>
                <a:ea typeface="MS Mincho"/>
                <a:cs typeface="Arial"/>
              </a:rPr>
              <a:t>Biblioteca de servicios WCF </a:t>
            </a:r>
            <a:r>
              <a:rPr lang="es-ES" dirty="0">
                <a:solidFill>
                  <a:schemeClr val="dk1"/>
                </a:solidFill>
              </a:rPr>
              <a:t>el cual será el servidor del proyecto SOAP</a:t>
            </a:r>
            <a:endParaRPr dirty="0">
              <a:solidFill>
                <a:schemeClr val="dk1"/>
              </a:solidFill>
            </a:endParaRPr>
          </a:p>
          <a:p>
            <a:pPr marL="457200" lvl="0" indent="0" algn="l" rtl="0">
              <a:lnSpc>
                <a:spcPct val="114999"/>
              </a:lnSpc>
              <a:spcBef>
                <a:spcPts val="0"/>
              </a:spcBef>
              <a:spcAft>
                <a:spcPts val="0"/>
              </a:spcAft>
              <a:buNone/>
              <a:defRPr/>
            </a:pPr>
            <a:endParaRPr dirty="0">
              <a:solidFill>
                <a:schemeClr val="dk1"/>
              </a:solidFill>
            </a:endParaRPr>
          </a:p>
          <a:p>
            <a:pPr marL="306000" lvl="0" indent="0" algn="l" rtl="0">
              <a:lnSpc>
                <a:spcPct val="114999"/>
              </a:lnSpc>
              <a:spcBef>
                <a:spcPts val="1200"/>
              </a:spcBef>
              <a:spcAft>
                <a:spcPts val="0"/>
              </a:spcAft>
              <a:buSzPts val="1948"/>
              <a:buNone/>
              <a:defRPr/>
            </a:pPr>
            <a:endParaRPr dirty="0">
              <a:solidFill>
                <a:schemeClr val="dk1"/>
              </a:solidFill>
            </a:endParaRPr>
          </a:p>
          <a:p>
            <a:pPr marL="306000" lvl="0" indent="0" algn="just" rtl="0">
              <a:lnSpc>
                <a:spcPct val="114999"/>
              </a:lnSpc>
              <a:spcBef>
                <a:spcPts val="1200"/>
              </a:spcBef>
              <a:spcAft>
                <a:spcPts val="1200"/>
              </a:spcAft>
              <a:buSzPts val="1948"/>
              <a:buNone/>
              <a:defRPr/>
            </a:pPr>
            <a:endParaRPr dirty="0">
              <a:solidFill>
                <a:schemeClr val="dk1"/>
              </a:solidFill>
            </a:endParaRPr>
          </a:p>
        </p:txBody>
      </p:sp>
      <p:sp>
        <p:nvSpPr>
          <p:cNvPr id="358390661" name="Google Shape;138;p8"/>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1121426058" name="Imagen 1"/>
          <p:cNvPicPr>
            <a:picLocks noChangeAspect="1"/>
          </p:cNvPicPr>
          <p:nvPr/>
        </p:nvPicPr>
        <p:blipFill rotWithShape="1">
          <a:blip r:embed="rId3"/>
          <a:stretch/>
        </p:blipFill>
        <p:spPr bwMode="auto">
          <a:xfrm>
            <a:off x="3789812" y="2673083"/>
            <a:ext cx="5089890" cy="2813316"/>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14632409" name="Google Shape;143;p17"/>
          <p:cNvSpPr txBox="1">
            <a:spLocks noGrp="1"/>
          </p:cNvSpPr>
          <p:nvPr>
            <p:ph type="body" idx="1"/>
          </p:nvPr>
        </p:nvSpPr>
        <p:spPr bwMode="auto">
          <a:xfrm>
            <a:off x="552625" y="2161450"/>
            <a:ext cx="2822969" cy="4400100"/>
          </a:xfrm>
          <a:prstGeom prst="rect">
            <a:avLst/>
          </a:prstGeom>
          <a:noFill/>
          <a:ln>
            <a:noFill/>
          </a:ln>
        </p:spPr>
        <p:txBody>
          <a:bodyPr spcFirstLastPara="1" wrap="square" lIns="91425" tIns="45700" rIns="91425" bIns="45700" anchor="ctr" anchorCtr="0">
            <a:normAutofit/>
          </a:bodyPr>
          <a:lstStyle/>
          <a:p>
            <a:pPr marL="306000" lvl="0" indent="-305999" algn="l" rtl="0">
              <a:lnSpc>
                <a:spcPct val="114999"/>
              </a:lnSpc>
              <a:spcBef>
                <a:spcPts val="1200"/>
              </a:spcBef>
              <a:spcAft>
                <a:spcPts val="0"/>
              </a:spcAft>
              <a:buClr>
                <a:schemeClr val="dk1"/>
              </a:buClr>
              <a:buSzPts val="1656"/>
              <a:buChar char="◼"/>
              <a:defRPr/>
            </a:pPr>
            <a:r>
              <a:rPr lang="es-ES" dirty="0">
                <a:solidFill>
                  <a:schemeClr val="dk1"/>
                </a:solidFill>
              </a:rPr>
              <a:t>Definir el nombre del proyecto como “WS_CON_UNI_SOAP_DOTNET”. </a:t>
            </a:r>
            <a:endParaRPr dirty="0">
              <a:solidFill>
                <a:schemeClr val="dk1"/>
              </a:solidFill>
            </a:endParaRPr>
          </a:p>
          <a:p>
            <a:pPr marL="457200" lvl="0" indent="0" algn="l" rtl="0">
              <a:lnSpc>
                <a:spcPct val="114999"/>
              </a:lnSpc>
              <a:spcBef>
                <a:spcPts val="0"/>
              </a:spcBef>
              <a:spcAft>
                <a:spcPts val="0"/>
              </a:spcAft>
              <a:buNone/>
              <a:defRPr/>
            </a:pPr>
            <a:endParaRPr dirty="0">
              <a:solidFill>
                <a:schemeClr val="dk1"/>
              </a:solidFill>
            </a:endParaRPr>
          </a:p>
          <a:p>
            <a:pPr marL="306000" lvl="0" indent="0" algn="l" rtl="0">
              <a:lnSpc>
                <a:spcPct val="114999"/>
              </a:lnSpc>
              <a:spcBef>
                <a:spcPts val="1200"/>
              </a:spcBef>
              <a:spcAft>
                <a:spcPts val="0"/>
              </a:spcAft>
              <a:buSzPts val="1948"/>
              <a:buNone/>
              <a:defRPr/>
            </a:pPr>
            <a:endParaRPr dirty="0">
              <a:solidFill>
                <a:schemeClr val="dk1"/>
              </a:solidFill>
            </a:endParaRPr>
          </a:p>
          <a:p>
            <a:pPr marL="306000" lvl="0" indent="0" algn="just" rtl="0">
              <a:lnSpc>
                <a:spcPct val="114999"/>
              </a:lnSpc>
              <a:spcBef>
                <a:spcPts val="1200"/>
              </a:spcBef>
              <a:spcAft>
                <a:spcPts val="1200"/>
              </a:spcAft>
              <a:buSzPts val="1948"/>
              <a:buNone/>
              <a:defRPr/>
            </a:pPr>
            <a:endParaRPr dirty="0">
              <a:solidFill>
                <a:schemeClr val="dk1"/>
              </a:solidFill>
            </a:endParaRPr>
          </a:p>
        </p:txBody>
      </p:sp>
      <p:sp>
        <p:nvSpPr>
          <p:cNvPr id="2068890231" name="Google Shape;144;p17"/>
          <p:cNvSpPr txBox="1"/>
          <p:nvPr/>
        </p:nvSpPr>
        <p:spPr bwMode="auto">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462181760" name="Google Shape;145;p1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949730652" name="Google Shape;146;p1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554861089" name="Google Shape;148;p1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8ACF99E2-6FEB-DE4A-5984-BBAE4758D336}"/>
              </a:ext>
            </a:extLst>
          </p:cNvPr>
          <p:cNvPicPr>
            <a:picLocks noChangeAspect="1"/>
          </p:cNvPicPr>
          <p:nvPr/>
        </p:nvPicPr>
        <p:blipFill>
          <a:blip r:embed="rId3"/>
          <a:stretch>
            <a:fillRect/>
          </a:stretch>
        </p:blipFill>
        <p:spPr>
          <a:xfrm>
            <a:off x="3476685" y="2161450"/>
            <a:ext cx="5339723" cy="37798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84412026" name="Google Shape;164;g2524d66b2ad_0_22"/>
          <p:cNvSpPr txBox="1">
            <a:spLocks noGrp="1"/>
          </p:cNvSpPr>
          <p:nvPr>
            <p:ph type="body" idx="1"/>
          </p:nvPr>
        </p:nvSpPr>
        <p:spPr bwMode="auto">
          <a:xfrm>
            <a:off x="622462" y="2231170"/>
            <a:ext cx="3312300" cy="4400100"/>
          </a:xfrm>
          <a:prstGeom prst="rect">
            <a:avLst/>
          </a:prstGeom>
          <a:noFill/>
          <a:ln>
            <a:noFill/>
          </a:ln>
        </p:spPr>
        <p:txBody>
          <a:bodyPr spcFirstLastPara="1" wrap="square" lIns="91425" tIns="45700" rIns="91425" bIns="45700" anchor="ctr" anchorCtr="0">
            <a:normAutofit/>
          </a:bodyPr>
          <a:lstStyle/>
          <a:p>
            <a:pPr marL="15775" indent="0">
              <a:lnSpc>
                <a:spcPct val="114999"/>
              </a:lnSpc>
              <a:spcBef>
                <a:spcPts val="1200"/>
              </a:spcBef>
              <a:buClr>
                <a:schemeClr val="dk1"/>
              </a:buClr>
              <a:buSzPct val="91998"/>
              <a:buNone/>
              <a:defRPr/>
            </a:pPr>
            <a:endParaRPr lang="es-EC" sz="1800">
              <a:solidFill>
                <a:srgbClr val="548DD4"/>
              </a:solidFill>
              <a:latin typeface="Calibri"/>
              <a:ea typeface="MS Mincho"/>
              <a:cs typeface="Times New Roman"/>
            </a:endParaRPr>
          </a:p>
          <a:p>
            <a:pPr algn="just">
              <a:lnSpc>
                <a:spcPct val="114999"/>
              </a:lnSpc>
              <a:spcBef>
                <a:spcPts val="600"/>
              </a:spcBef>
              <a:spcAft>
                <a:spcPts val="1600"/>
              </a:spcAft>
              <a:defRPr/>
            </a:pPr>
            <a:r>
              <a:rPr lang="es-EC" sz="1800">
                <a:solidFill>
                  <a:srgbClr val="548DD4"/>
                </a:solidFill>
                <a:latin typeface="Calibri"/>
                <a:ea typeface="MS Mincho"/>
                <a:cs typeface="Arial"/>
              </a:rPr>
              <a:t>Sobre el proyecto vacío se empieza creando la estructura de carpetas que nos permitirá organizar el código de acuerdo al patrón MVC (Modelo, Vista, Controlador). Haciendo clic derecho sobre la solución podemos agregar nuevas carpetas y asignándoles su nombre respectivo.</a:t>
            </a:r>
            <a:endParaRPr>
              <a:solidFill>
                <a:schemeClr val="dk1"/>
              </a:solidFill>
            </a:endParaRPr>
          </a:p>
          <a:p>
            <a:pPr marL="306000" lvl="0" indent="0" algn="just" rtl="0">
              <a:lnSpc>
                <a:spcPct val="114999"/>
              </a:lnSpc>
              <a:spcBef>
                <a:spcPts val="1200"/>
              </a:spcBef>
              <a:spcAft>
                <a:spcPts val="1200"/>
              </a:spcAft>
              <a:buSzPct val="108235"/>
              <a:buNone/>
              <a:defRPr/>
            </a:pPr>
            <a:endParaRPr>
              <a:solidFill>
                <a:schemeClr val="dk1"/>
              </a:solidFill>
            </a:endParaRPr>
          </a:p>
        </p:txBody>
      </p:sp>
      <p:sp>
        <p:nvSpPr>
          <p:cNvPr id="1716814539" name="Google Shape;165;g2524d66b2ad_0_22"/>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676419393" name="Google Shape;166;g2524d66b2ad_0_22"/>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522656769" name="Google Shape;167;g2524d66b2ad_0_22"/>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319105028" name="Google Shape;170;g2524d66b2ad_0_22"/>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1964676504" name="Imagen 3"/>
          <p:cNvPicPr/>
          <p:nvPr/>
        </p:nvPicPr>
        <p:blipFill rotWithShape="1">
          <a:blip r:embed="rId3"/>
          <a:stretch/>
        </p:blipFill>
        <p:spPr bwMode="auto">
          <a:xfrm>
            <a:off x="4455089" y="2753033"/>
            <a:ext cx="4236627" cy="2753032"/>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41663942" name="Google Shape;219;g2524d66b2ad_0_97"/>
          <p:cNvSpPr txBox="1">
            <a:spLocks noGrp="1"/>
          </p:cNvSpPr>
          <p:nvPr>
            <p:ph type="body" idx="1"/>
          </p:nvPr>
        </p:nvSpPr>
        <p:spPr bwMode="auto">
          <a:xfrm>
            <a:off x="581200" y="1817725"/>
            <a:ext cx="3312300" cy="4400100"/>
          </a:xfrm>
          <a:prstGeom prst="rect">
            <a:avLst/>
          </a:prstGeom>
          <a:noFill/>
          <a:ln>
            <a:noFill/>
          </a:ln>
        </p:spPr>
        <p:txBody>
          <a:bodyPr spcFirstLastPara="1" wrap="square" lIns="91425" tIns="45700" rIns="91425" bIns="45700" anchor="ctr" anchorCtr="0">
            <a:normAutofit/>
          </a:bodyPr>
          <a:lstStyle/>
          <a:p>
            <a:pPr marL="123444" indent="0" algn="just">
              <a:lnSpc>
                <a:spcPct val="114999"/>
              </a:lnSpc>
              <a:spcBef>
                <a:spcPts val="200"/>
              </a:spcBef>
              <a:buNone/>
              <a:defRPr/>
            </a:pPr>
            <a:r>
              <a:rPr lang="es-US" sz="1800" b="1">
                <a:solidFill>
                  <a:srgbClr val="243F60"/>
                </a:solidFill>
                <a:latin typeface="Calibri"/>
                <a:ea typeface="Cascadia Mono"/>
                <a:cs typeface="Times New Roman"/>
              </a:rPr>
              <a:t>CREACI</a:t>
            </a:r>
            <a:r>
              <a:rPr lang="es-EC" sz="1800" b="1">
                <a:solidFill>
                  <a:srgbClr val="243F60"/>
                </a:solidFill>
                <a:latin typeface="Calibri"/>
                <a:ea typeface="Cascadia Mono"/>
                <a:cs typeface="Times New Roman"/>
              </a:rPr>
              <a:t>ÓN Y CODIFICACIÓN DE MODELOS</a:t>
            </a:r>
            <a:endParaRPr lang="es-EC" sz="1800" b="1">
              <a:solidFill>
                <a:srgbClr val="243F60"/>
              </a:solidFill>
              <a:latin typeface="Calibri"/>
              <a:ea typeface="MS Gothic"/>
              <a:cs typeface="Times New Roman"/>
            </a:endParaRPr>
          </a:p>
          <a:p>
            <a:pPr algn="just">
              <a:lnSpc>
                <a:spcPct val="114999"/>
              </a:lnSpc>
              <a:spcBef>
                <a:spcPts val="600"/>
              </a:spcBef>
              <a:spcAft>
                <a:spcPts val="1600"/>
              </a:spcAft>
              <a:defRPr/>
            </a:pPr>
            <a:r>
              <a:rPr lang="es-US" sz="1800">
                <a:solidFill>
                  <a:srgbClr val="548DD4"/>
                </a:solidFill>
                <a:latin typeface="Calibri"/>
                <a:ea typeface="MS Mincho"/>
                <a:cs typeface="Arial"/>
              </a:rPr>
              <a:t>Se crean los modelos en la carpeta correspondiente “Modelo” dentro del directorio ec.edu.monster en la estructura de archivos de acuerdo al patrón MVC. </a:t>
            </a:r>
            <a:endParaRPr lang="es-EC" sz="1800">
              <a:solidFill>
                <a:srgbClr val="548DD4"/>
              </a:solidFill>
              <a:latin typeface="Calibri"/>
              <a:ea typeface="MS Mincho"/>
              <a:cs typeface="Arial"/>
            </a:endParaRPr>
          </a:p>
          <a:p>
            <a:pPr marL="306000" lvl="0" indent="0" algn="l" rtl="0">
              <a:lnSpc>
                <a:spcPct val="114999"/>
              </a:lnSpc>
              <a:spcBef>
                <a:spcPts val="1200"/>
              </a:spcBef>
              <a:spcAft>
                <a:spcPts val="0"/>
              </a:spcAft>
              <a:buSzPts val="1948"/>
              <a:buNone/>
              <a:defRPr/>
            </a:pPr>
            <a:endParaRPr>
              <a:solidFill>
                <a:schemeClr val="dk1"/>
              </a:solidFill>
            </a:endParaRPr>
          </a:p>
          <a:p>
            <a:pPr marL="306000" lvl="0" indent="0" algn="just" rtl="0">
              <a:lnSpc>
                <a:spcPct val="114999"/>
              </a:lnSpc>
              <a:spcBef>
                <a:spcPts val="1200"/>
              </a:spcBef>
              <a:spcAft>
                <a:spcPts val="1200"/>
              </a:spcAft>
              <a:buSzPts val="1948"/>
              <a:buNone/>
              <a:defRPr/>
            </a:pPr>
            <a:endParaRPr>
              <a:solidFill>
                <a:schemeClr val="dk1"/>
              </a:solidFill>
            </a:endParaRPr>
          </a:p>
        </p:txBody>
      </p:sp>
      <p:sp>
        <p:nvSpPr>
          <p:cNvPr id="766234693" name="Google Shape;220;g2524d66b2ad_0_97"/>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886300322" name="Google Shape;221;g2524d66b2ad_0_9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719744701" name="Google Shape;222;g2524d66b2ad_0_9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935387651" name="Google Shape;225;g2524d66b2ad_0_9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9AA7A307-6C69-0176-7D07-18A2C195E2D5}"/>
              </a:ext>
            </a:extLst>
          </p:cNvPr>
          <p:cNvPicPr>
            <a:picLocks noChangeAspect="1"/>
          </p:cNvPicPr>
          <p:nvPr/>
        </p:nvPicPr>
        <p:blipFill>
          <a:blip r:embed="rId3"/>
          <a:stretch>
            <a:fillRect/>
          </a:stretch>
        </p:blipFill>
        <p:spPr>
          <a:xfrm>
            <a:off x="4788980" y="2163097"/>
            <a:ext cx="3847544" cy="3467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84984901" name="Google Shape;230;g2524d66b2ad_0_118"/>
          <p:cNvSpPr txBox="1">
            <a:spLocks noGrp="1"/>
          </p:cNvSpPr>
          <p:nvPr>
            <p:ph type="body" idx="1"/>
          </p:nvPr>
        </p:nvSpPr>
        <p:spPr bwMode="auto">
          <a:xfrm>
            <a:off x="522207" y="3007428"/>
            <a:ext cx="3312300" cy="3059075"/>
          </a:xfrm>
          <a:prstGeom prst="rect">
            <a:avLst/>
          </a:prstGeom>
          <a:noFill/>
          <a:ln>
            <a:noFill/>
          </a:ln>
        </p:spPr>
        <p:txBody>
          <a:bodyPr spcFirstLastPara="1" wrap="square" lIns="91425" tIns="45700" rIns="91425" bIns="45700" anchor="ctr" anchorCtr="0">
            <a:normAutofit/>
          </a:bodyPr>
          <a:lstStyle/>
          <a:p>
            <a:pPr marL="306000" indent="-306000">
              <a:lnSpc>
                <a:spcPct val="114999"/>
              </a:lnSpc>
              <a:spcBef>
                <a:spcPts val="1200"/>
              </a:spcBef>
              <a:buClr>
                <a:schemeClr val="dk1"/>
              </a:buClr>
              <a:defRPr/>
            </a:pPr>
            <a:r>
              <a:rPr lang="es-419" sz="1800" dirty="0">
                <a:solidFill>
                  <a:srgbClr val="548DD4"/>
                </a:solidFill>
                <a:latin typeface="Calibri"/>
                <a:ea typeface="MS Mincho"/>
                <a:cs typeface="Arial"/>
              </a:rPr>
              <a:t>Define el contrato de un Servicio Web (WCF) que centraliza la autenticación de usuarios y ofrece múltiples métodos para convertir unidades de masa, temperatura y longitud.</a:t>
            </a:r>
            <a:endParaRPr lang="es-ES" sz="1800" dirty="0">
              <a:solidFill>
                <a:srgbClr val="548DD4"/>
              </a:solidFill>
              <a:latin typeface="Calibri"/>
              <a:ea typeface="MS Mincho"/>
              <a:cs typeface="Times New Roman"/>
            </a:endParaRPr>
          </a:p>
          <a:p>
            <a:pPr marL="306000" lvl="0" indent="-306000" algn="l" rtl="0">
              <a:lnSpc>
                <a:spcPct val="114999"/>
              </a:lnSpc>
              <a:spcBef>
                <a:spcPts val="1200"/>
              </a:spcBef>
              <a:spcAft>
                <a:spcPts val="0"/>
              </a:spcAft>
              <a:buClr>
                <a:schemeClr val="dk1"/>
              </a:buClr>
              <a:buSzPts val="1656"/>
              <a:buChar char="◼"/>
              <a:defRPr/>
            </a:pPr>
            <a:endParaRPr dirty="0">
              <a:solidFill>
                <a:schemeClr val="dk1"/>
              </a:solidFill>
            </a:endParaRPr>
          </a:p>
          <a:p>
            <a:pPr marL="306000" lvl="0" indent="0" algn="just" rtl="0">
              <a:lnSpc>
                <a:spcPct val="114999"/>
              </a:lnSpc>
              <a:spcBef>
                <a:spcPts val="1200"/>
              </a:spcBef>
              <a:spcAft>
                <a:spcPts val="1200"/>
              </a:spcAft>
              <a:buSzPts val="1948"/>
              <a:buNone/>
              <a:defRPr/>
            </a:pPr>
            <a:endParaRPr dirty="0">
              <a:solidFill>
                <a:schemeClr val="dk1"/>
              </a:solidFill>
            </a:endParaRPr>
          </a:p>
        </p:txBody>
      </p:sp>
      <p:sp>
        <p:nvSpPr>
          <p:cNvPr id="636718580" name="Google Shape;231;g2524d66b2ad_0_118"/>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85464255" name="Google Shape;232;g2524d66b2ad_0_118"/>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856261623" name="Google Shape;233;g2524d66b2ad_0_118"/>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686418618" name="Google Shape;236;g2524d66b2ad_0_118"/>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028DF9EA-7A58-66E5-EA8E-8C9C60024C65}"/>
              </a:ext>
            </a:extLst>
          </p:cNvPr>
          <p:cNvPicPr>
            <a:picLocks noChangeAspect="1"/>
          </p:cNvPicPr>
          <p:nvPr/>
        </p:nvPicPr>
        <p:blipFill>
          <a:blip r:embed="rId3"/>
          <a:stretch>
            <a:fillRect/>
          </a:stretch>
        </p:blipFill>
        <p:spPr>
          <a:xfrm>
            <a:off x="4395630" y="2615167"/>
            <a:ext cx="4522228" cy="813833"/>
          </a:xfrm>
          <a:prstGeom prst="rect">
            <a:avLst/>
          </a:prstGeom>
        </p:spPr>
      </p:pic>
      <p:pic>
        <p:nvPicPr>
          <p:cNvPr id="5" name="Picture 4">
            <a:extLst>
              <a:ext uri="{FF2B5EF4-FFF2-40B4-BE49-F238E27FC236}">
                <a16:creationId xmlns:a16="http://schemas.microsoft.com/office/drawing/2014/main" id="{F228C665-595D-08EC-D741-692F2222A4CC}"/>
              </a:ext>
            </a:extLst>
          </p:cNvPr>
          <p:cNvPicPr>
            <a:picLocks noChangeAspect="1"/>
          </p:cNvPicPr>
          <p:nvPr/>
        </p:nvPicPr>
        <p:blipFill>
          <a:blip r:embed="rId4"/>
          <a:stretch>
            <a:fillRect/>
          </a:stretch>
        </p:blipFill>
        <p:spPr>
          <a:xfrm>
            <a:off x="4395630" y="3682192"/>
            <a:ext cx="4522229" cy="26636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8318374" name="Google Shape;241;g2524d66b2ad_0_127"/>
          <p:cNvSpPr txBox="1">
            <a:spLocks noGrp="1"/>
          </p:cNvSpPr>
          <p:nvPr>
            <p:ph type="body" idx="1"/>
          </p:nvPr>
        </p:nvSpPr>
        <p:spPr bwMode="auto">
          <a:xfrm>
            <a:off x="594664" y="1918364"/>
            <a:ext cx="3074700" cy="2884631"/>
          </a:xfrm>
          <a:prstGeom prst="rect">
            <a:avLst/>
          </a:prstGeom>
          <a:noFill/>
          <a:ln>
            <a:noFill/>
          </a:ln>
        </p:spPr>
        <p:txBody>
          <a:bodyPr spcFirstLastPara="1" wrap="square" lIns="91425" tIns="45700" rIns="91425" bIns="45700" anchor="ctr" anchorCtr="0">
            <a:normAutofit/>
          </a:bodyPr>
          <a:lstStyle/>
          <a:p>
            <a:pPr algn="just">
              <a:lnSpc>
                <a:spcPct val="114999"/>
              </a:lnSpc>
              <a:spcBef>
                <a:spcPts val="600"/>
              </a:spcBef>
              <a:spcAft>
                <a:spcPts val="1600"/>
              </a:spcAft>
              <a:defRPr/>
            </a:pPr>
            <a:r>
              <a:rPr lang="es-EC" sz="1800" dirty="0">
                <a:solidFill>
                  <a:srgbClr val="548DD4"/>
                </a:solidFill>
                <a:latin typeface="Calibri"/>
                <a:ea typeface="MS Mincho"/>
                <a:cs typeface="Arial"/>
              </a:rPr>
              <a:t>Posteriormente se añaden los contratos para las conversiones de temperatura y de longitud</a:t>
            </a:r>
            <a:endParaRPr dirty="0">
              <a:solidFill>
                <a:schemeClr val="dk1"/>
              </a:solidFill>
            </a:endParaRPr>
          </a:p>
        </p:txBody>
      </p:sp>
      <p:sp>
        <p:nvSpPr>
          <p:cNvPr id="971150631" name="Google Shape;242;g2524d66b2ad_0_127"/>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2055881525" name="Google Shape;243;g2524d66b2ad_0_12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777756455" name="Google Shape;244;g2524d66b2ad_0_12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98440294" name="Google Shape;247;g2524d66b2ad_0_12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6" name="Picture 5">
            <a:extLst>
              <a:ext uri="{FF2B5EF4-FFF2-40B4-BE49-F238E27FC236}">
                <a16:creationId xmlns:a16="http://schemas.microsoft.com/office/drawing/2014/main" id="{1A8941DF-F5FD-5E6F-A28E-7E3F80302A68}"/>
              </a:ext>
            </a:extLst>
          </p:cNvPr>
          <p:cNvPicPr>
            <a:picLocks noChangeAspect="1"/>
          </p:cNvPicPr>
          <p:nvPr/>
        </p:nvPicPr>
        <p:blipFill>
          <a:blip r:embed="rId3"/>
          <a:stretch>
            <a:fillRect/>
          </a:stretch>
        </p:blipFill>
        <p:spPr>
          <a:xfrm>
            <a:off x="4046496" y="2345492"/>
            <a:ext cx="4871363" cy="31178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67549567" name="Google Shape;252;g2524d66b2ad_0_140"/>
          <p:cNvSpPr txBox="1">
            <a:spLocks noGrp="1"/>
          </p:cNvSpPr>
          <p:nvPr>
            <p:ph type="body" idx="1"/>
          </p:nvPr>
        </p:nvSpPr>
        <p:spPr bwMode="auto">
          <a:xfrm>
            <a:off x="581200" y="1817725"/>
            <a:ext cx="3312300" cy="4400100"/>
          </a:xfrm>
          <a:prstGeom prst="rect">
            <a:avLst/>
          </a:prstGeom>
          <a:noFill/>
          <a:ln>
            <a:noFill/>
          </a:ln>
        </p:spPr>
        <p:txBody>
          <a:bodyPr spcFirstLastPara="1" wrap="square" lIns="91425" tIns="45700" rIns="91425" bIns="45700" anchor="ctr" anchorCtr="0">
            <a:normAutofit/>
          </a:bodyPr>
          <a:lstStyle/>
          <a:p>
            <a:pPr marL="123444" indent="0" algn="just">
              <a:lnSpc>
                <a:spcPct val="114999"/>
              </a:lnSpc>
              <a:spcBef>
                <a:spcPts val="200"/>
              </a:spcBef>
              <a:buNone/>
              <a:defRPr/>
            </a:pPr>
            <a:r>
              <a:rPr lang="es-US" sz="1800" b="1">
                <a:solidFill>
                  <a:srgbClr val="243F60"/>
                </a:solidFill>
                <a:latin typeface="Calibri"/>
                <a:ea typeface="Cascadia Mono"/>
                <a:cs typeface="Times New Roman"/>
              </a:rPr>
              <a:t>CREACI</a:t>
            </a:r>
            <a:r>
              <a:rPr lang="es-EC" sz="1800" b="1">
                <a:solidFill>
                  <a:srgbClr val="243F60"/>
                </a:solidFill>
                <a:latin typeface="Calibri"/>
                <a:ea typeface="Cascadia Mono"/>
                <a:cs typeface="Times New Roman"/>
              </a:rPr>
              <a:t>ÓN Y CODIFICACIÓN DE CONTROLLERS</a:t>
            </a:r>
            <a:endParaRPr lang="es-EC" sz="1800" b="1">
              <a:solidFill>
                <a:srgbClr val="243F60"/>
              </a:solidFill>
              <a:latin typeface="Calibri"/>
              <a:ea typeface="MS Gothic"/>
              <a:cs typeface="Times New Roman"/>
            </a:endParaRPr>
          </a:p>
          <a:p>
            <a:pPr algn="just">
              <a:lnSpc>
                <a:spcPct val="114999"/>
              </a:lnSpc>
              <a:spcBef>
                <a:spcPts val="600"/>
              </a:spcBef>
              <a:spcAft>
                <a:spcPts val="1600"/>
              </a:spcAft>
              <a:defRPr/>
            </a:pPr>
            <a:r>
              <a:rPr lang="es-US" sz="1800">
                <a:solidFill>
                  <a:srgbClr val="548DD4"/>
                </a:solidFill>
                <a:latin typeface="Calibri"/>
                <a:ea typeface="MS Mincho"/>
                <a:cs typeface="Arial"/>
              </a:rPr>
              <a:t>Se crean los controladores en la carpeta correspondiente “Controlador” en la estructura de archivos de acuerdo al patrón MVC.</a:t>
            </a:r>
            <a:endParaRPr>
              <a:solidFill>
                <a:schemeClr val="dk1"/>
              </a:solidFill>
            </a:endParaRPr>
          </a:p>
        </p:txBody>
      </p:sp>
      <p:sp>
        <p:nvSpPr>
          <p:cNvPr id="1190821974" name="Google Shape;253;g2524d66b2ad_0_140"/>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2126320692" name="Google Shape;254;g2524d66b2ad_0_14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917222292" name="Google Shape;255;g2524d66b2ad_0_14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841626905" name="Google Shape;258;g2524d66b2ad_0_14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6AD955B1-AD65-FB79-22B2-2939DBE4C446}"/>
              </a:ext>
            </a:extLst>
          </p:cNvPr>
          <p:cNvPicPr>
            <a:picLocks noChangeAspect="1"/>
          </p:cNvPicPr>
          <p:nvPr/>
        </p:nvPicPr>
        <p:blipFill>
          <a:blip r:embed="rId3"/>
          <a:stretch>
            <a:fillRect/>
          </a:stretch>
        </p:blipFill>
        <p:spPr>
          <a:xfrm>
            <a:off x="4130029" y="3140427"/>
            <a:ext cx="4750808" cy="17546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2162151" name="Google Shape;263;g2524d66b2ad_0_155"/>
          <p:cNvSpPr txBox="1">
            <a:spLocks noGrp="1"/>
          </p:cNvSpPr>
          <p:nvPr>
            <p:ph type="body" idx="1"/>
          </p:nvPr>
        </p:nvSpPr>
        <p:spPr bwMode="auto">
          <a:xfrm>
            <a:off x="551702" y="1808792"/>
            <a:ext cx="3312300" cy="4350371"/>
          </a:xfrm>
          <a:prstGeom prst="rect">
            <a:avLst/>
          </a:prstGeom>
          <a:noFill/>
          <a:ln>
            <a:noFill/>
          </a:ln>
        </p:spPr>
        <p:txBody>
          <a:bodyPr spcFirstLastPara="1" wrap="square" lIns="91425" tIns="45700" rIns="91425" bIns="45700" anchor="ctr" anchorCtr="0">
            <a:normAutofit/>
          </a:bodyPr>
          <a:lstStyle/>
          <a:p>
            <a:pPr marL="123444" indent="0">
              <a:lnSpc>
                <a:spcPct val="114999"/>
              </a:lnSpc>
              <a:spcBef>
                <a:spcPts val="600"/>
              </a:spcBef>
              <a:spcAft>
                <a:spcPts val="1600"/>
              </a:spcAft>
              <a:buNone/>
              <a:defRPr/>
            </a:pPr>
            <a:r>
              <a:rPr lang="es-EC" sz="1800" dirty="0">
                <a:solidFill>
                  <a:srgbClr val="548DD4"/>
                </a:solidFill>
                <a:latin typeface="Calibri"/>
                <a:ea typeface="MS Mincho"/>
                <a:cs typeface="Arial"/>
              </a:rPr>
              <a:t>Se añade la clase “</a:t>
            </a:r>
            <a:r>
              <a:rPr lang="es-EC" dirty="0">
                <a:solidFill>
                  <a:srgbClr val="548DD4"/>
                </a:solidFill>
                <a:latin typeface="Calibri"/>
                <a:ea typeface="MS Mincho"/>
                <a:cs typeface="Arial"/>
              </a:rPr>
              <a:t>ServicioMonster.c</a:t>
            </a:r>
            <a:r>
              <a:rPr lang="es-EC" sz="1800" dirty="0">
                <a:solidFill>
                  <a:srgbClr val="548DD4"/>
                </a:solidFill>
                <a:latin typeface="Calibri"/>
                <a:ea typeface="MS Mincho"/>
                <a:cs typeface="Arial"/>
              </a:rPr>
              <a:t>s” y se codifica para realizar las operaciones sobre los datos de los usuarios de acuerdo al modelo previamente definido con los contratos.</a:t>
            </a:r>
            <a:endParaRPr dirty="0"/>
          </a:p>
        </p:txBody>
      </p:sp>
      <p:sp>
        <p:nvSpPr>
          <p:cNvPr id="913563966" name="Google Shape;264;g2524d66b2ad_0_155"/>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2034959343" name="Google Shape;265;g2524d66b2ad_0_15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780925722" name="Google Shape;266;g2524d66b2ad_0_15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633754599" name="Google Shape;268;g2524d66b2ad_0_15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1EFF1814-0686-30CA-D51D-EE74664EF852}"/>
              </a:ext>
            </a:extLst>
          </p:cNvPr>
          <p:cNvPicPr>
            <a:picLocks noChangeAspect="1"/>
          </p:cNvPicPr>
          <p:nvPr/>
        </p:nvPicPr>
        <p:blipFill>
          <a:blip r:embed="rId3"/>
          <a:stretch>
            <a:fillRect/>
          </a:stretch>
        </p:blipFill>
        <p:spPr>
          <a:xfrm>
            <a:off x="4020311" y="2502674"/>
            <a:ext cx="4940747" cy="296260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17378" name="Google Shape;273;g2524d66b2ad_0_170"/>
          <p:cNvSpPr txBox="1">
            <a:spLocks noGrp="1"/>
          </p:cNvSpPr>
          <p:nvPr>
            <p:ph type="body" idx="1"/>
          </p:nvPr>
        </p:nvSpPr>
        <p:spPr bwMode="auto">
          <a:xfrm>
            <a:off x="223780" y="1847222"/>
            <a:ext cx="3312300" cy="4400100"/>
          </a:xfrm>
          <a:prstGeom prst="rect">
            <a:avLst/>
          </a:prstGeom>
          <a:noFill/>
          <a:ln>
            <a:noFill/>
          </a:ln>
        </p:spPr>
        <p:txBody>
          <a:bodyPr spcFirstLastPara="1" wrap="square" lIns="91425" tIns="45700" rIns="91425" bIns="45700" anchor="ctr" anchorCtr="0">
            <a:normAutofit/>
          </a:bodyPr>
          <a:lstStyle/>
          <a:p>
            <a:pPr algn="just">
              <a:lnSpc>
                <a:spcPct val="114999"/>
              </a:lnSpc>
              <a:spcBef>
                <a:spcPts val="600"/>
              </a:spcBef>
              <a:spcAft>
                <a:spcPts val="1600"/>
              </a:spcAft>
              <a:defRPr/>
            </a:pPr>
            <a:r>
              <a:rPr lang="en-US" sz="1800" dirty="0">
                <a:solidFill>
                  <a:srgbClr val="548DD4"/>
                </a:solidFill>
                <a:latin typeface="Calibri"/>
                <a:ea typeface="MS Mincho"/>
                <a:cs typeface="Arial"/>
              </a:rPr>
              <a:t>Se de</a:t>
            </a:r>
            <a:r>
              <a:rPr lang="es-419" sz="1800" dirty="0">
                <a:solidFill>
                  <a:srgbClr val="548DD4"/>
                </a:solidFill>
                <a:latin typeface="Calibri"/>
                <a:ea typeface="MS Mincho"/>
                <a:cs typeface="Arial"/>
              </a:rPr>
              <a:t>fine el endpoint, el contrato (IServicioMonster) y la dirección base para desplegar y exponer el servicio WCF en el servidor.</a:t>
            </a:r>
            <a:endParaRPr dirty="0">
              <a:solidFill>
                <a:schemeClr val="dk1"/>
              </a:solidFill>
            </a:endParaRPr>
          </a:p>
          <a:p>
            <a:pPr marL="306000" lvl="0" indent="0" algn="just" rtl="0">
              <a:lnSpc>
                <a:spcPct val="114999"/>
              </a:lnSpc>
              <a:spcBef>
                <a:spcPts val="1200"/>
              </a:spcBef>
              <a:spcAft>
                <a:spcPts val="1200"/>
              </a:spcAft>
              <a:buSzPts val="1948"/>
              <a:buNone/>
              <a:defRPr/>
            </a:pPr>
            <a:endParaRPr dirty="0">
              <a:solidFill>
                <a:schemeClr val="dk1"/>
              </a:solidFill>
            </a:endParaRPr>
          </a:p>
        </p:txBody>
      </p:sp>
      <p:sp>
        <p:nvSpPr>
          <p:cNvPr id="2007365654" name="Google Shape;274;g2524d66b2ad_0_170"/>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963165170" name="Google Shape;275;g2524d66b2ad_0_17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35566848" name="Google Shape;276;g2524d66b2ad_0_17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16516462" name="Google Shape;278;g2524d66b2ad_0_17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03EBD9CE-237D-51F7-9600-3AFCB9CBFC76}"/>
              </a:ext>
            </a:extLst>
          </p:cNvPr>
          <p:cNvPicPr>
            <a:picLocks noChangeAspect="1"/>
          </p:cNvPicPr>
          <p:nvPr/>
        </p:nvPicPr>
        <p:blipFill>
          <a:blip r:embed="rId3"/>
          <a:stretch>
            <a:fillRect/>
          </a:stretch>
        </p:blipFill>
        <p:spPr>
          <a:xfrm>
            <a:off x="3726401" y="2713703"/>
            <a:ext cx="5200644" cy="22220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80661857" name="Google Shape;283;g2524d66b2ad_0_181"/>
          <p:cNvSpPr txBox="1">
            <a:spLocks noGrp="1"/>
          </p:cNvSpPr>
          <p:nvPr>
            <p:ph type="body" idx="1"/>
          </p:nvPr>
        </p:nvSpPr>
        <p:spPr bwMode="auto">
          <a:xfrm>
            <a:off x="581200" y="1817725"/>
            <a:ext cx="3312300" cy="4400100"/>
          </a:xfrm>
          <a:prstGeom prst="rect">
            <a:avLst/>
          </a:prstGeom>
          <a:noFill/>
          <a:ln>
            <a:noFill/>
          </a:ln>
        </p:spPr>
        <p:txBody>
          <a:bodyPr spcFirstLastPara="1" wrap="square" lIns="91425" tIns="45700" rIns="91425" bIns="45700" anchor="ctr" anchorCtr="0">
            <a:normAutofit/>
          </a:bodyPr>
          <a:lstStyle/>
          <a:p>
            <a:pPr algn="just">
              <a:lnSpc>
                <a:spcPct val="114999"/>
              </a:lnSpc>
              <a:spcBef>
                <a:spcPts val="200"/>
              </a:spcBef>
              <a:defRPr/>
            </a:pPr>
            <a:r>
              <a:rPr lang="es-EC" sz="1800" b="1" dirty="0">
                <a:solidFill>
                  <a:srgbClr val="243F60"/>
                </a:solidFill>
                <a:latin typeface="Calibri"/>
                <a:ea typeface="MS Gothic"/>
                <a:cs typeface="Times New Roman"/>
              </a:rPr>
              <a:t>SE CON</a:t>
            </a:r>
            <a:r>
              <a:rPr lang="es-EC" b="1" dirty="0">
                <a:solidFill>
                  <a:srgbClr val="243F60"/>
                </a:solidFill>
                <a:latin typeface="Calibri"/>
                <a:ea typeface="MS Gothic"/>
                <a:cs typeface="Times New Roman"/>
              </a:rPr>
              <a:t>ECTA EL SERVIDOR</a:t>
            </a:r>
            <a:r>
              <a:rPr lang="es-EC" sz="1800" b="1" dirty="0">
                <a:solidFill>
                  <a:srgbClr val="243F60"/>
                </a:solidFill>
                <a:latin typeface="Calibri"/>
                <a:ea typeface="MS Gothic"/>
                <a:cs typeface="Times New Roman"/>
              </a:rPr>
              <a:t> </a:t>
            </a:r>
            <a:r>
              <a:rPr lang="es-EC" b="1" dirty="0">
                <a:solidFill>
                  <a:srgbClr val="243F60"/>
                </a:solidFill>
                <a:latin typeface="Calibri"/>
                <a:ea typeface="MS Gothic"/>
                <a:cs typeface="Times New Roman"/>
              </a:rPr>
              <a:t>CON EL IIS</a:t>
            </a:r>
            <a:endParaRPr dirty="0"/>
          </a:p>
          <a:p>
            <a:pPr marL="306000" lvl="0" indent="0" algn="l" rtl="0">
              <a:lnSpc>
                <a:spcPct val="114999"/>
              </a:lnSpc>
              <a:spcBef>
                <a:spcPts val="1200"/>
              </a:spcBef>
              <a:spcAft>
                <a:spcPts val="0"/>
              </a:spcAft>
              <a:buSzPts val="1948"/>
              <a:buNone/>
              <a:defRPr/>
            </a:pPr>
            <a:endParaRPr dirty="0">
              <a:solidFill>
                <a:schemeClr val="dk1"/>
              </a:solidFill>
            </a:endParaRPr>
          </a:p>
          <a:p>
            <a:pPr marL="306000" lvl="0" indent="0" algn="just" rtl="0">
              <a:lnSpc>
                <a:spcPct val="114999"/>
              </a:lnSpc>
              <a:spcBef>
                <a:spcPts val="1200"/>
              </a:spcBef>
              <a:spcAft>
                <a:spcPts val="1200"/>
              </a:spcAft>
              <a:buSzPts val="1948"/>
              <a:buNone/>
              <a:defRPr/>
            </a:pPr>
            <a:endParaRPr dirty="0">
              <a:solidFill>
                <a:schemeClr val="dk1"/>
              </a:solidFill>
            </a:endParaRPr>
          </a:p>
        </p:txBody>
      </p:sp>
      <p:sp>
        <p:nvSpPr>
          <p:cNvPr id="1759342188" name="Google Shape;284;g2524d66b2ad_0_181"/>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436738751" name="Google Shape;285;g2524d66b2ad_0_18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570500304" name="Google Shape;286;g2524d66b2ad_0_18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220460327" name="Google Shape;289;g2524d66b2ad_0_18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D2488560-7B85-579B-77AF-ED989A62D8BE}"/>
              </a:ext>
            </a:extLst>
          </p:cNvPr>
          <p:cNvPicPr>
            <a:picLocks noChangeAspect="1"/>
          </p:cNvPicPr>
          <p:nvPr/>
        </p:nvPicPr>
        <p:blipFill>
          <a:blip r:embed="rId3"/>
          <a:stretch>
            <a:fillRect/>
          </a:stretch>
        </p:blipFill>
        <p:spPr>
          <a:xfrm>
            <a:off x="4194052" y="2292307"/>
            <a:ext cx="3518056" cy="293845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13126026" name="Google Shape;283;g2524d66b2ad_0_181"/>
          <p:cNvSpPr txBox="1">
            <a:spLocks noGrp="1"/>
          </p:cNvSpPr>
          <p:nvPr>
            <p:ph type="body" idx="1"/>
          </p:nvPr>
        </p:nvSpPr>
        <p:spPr bwMode="auto">
          <a:xfrm>
            <a:off x="581200" y="1817725"/>
            <a:ext cx="2742103" cy="581346"/>
          </a:xfrm>
          <a:prstGeom prst="rect">
            <a:avLst/>
          </a:prstGeom>
          <a:noFill/>
          <a:ln>
            <a:noFill/>
          </a:ln>
        </p:spPr>
        <p:txBody>
          <a:bodyPr spcFirstLastPara="1" wrap="square" lIns="91425" tIns="45700" rIns="91425" bIns="45700" anchor="ctr" anchorCtr="0">
            <a:normAutofit/>
          </a:bodyPr>
          <a:lstStyle/>
          <a:p>
            <a:pPr algn="just">
              <a:lnSpc>
                <a:spcPct val="114999"/>
              </a:lnSpc>
              <a:spcBef>
                <a:spcPts val="200"/>
              </a:spcBef>
              <a:defRPr/>
            </a:pPr>
            <a:r>
              <a:rPr lang="es-EC" sz="1800" b="1">
                <a:solidFill>
                  <a:srgbClr val="243F60"/>
                </a:solidFill>
                <a:latin typeface="Calibri"/>
                <a:ea typeface="MS Gothic"/>
                <a:cs typeface="Times New Roman"/>
              </a:rPr>
              <a:t>PRUEBA DE LAS API</a:t>
            </a:r>
            <a:endParaRPr/>
          </a:p>
        </p:txBody>
      </p:sp>
      <p:sp>
        <p:nvSpPr>
          <p:cNvPr id="660434362" name="Google Shape;284;g2524d66b2ad_0_181"/>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063610321" name="Google Shape;285;g2524d66b2ad_0_18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15651351" name="Google Shape;286;g2524d66b2ad_0_18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87249731" name="Google Shape;289;g2524d66b2ad_0_18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50C9498E-CCB9-9C63-0984-41F390C9420C}"/>
              </a:ext>
            </a:extLst>
          </p:cNvPr>
          <p:cNvPicPr>
            <a:picLocks noChangeAspect="1"/>
          </p:cNvPicPr>
          <p:nvPr/>
        </p:nvPicPr>
        <p:blipFill>
          <a:blip r:embed="rId3"/>
          <a:stretch>
            <a:fillRect/>
          </a:stretch>
        </p:blipFill>
        <p:spPr>
          <a:xfrm>
            <a:off x="1072332" y="2431015"/>
            <a:ext cx="7445141" cy="40558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27871890" name="Google Shape;294;g2524d66b2ad_0_196"/>
          <p:cNvSpPr txBox="1">
            <a:spLocks noGrp="1"/>
          </p:cNvSpPr>
          <p:nvPr>
            <p:ph type="body" idx="1"/>
          </p:nvPr>
        </p:nvSpPr>
        <p:spPr bwMode="auto">
          <a:xfrm>
            <a:off x="0" y="2170581"/>
            <a:ext cx="3727092" cy="4241541"/>
          </a:xfrm>
          <a:prstGeom prst="rect">
            <a:avLst/>
          </a:prstGeom>
          <a:noFill/>
          <a:ln>
            <a:noFill/>
          </a:ln>
        </p:spPr>
        <p:txBody>
          <a:bodyPr spcFirstLastPara="1" wrap="square" lIns="91425" tIns="45700" rIns="91425" bIns="45700" anchor="ctr" anchorCtr="0">
            <a:normAutofit/>
          </a:bodyPr>
          <a:lstStyle/>
          <a:p>
            <a:pPr algn="just">
              <a:lnSpc>
                <a:spcPct val="114999"/>
              </a:lnSpc>
              <a:spcBef>
                <a:spcPts val="600"/>
              </a:spcBef>
              <a:spcAft>
                <a:spcPts val="1600"/>
              </a:spcAft>
              <a:defRPr/>
            </a:pPr>
            <a:r>
              <a:rPr lang="es-EC" sz="1800" dirty="0">
                <a:solidFill>
                  <a:srgbClr val="548DD4"/>
                </a:solidFill>
                <a:latin typeface="Calibri"/>
                <a:ea typeface="MS Mincho"/>
                <a:cs typeface="Arial"/>
              </a:rPr>
              <a:t>Empezamos probando </a:t>
            </a:r>
            <a:r>
              <a:rPr lang="en-US" dirty="0" err="1">
                <a:solidFill>
                  <a:srgbClr val="548DD4"/>
                </a:solidFill>
                <a:latin typeface="Calibri"/>
                <a:ea typeface="MS Mincho"/>
                <a:cs typeface="Arial"/>
              </a:rPr>
              <a:t>que</a:t>
            </a:r>
            <a:r>
              <a:rPr lang="en-US" dirty="0">
                <a:solidFill>
                  <a:srgbClr val="548DD4"/>
                </a:solidFill>
                <a:latin typeface="Calibri"/>
                <a:ea typeface="MS Mincho"/>
                <a:cs typeface="Arial"/>
              </a:rPr>
              <a:t> las </a:t>
            </a:r>
            <a:r>
              <a:rPr lang="en-US" dirty="0" err="1">
                <a:solidFill>
                  <a:srgbClr val="548DD4"/>
                </a:solidFill>
                <a:latin typeface="Calibri"/>
                <a:ea typeface="MS Mincho"/>
                <a:cs typeface="Arial"/>
              </a:rPr>
              <a:t>rutas</a:t>
            </a:r>
            <a:r>
              <a:rPr lang="en-US" dirty="0">
                <a:solidFill>
                  <a:srgbClr val="548DD4"/>
                </a:solidFill>
                <a:latin typeface="Calibri"/>
                <a:ea typeface="MS Mincho"/>
                <a:cs typeface="Arial"/>
              </a:rPr>
              <a:t> del WSDL, </a:t>
            </a:r>
            <a:r>
              <a:rPr lang="en-US" dirty="0" err="1">
                <a:solidFill>
                  <a:srgbClr val="548DD4"/>
                </a:solidFill>
                <a:latin typeface="Calibri"/>
                <a:ea typeface="MS Mincho"/>
                <a:cs typeface="Arial"/>
              </a:rPr>
              <a:t>funcionen</a:t>
            </a:r>
            <a:r>
              <a:rPr lang="en-US" dirty="0">
                <a:solidFill>
                  <a:srgbClr val="548DD4"/>
                </a:solidFill>
                <a:latin typeface="Calibri"/>
                <a:ea typeface="MS Mincho"/>
                <a:cs typeface="Arial"/>
              </a:rPr>
              <a:t> </a:t>
            </a:r>
            <a:r>
              <a:rPr lang="en-US" dirty="0" err="1">
                <a:solidFill>
                  <a:srgbClr val="548DD4"/>
                </a:solidFill>
                <a:latin typeface="Calibri"/>
                <a:ea typeface="MS Mincho"/>
                <a:cs typeface="Arial"/>
              </a:rPr>
              <a:t>correctamente</a:t>
            </a:r>
            <a:r>
              <a:rPr lang="en-US" dirty="0">
                <a:solidFill>
                  <a:srgbClr val="548DD4"/>
                </a:solidFill>
                <a:latin typeface="Calibri"/>
                <a:ea typeface="MS Mincho"/>
                <a:cs typeface="Arial"/>
              </a:rPr>
              <a:t>, </a:t>
            </a:r>
            <a:r>
              <a:rPr lang="en-US" dirty="0" err="1">
                <a:solidFill>
                  <a:srgbClr val="548DD4"/>
                </a:solidFill>
                <a:latin typeface="Calibri"/>
                <a:ea typeface="MS Mincho"/>
                <a:cs typeface="Arial"/>
              </a:rPr>
              <a:t>por</a:t>
            </a:r>
            <a:r>
              <a:rPr lang="en-US" dirty="0">
                <a:solidFill>
                  <a:srgbClr val="548DD4"/>
                </a:solidFill>
                <a:latin typeface="Calibri"/>
                <a:ea typeface="MS Mincho"/>
                <a:cs typeface="Arial"/>
              </a:rPr>
              <a:t> </a:t>
            </a:r>
            <a:r>
              <a:rPr lang="en-US" dirty="0" err="1">
                <a:solidFill>
                  <a:srgbClr val="548DD4"/>
                </a:solidFill>
                <a:latin typeface="Calibri"/>
                <a:ea typeface="MS Mincho"/>
                <a:cs typeface="Arial"/>
              </a:rPr>
              <a:t>ende</a:t>
            </a:r>
            <a:r>
              <a:rPr lang="en-US" dirty="0">
                <a:solidFill>
                  <a:srgbClr val="548DD4"/>
                </a:solidFill>
                <a:latin typeface="Calibri"/>
                <a:ea typeface="MS Mincho"/>
                <a:cs typeface="Arial"/>
              </a:rPr>
              <a:t>, </a:t>
            </a:r>
            <a:r>
              <a:rPr lang="en-US" dirty="0" err="1">
                <a:solidFill>
                  <a:srgbClr val="548DD4"/>
                </a:solidFill>
                <a:latin typeface="Calibri"/>
                <a:ea typeface="MS Mincho"/>
                <a:cs typeface="Arial"/>
              </a:rPr>
              <a:t>debemos</a:t>
            </a:r>
            <a:r>
              <a:rPr lang="en-US" dirty="0">
                <a:solidFill>
                  <a:srgbClr val="548DD4"/>
                </a:solidFill>
                <a:latin typeface="Calibri"/>
                <a:ea typeface="MS Mincho"/>
                <a:cs typeface="Arial"/>
              </a:rPr>
              <a:t> </a:t>
            </a:r>
            <a:r>
              <a:rPr lang="en-US" dirty="0" err="1">
                <a:solidFill>
                  <a:srgbClr val="548DD4"/>
                </a:solidFill>
                <a:latin typeface="Calibri"/>
                <a:ea typeface="MS Mincho"/>
                <a:cs typeface="Arial"/>
              </a:rPr>
              <a:t>tener</a:t>
            </a:r>
            <a:r>
              <a:rPr lang="en-US" dirty="0">
                <a:solidFill>
                  <a:srgbClr val="548DD4"/>
                </a:solidFill>
                <a:latin typeface="Calibri"/>
                <a:ea typeface="MS Mincho"/>
                <a:cs typeface="Arial"/>
              </a:rPr>
              <a:t> un xml </a:t>
            </a:r>
            <a:r>
              <a:rPr lang="en-US" dirty="0" err="1">
                <a:solidFill>
                  <a:srgbClr val="548DD4"/>
                </a:solidFill>
                <a:latin typeface="Calibri"/>
                <a:ea typeface="MS Mincho"/>
                <a:cs typeface="Arial"/>
              </a:rPr>
              <a:t>que</a:t>
            </a:r>
            <a:r>
              <a:rPr lang="en-US" dirty="0">
                <a:solidFill>
                  <a:srgbClr val="548DD4"/>
                </a:solidFill>
                <a:latin typeface="Calibri"/>
                <a:ea typeface="MS Mincho"/>
                <a:cs typeface="Arial"/>
              </a:rPr>
              <a:t> </a:t>
            </a:r>
            <a:r>
              <a:rPr lang="en-US" dirty="0" err="1">
                <a:solidFill>
                  <a:srgbClr val="548DD4"/>
                </a:solidFill>
                <a:latin typeface="Calibri"/>
                <a:ea typeface="MS Mincho"/>
                <a:cs typeface="Arial"/>
              </a:rPr>
              <a:t>tenga</a:t>
            </a:r>
            <a:r>
              <a:rPr lang="en-US" dirty="0">
                <a:solidFill>
                  <a:srgbClr val="548DD4"/>
                </a:solidFill>
                <a:latin typeface="Calibri"/>
                <a:ea typeface="MS Mincho"/>
                <a:cs typeface="Arial"/>
              </a:rPr>
              <a:t> </a:t>
            </a:r>
            <a:r>
              <a:rPr lang="en-US" dirty="0" err="1">
                <a:solidFill>
                  <a:srgbClr val="548DD4"/>
                </a:solidFill>
                <a:latin typeface="Calibri"/>
                <a:ea typeface="MS Mincho"/>
                <a:cs typeface="Arial"/>
              </a:rPr>
              <a:t>los</a:t>
            </a:r>
            <a:r>
              <a:rPr lang="en-US" dirty="0">
                <a:solidFill>
                  <a:srgbClr val="548DD4"/>
                </a:solidFill>
                <a:latin typeface="Calibri"/>
                <a:ea typeface="MS Mincho"/>
                <a:cs typeface="Arial"/>
              </a:rPr>
              <a:t> </a:t>
            </a:r>
            <a:r>
              <a:rPr lang="en-US" dirty="0" err="1">
                <a:solidFill>
                  <a:srgbClr val="548DD4"/>
                </a:solidFill>
                <a:latin typeface="Calibri"/>
                <a:ea typeface="MS Mincho"/>
                <a:cs typeface="Arial"/>
              </a:rPr>
              <a:t>datos</a:t>
            </a:r>
            <a:r>
              <a:rPr lang="en-US" dirty="0">
                <a:solidFill>
                  <a:srgbClr val="548DD4"/>
                </a:solidFill>
                <a:latin typeface="Calibri"/>
                <a:ea typeface="MS Mincho"/>
                <a:cs typeface="Arial"/>
              </a:rPr>
              <a:t> de </a:t>
            </a:r>
            <a:r>
              <a:rPr lang="en-US" dirty="0" err="1">
                <a:solidFill>
                  <a:srgbClr val="548DD4"/>
                </a:solidFill>
                <a:latin typeface="Calibri"/>
                <a:ea typeface="MS Mincho"/>
                <a:cs typeface="Arial"/>
              </a:rPr>
              <a:t>validación</a:t>
            </a:r>
            <a:r>
              <a:rPr lang="en-US" dirty="0">
                <a:solidFill>
                  <a:srgbClr val="548DD4"/>
                </a:solidFill>
                <a:latin typeface="Calibri"/>
                <a:ea typeface="MS Mincho"/>
                <a:cs typeface="Arial"/>
              </a:rPr>
              <a:t> de </a:t>
            </a:r>
            <a:r>
              <a:rPr lang="en-US" dirty="0" err="1">
                <a:solidFill>
                  <a:srgbClr val="548DD4"/>
                </a:solidFill>
                <a:latin typeface="Calibri"/>
                <a:ea typeface="MS Mincho"/>
                <a:cs typeface="Arial"/>
              </a:rPr>
              <a:t>usuarios</a:t>
            </a:r>
            <a:r>
              <a:rPr lang="en-US" dirty="0">
                <a:solidFill>
                  <a:srgbClr val="548DD4"/>
                </a:solidFill>
                <a:latin typeface="Calibri"/>
                <a:ea typeface="MS Mincho"/>
                <a:cs typeface="Arial"/>
              </a:rPr>
              <a:t> y de las </a:t>
            </a:r>
            <a:r>
              <a:rPr lang="en-US" dirty="0" err="1">
                <a:solidFill>
                  <a:srgbClr val="548DD4"/>
                </a:solidFill>
                <a:latin typeface="Calibri"/>
                <a:ea typeface="MS Mincho"/>
                <a:cs typeface="Arial"/>
              </a:rPr>
              <a:t>conversiones</a:t>
            </a:r>
            <a:r>
              <a:rPr lang="en-US" dirty="0">
                <a:solidFill>
                  <a:srgbClr val="548DD4"/>
                </a:solidFill>
                <a:latin typeface="Calibri"/>
                <a:ea typeface="MS Mincho"/>
                <a:cs typeface="Arial"/>
              </a:rPr>
              <a:t>.</a:t>
            </a:r>
            <a:endParaRPr dirty="0">
              <a:solidFill>
                <a:schemeClr val="dk1"/>
              </a:solidFill>
            </a:endParaRPr>
          </a:p>
          <a:p>
            <a:pPr marL="306000" lvl="0" indent="0" algn="just" rtl="0">
              <a:lnSpc>
                <a:spcPct val="114999"/>
              </a:lnSpc>
              <a:spcBef>
                <a:spcPts val="1200"/>
              </a:spcBef>
              <a:spcAft>
                <a:spcPts val="1200"/>
              </a:spcAft>
              <a:buSzPct val="108235"/>
              <a:buNone/>
              <a:defRPr/>
            </a:pPr>
            <a:endParaRPr dirty="0">
              <a:solidFill>
                <a:schemeClr val="dk1"/>
              </a:solidFill>
            </a:endParaRPr>
          </a:p>
        </p:txBody>
      </p:sp>
      <p:sp>
        <p:nvSpPr>
          <p:cNvPr id="43801976" name="Google Shape;295;g2524d66b2ad_0_196"/>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59015214" name="Google Shape;296;g2524d66b2ad_0_19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768426376" name="Google Shape;297;g2524d66b2ad_0_19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859627875" name="Google Shape;300;g2524d66b2ad_0_19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5" name="Picture 4">
            <a:extLst>
              <a:ext uri="{FF2B5EF4-FFF2-40B4-BE49-F238E27FC236}">
                <a16:creationId xmlns:a16="http://schemas.microsoft.com/office/drawing/2014/main" id="{3A7C6619-3EE0-CD7A-CB1C-D3EAF56B0427}"/>
              </a:ext>
            </a:extLst>
          </p:cNvPr>
          <p:cNvPicPr>
            <a:picLocks noChangeAspect="1"/>
          </p:cNvPicPr>
          <p:nvPr/>
        </p:nvPicPr>
        <p:blipFill>
          <a:blip r:embed="rId3"/>
          <a:stretch>
            <a:fillRect/>
          </a:stretch>
        </p:blipFill>
        <p:spPr>
          <a:xfrm>
            <a:off x="3873907" y="2546555"/>
            <a:ext cx="5096644" cy="32237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07709378" name="Google Shape;306;g2524d66b2ad_0_211"/>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72248150" name="Google Shape;307;g2524d66b2ad_0_21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87606383" name="Google Shape;308;g2524d66b2ad_0_21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123555680" name="Google Shape;311;g2524d66b2ad_0_21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4A54EB08-06EC-D7F0-68BB-88CDD37FA415}"/>
              </a:ext>
            </a:extLst>
          </p:cNvPr>
          <p:cNvPicPr>
            <a:picLocks noChangeAspect="1"/>
          </p:cNvPicPr>
          <p:nvPr/>
        </p:nvPicPr>
        <p:blipFill>
          <a:blip r:embed="rId3"/>
          <a:stretch>
            <a:fillRect/>
          </a:stretch>
        </p:blipFill>
        <p:spPr>
          <a:xfrm>
            <a:off x="1537298" y="2060517"/>
            <a:ext cx="6131863" cy="427840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95369042" name="Google Shape;316;g2524d66b2ad_0_226"/>
          <p:cNvSpPr txBox="1">
            <a:spLocks noGrp="1"/>
          </p:cNvSpPr>
          <p:nvPr>
            <p:ph type="body" idx="1"/>
          </p:nvPr>
        </p:nvSpPr>
        <p:spPr bwMode="auto">
          <a:xfrm>
            <a:off x="541871" y="2546555"/>
            <a:ext cx="3813820" cy="3266181"/>
          </a:xfrm>
          <a:prstGeom prst="rect">
            <a:avLst/>
          </a:prstGeom>
          <a:noFill/>
          <a:ln>
            <a:noFill/>
          </a:ln>
        </p:spPr>
        <p:txBody>
          <a:bodyPr spcFirstLastPara="1" wrap="square" lIns="91425" tIns="45700" rIns="91425" bIns="45700" anchor="ctr" anchorCtr="0">
            <a:normAutofit fontScale="92500" lnSpcReduction="20000"/>
          </a:bodyPr>
          <a:lstStyle/>
          <a:p>
            <a:pPr marL="0" indent="0">
              <a:lnSpc>
                <a:spcPct val="114999"/>
              </a:lnSpc>
              <a:spcBef>
                <a:spcPts val="1200"/>
              </a:spcBef>
              <a:buClr>
                <a:schemeClr val="dk1"/>
              </a:buClr>
              <a:buNone/>
              <a:defRPr/>
            </a:pPr>
            <a:r>
              <a:rPr lang="es-ES" b="1">
                <a:solidFill>
                  <a:srgbClr val="548DD4"/>
                </a:solidFill>
                <a:latin typeface="Calibri"/>
                <a:ea typeface="MS Mincho"/>
                <a:cs typeface="Times New Roman"/>
              </a:rPr>
              <a:t>CLIENTE CONSOLA</a:t>
            </a:r>
            <a:endParaRPr/>
          </a:p>
          <a:p>
            <a:pPr algn="just">
              <a:lnSpc>
                <a:spcPct val="114999"/>
              </a:lnSpc>
              <a:spcBef>
                <a:spcPts val="600"/>
              </a:spcBef>
              <a:spcAft>
                <a:spcPts val="1600"/>
              </a:spcAft>
              <a:defRPr/>
            </a:pPr>
            <a:r>
              <a:rPr lang="es-US">
                <a:solidFill>
                  <a:srgbClr val="548DD4"/>
                </a:solidFill>
                <a:latin typeface="Calibri"/>
                <a:ea typeface="MS Mincho"/>
                <a:cs typeface="Arial"/>
              </a:rPr>
              <a:t>Seleccionamos la plantilla “Aplicación de consola (.NET Framework)” para poder crear el cliente de consola que nos permita consumir el servicio creado.</a:t>
            </a:r>
            <a:endParaRPr/>
          </a:p>
          <a:p>
            <a:pPr algn="just">
              <a:lnSpc>
                <a:spcPct val="114999"/>
              </a:lnSpc>
              <a:spcBef>
                <a:spcPts val="600"/>
              </a:spcBef>
              <a:spcAft>
                <a:spcPts val="1600"/>
              </a:spcAft>
              <a:defRPr/>
            </a:pPr>
            <a:r>
              <a:rPr lang="es-EC">
                <a:solidFill>
                  <a:srgbClr val="548DD4"/>
                </a:solidFill>
                <a:latin typeface="Calibri"/>
                <a:ea typeface="MS Mincho"/>
                <a:cs typeface="Arial"/>
              </a:rPr>
              <a:t>Se configura la estructura del proyecto para la aplicación de consola de acuerdo al patrón MVC (Modelo – Vista – Controlador).</a:t>
            </a:r>
            <a:endParaRPr/>
          </a:p>
          <a:p>
            <a:pPr algn="just">
              <a:lnSpc>
                <a:spcPct val="114999"/>
              </a:lnSpc>
              <a:spcBef>
                <a:spcPts val="600"/>
              </a:spcBef>
              <a:spcAft>
                <a:spcPts val="1600"/>
              </a:spcAft>
              <a:defRPr/>
            </a:pPr>
            <a:endParaRPr lang="es-ES" sz="1200">
              <a:solidFill>
                <a:srgbClr val="548DD4"/>
              </a:solidFill>
              <a:latin typeface="Calibri"/>
              <a:ea typeface="MS Mincho"/>
              <a:cs typeface="Times New Roman"/>
            </a:endParaRPr>
          </a:p>
        </p:txBody>
      </p:sp>
      <p:sp>
        <p:nvSpPr>
          <p:cNvPr id="90754376" name="Google Shape;317;g2524d66b2ad_0_226"/>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858914876" name="Google Shape;318;g2524d66b2ad_0_22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81859776" name="Google Shape;319;g2524d66b2ad_0_22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274020805" name="Google Shape;322;g2524d66b2ad_0_22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09BA4E30-C2C8-D791-63CF-A156A01DC439}"/>
              </a:ext>
            </a:extLst>
          </p:cNvPr>
          <p:cNvPicPr>
            <a:picLocks noChangeAspect="1"/>
          </p:cNvPicPr>
          <p:nvPr/>
        </p:nvPicPr>
        <p:blipFill>
          <a:blip r:embed="rId3"/>
          <a:stretch>
            <a:fillRect/>
          </a:stretch>
        </p:blipFill>
        <p:spPr>
          <a:xfrm>
            <a:off x="4774105" y="2678170"/>
            <a:ext cx="3924848" cy="283884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4917974" name="Google Shape;327;g2524d66b2ad_0_241"/>
          <p:cNvSpPr txBox="1">
            <a:spLocks noGrp="1"/>
          </p:cNvSpPr>
          <p:nvPr>
            <p:ph type="body" idx="1"/>
          </p:nvPr>
        </p:nvSpPr>
        <p:spPr bwMode="auto">
          <a:xfrm>
            <a:off x="355058" y="1817725"/>
            <a:ext cx="3312300" cy="4400100"/>
          </a:xfrm>
          <a:prstGeom prst="rect">
            <a:avLst/>
          </a:prstGeom>
          <a:noFill/>
          <a:ln>
            <a:noFill/>
          </a:ln>
        </p:spPr>
        <p:txBody>
          <a:bodyPr spcFirstLastPara="1" wrap="square" lIns="91425" tIns="45700" rIns="91425" bIns="45700" anchor="ctr" anchorCtr="0">
            <a:normAutofit/>
          </a:bodyPr>
          <a:lstStyle/>
          <a:p>
            <a:pPr algn="just">
              <a:lnSpc>
                <a:spcPct val="114999"/>
              </a:lnSpc>
              <a:spcBef>
                <a:spcPts val="600"/>
              </a:spcBef>
              <a:spcAft>
                <a:spcPts val="1600"/>
              </a:spcAft>
              <a:defRPr/>
            </a:pPr>
            <a:r>
              <a:rPr lang="es-EC" sz="1800" dirty="0">
                <a:solidFill>
                  <a:srgbClr val="548DD4"/>
                </a:solidFill>
                <a:latin typeface="Calibri"/>
                <a:ea typeface="MS Mincho"/>
                <a:cs typeface="Arial"/>
              </a:rPr>
              <a:t>Codificación de los modelos Usuario, </a:t>
            </a:r>
            <a:r>
              <a:rPr lang="es-EC" sz="1800" dirty="0" err="1">
                <a:solidFill>
                  <a:srgbClr val="548DD4"/>
                </a:solidFill>
                <a:latin typeface="Calibri"/>
                <a:ea typeface="MS Mincho"/>
                <a:cs typeface="Arial"/>
              </a:rPr>
              <a:t>ServicioSoap</a:t>
            </a:r>
            <a:r>
              <a:rPr lang="es-EC" sz="1800" dirty="0">
                <a:solidFill>
                  <a:srgbClr val="548DD4"/>
                </a:solidFill>
                <a:latin typeface="Calibri"/>
                <a:ea typeface="MS Mincho"/>
                <a:cs typeface="Arial"/>
              </a:rPr>
              <a:t> y </a:t>
            </a:r>
            <a:r>
              <a:rPr lang="es-EC" sz="1800" dirty="0" err="1">
                <a:solidFill>
                  <a:srgbClr val="548DD4"/>
                </a:solidFill>
                <a:latin typeface="Calibri"/>
                <a:ea typeface="MS Mincho"/>
                <a:cs typeface="Arial"/>
              </a:rPr>
              <a:t>ConversorUnidades</a:t>
            </a:r>
            <a:r>
              <a:rPr lang="es-EC" sz="1800" dirty="0">
                <a:solidFill>
                  <a:srgbClr val="548DD4"/>
                </a:solidFill>
                <a:latin typeface="Calibri"/>
                <a:ea typeface="MS Mincho"/>
                <a:cs typeface="Arial"/>
              </a:rPr>
              <a:t> para la manipulación de los datos dentro de la aplicación de consola.</a:t>
            </a:r>
            <a:endParaRPr dirty="0">
              <a:solidFill>
                <a:schemeClr val="dk1"/>
              </a:solidFill>
            </a:endParaRPr>
          </a:p>
          <a:p>
            <a:pPr algn="just">
              <a:lnSpc>
                <a:spcPct val="114999"/>
              </a:lnSpc>
              <a:spcBef>
                <a:spcPts val="600"/>
              </a:spcBef>
              <a:spcAft>
                <a:spcPts val="1600"/>
              </a:spcAft>
              <a:defRPr/>
            </a:pPr>
            <a:r>
              <a:rPr lang="es-EC" sz="1800" dirty="0">
                <a:solidFill>
                  <a:srgbClr val="548DD4"/>
                </a:solidFill>
                <a:latin typeface="Calibri"/>
                <a:ea typeface="MS Mincho"/>
                <a:cs typeface="Arial"/>
              </a:rPr>
              <a:t>Se codifica el modelo para manejar los datos de Usuario.</a:t>
            </a:r>
            <a:endParaRPr dirty="0">
              <a:solidFill>
                <a:schemeClr val="dk1"/>
              </a:solidFill>
            </a:endParaRPr>
          </a:p>
        </p:txBody>
      </p:sp>
      <p:sp>
        <p:nvSpPr>
          <p:cNvPr id="483245533" name="Google Shape;328;g2524d66b2ad_0_241"/>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797702055" name="Google Shape;329;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537367068" name="Google Shape;330;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211967373" name="Google Shape;333;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E7B2F1EC-31E2-4755-DD20-1D3AFA2B6024}"/>
              </a:ext>
            </a:extLst>
          </p:cNvPr>
          <p:cNvPicPr>
            <a:picLocks noChangeAspect="1"/>
          </p:cNvPicPr>
          <p:nvPr/>
        </p:nvPicPr>
        <p:blipFill>
          <a:blip r:embed="rId3"/>
          <a:stretch>
            <a:fillRect/>
          </a:stretch>
        </p:blipFill>
        <p:spPr>
          <a:xfrm>
            <a:off x="3803306" y="2617138"/>
            <a:ext cx="5178112" cy="280127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6151638" name="Google Shape;327;g2524d66b2ad_0_241"/>
          <p:cNvSpPr txBox="1">
            <a:spLocks noGrp="1"/>
          </p:cNvSpPr>
          <p:nvPr>
            <p:ph type="body" idx="1"/>
          </p:nvPr>
        </p:nvSpPr>
        <p:spPr bwMode="auto">
          <a:xfrm>
            <a:off x="581200" y="1817725"/>
            <a:ext cx="3312300" cy="4400100"/>
          </a:xfrm>
          <a:prstGeom prst="rect">
            <a:avLst/>
          </a:prstGeom>
          <a:noFill/>
          <a:ln>
            <a:noFill/>
          </a:ln>
        </p:spPr>
        <p:txBody>
          <a:bodyPr spcFirstLastPara="1" wrap="square" lIns="91425" tIns="45700" rIns="91425" bIns="45700" anchor="ctr" anchorCtr="0">
            <a:normAutofit/>
          </a:bodyPr>
          <a:lstStyle/>
          <a:p>
            <a:pPr algn="just">
              <a:lnSpc>
                <a:spcPct val="114999"/>
              </a:lnSpc>
              <a:spcBef>
                <a:spcPts val="600"/>
              </a:spcBef>
              <a:spcAft>
                <a:spcPts val="1600"/>
              </a:spcAft>
              <a:defRPr/>
            </a:pPr>
            <a:r>
              <a:rPr lang="es-EC" sz="1800">
                <a:solidFill>
                  <a:srgbClr val="548DD4"/>
                </a:solidFill>
                <a:latin typeface="Calibri"/>
                <a:ea typeface="MS Mincho"/>
                <a:cs typeface="Arial"/>
              </a:rPr>
              <a:t>Codificación del controlador LoginController para el manejo de la lógica y manipulación de los modelos.</a:t>
            </a:r>
            <a:endParaRPr/>
          </a:p>
          <a:p>
            <a:pPr>
              <a:defRPr/>
            </a:pPr>
            <a:r>
              <a:rPr lang="es-EC" sz="1800">
                <a:solidFill>
                  <a:srgbClr val="548DD4"/>
                </a:solidFill>
                <a:latin typeface="Calibri"/>
                <a:ea typeface="MS Mincho"/>
                <a:cs typeface="Arial"/>
              </a:rPr>
              <a:t>Se codifica el controller para manejar la lógica de Usuario y ConvertirUnidades</a:t>
            </a:r>
            <a:endParaRPr>
              <a:solidFill>
                <a:schemeClr val="dk1"/>
              </a:solidFill>
            </a:endParaRPr>
          </a:p>
        </p:txBody>
      </p:sp>
      <p:sp>
        <p:nvSpPr>
          <p:cNvPr id="884148477" name="Google Shape;328;g2524d66b2ad_0_241"/>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288003282" name="Google Shape;329;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969768075" name="Google Shape;330;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121876585" name="Google Shape;333;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1D8D738F-A438-15BA-AC8A-6B9A4360A3D8}"/>
              </a:ext>
            </a:extLst>
          </p:cNvPr>
          <p:cNvPicPr>
            <a:picLocks noChangeAspect="1"/>
          </p:cNvPicPr>
          <p:nvPr/>
        </p:nvPicPr>
        <p:blipFill>
          <a:blip r:embed="rId3"/>
          <a:stretch>
            <a:fillRect/>
          </a:stretch>
        </p:blipFill>
        <p:spPr>
          <a:xfrm>
            <a:off x="4111473" y="3359005"/>
            <a:ext cx="4787921" cy="13175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42908952" name="Google Shape;338;g1ddeedea7d3_1_27"/>
          <p:cNvSpPr txBox="1">
            <a:spLocks noGrp="1"/>
          </p:cNvSpPr>
          <p:nvPr>
            <p:ph type="body" idx="1"/>
          </p:nvPr>
        </p:nvSpPr>
        <p:spPr bwMode="auto">
          <a:xfrm>
            <a:off x="364890" y="1875700"/>
            <a:ext cx="3312300" cy="4400100"/>
          </a:xfrm>
          <a:prstGeom prst="rect">
            <a:avLst/>
          </a:prstGeom>
          <a:noFill/>
          <a:ln>
            <a:noFill/>
          </a:ln>
        </p:spPr>
        <p:txBody>
          <a:bodyPr spcFirstLastPara="1" wrap="square" lIns="91425" tIns="45700" rIns="91425" bIns="45700" anchor="ctr" anchorCtr="0">
            <a:normAutofit/>
          </a:bodyPr>
          <a:lstStyle/>
          <a:p>
            <a:pPr algn="just">
              <a:lnSpc>
                <a:spcPct val="114999"/>
              </a:lnSpc>
              <a:spcBef>
                <a:spcPts val="600"/>
              </a:spcBef>
              <a:spcAft>
                <a:spcPts val="1600"/>
              </a:spcAft>
              <a:defRPr/>
            </a:pPr>
            <a:r>
              <a:rPr lang="es-EC" sz="1800" dirty="0">
                <a:solidFill>
                  <a:srgbClr val="548DD4"/>
                </a:solidFill>
                <a:latin typeface="Calibri"/>
                <a:ea typeface="MS Mincho"/>
                <a:cs typeface="Arial"/>
              </a:rPr>
              <a:t>Finalmente, se codifican las vistas para que el usuario pueda observar e interactuar con el aplicativo de acuerdo a los requisitos definidos.</a:t>
            </a:r>
            <a:endParaRPr dirty="0"/>
          </a:p>
          <a:p>
            <a:pPr algn="just">
              <a:lnSpc>
                <a:spcPct val="114999"/>
              </a:lnSpc>
              <a:spcBef>
                <a:spcPts val="600"/>
              </a:spcBef>
              <a:spcAft>
                <a:spcPts val="1600"/>
              </a:spcAft>
              <a:defRPr/>
            </a:pPr>
            <a:r>
              <a:rPr lang="es-EC" sz="1800" dirty="0">
                <a:solidFill>
                  <a:srgbClr val="548DD4"/>
                </a:solidFill>
                <a:latin typeface="Calibri"/>
                <a:ea typeface="MS Mincho"/>
                <a:cs typeface="Arial"/>
              </a:rPr>
              <a:t>Se codifica la vista para interactuar con las operaciones de Usuario</a:t>
            </a:r>
            <a:endParaRPr lang="es-ES" dirty="0">
              <a:solidFill>
                <a:schemeClr val="dk1"/>
              </a:solidFill>
            </a:endParaRPr>
          </a:p>
        </p:txBody>
      </p:sp>
      <p:sp>
        <p:nvSpPr>
          <p:cNvPr id="388515271" name="Google Shape;339;g1ddeedea7d3_1_27"/>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573376438" name="Google Shape;340;g1ddeedea7d3_1_2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31091890" name="Google Shape;341;g1ddeedea7d3_1_27"/>
          <p:cNvSpPr txBox="1">
            <a:spLocks noGrp="1"/>
          </p:cNvSpPr>
          <p:nvPr>
            <p:ph type="title"/>
          </p:nvPr>
        </p:nvSpPr>
        <p:spPr bwMode="auto">
          <a:xfrm>
            <a:off x="581192" y="702156"/>
            <a:ext cx="11029500" cy="1013700"/>
          </a:xfrm>
          <a:prstGeom prst="rect">
            <a:avLst/>
          </a:prstGeom>
          <a:noFill/>
          <a:ln>
            <a:noFill/>
          </a:ln>
        </p:spPr>
        <p:txBody>
          <a:bodyPr spcFirstLastPara="1" wrap="square" lIns="91425" tIns="45700" rIns="91425" bIns="45700" anchor="b" anchorCtr="0">
            <a:normAutofit/>
          </a:bodyPr>
          <a:lstStyle/>
          <a:p>
            <a:pPr>
              <a:lnSpc>
                <a:spcPct val="114999"/>
              </a:lnSpc>
              <a:spcBef>
                <a:spcPts val="200"/>
              </a:spcBef>
              <a:defRPr/>
            </a:pPr>
            <a:r>
              <a:rPr lang="es-EC" sz="1800" b="1" dirty="0">
                <a:solidFill>
                  <a:schemeClr val="bg1"/>
                </a:solidFill>
                <a:latin typeface="Calibri"/>
                <a:ea typeface="Times New Roman"/>
                <a:cs typeface="Times New Roman"/>
              </a:rPr>
              <a:t>CREACIÓN DE LA VISTA</a:t>
            </a:r>
            <a:br>
              <a:rPr lang="es-ES" sz="1800" b="1" dirty="0">
                <a:solidFill>
                  <a:schemeClr val="bg1"/>
                </a:solidFill>
                <a:latin typeface="Calibri"/>
                <a:ea typeface="Times New Roman"/>
                <a:cs typeface="Times New Roman"/>
              </a:rPr>
            </a:br>
            <a:r>
              <a:rPr lang="es-ES" dirty="0">
                <a:solidFill>
                  <a:schemeClr val="bg1"/>
                </a:solidFill>
              </a:rPr>
              <a:t>CLIENTE  </a:t>
            </a:r>
            <a:endParaRPr dirty="0">
              <a:solidFill>
                <a:schemeClr val="bg1"/>
              </a:solidFill>
            </a:endParaRPr>
          </a:p>
        </p:txBody>
      </p:sp>
      <p:sp>
        <p:nvSpPr>
          <p:cNvPr id="625119251" name="Google Shape;342;g1ddeedea7d3_1_2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115475862" name="Google Shape;344;g1ddeedea7d3_1_2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78307794-8E33-AEEF-8C96-22586077BFD9}"/>
              </a:ext>
            </a:extLst>
          </p:cNvPr>
          <p:cNvPicPr>
            <a:picLocks noChangeAspect="1"/>
          </p:cNvPicPr>
          <p:nvPr/>
        </p:nvPicPr>
        <p:blipFill>
          <a:blip r:embed="rId3"/>
          <a:stretch>
            <a:fillRect/>
          </a:stretch>
        </p:blipFill>
        <p:spPr>
          <a:xfrm>
            <a:off x="3893500" y="2786316"/>
            <a:ext cx="5159999" cy="300122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38204646" name="Google Shape;349;g2524d66b2ad_0_260"/>
          <p:cNvSpPr txBox="1">
            <a:spLocks noGrp="1"/>
          </p:cNvSpPr>
          <p:nvPr>
            <p:ph type="body" idx="1"/>
          </p:nvPr>
        </p:nvSpPr>
        <p:spPr bwMode="auto">
          <a:xfrm>
            <a:off x="1800400" y="1436631"/>
            <a:ext cx="5740942" cy="1242702"/>
          </a:xfrm>
          <a:prstGeom prst="rect">
            <a:avLst/>
          </a:prstGeom>
          <a:noFill/>
          <a:ln>
            <a:noFill/>
          </a:ln>
        </p:spPr>
        <p:txBody>
          <a:bodyPr spcFirstLastPara="1" wrap="square" lIns="91425" tIns="45700" rIns="91425" bIns="45700" anchor="ctr" anchorCtr="0">
            <a:normAutofit/>
          </a:bodyPr>
          <a:lstStyle/>
          <a:p>
            <a:pPr algn="just">
              <a:lnSpc>
                <a:spcPct val="114999"/>
              </a:lnSpc>
              <a:spcBef>
                <a:spcPts val="200"/>
              </a:spcBef>
              <a:defRPr/>
            </a:pPr>
            <a:r>
              <a:rPr lang="es-US" sz="1800" b="1">
                <a:solidFill>
                  <a:srgbClr val="243F60"/>
                </a:solidFill>
                <a:latin typeface="Calibri"/>
                <a:ea typeface="Cascadia Mono"/>
                <a:cs typeface="Times New Roman"/>
              </a:rPr>
              <a:t>EJECUCI</a:t>
            </a:r>
            <a:r>
              <a:rPr lang="es-EC" sz="1800" b="1">
                <a:solidFill>
                  <a:srgbClr val="243F60"/>
                </a:solidFill>
                <a:latin typeface="Calibri"/>
                <a:ea typeface="Cascadia Mono"/>
                <a:cs typeface="Times New Roman"/>
              </a:rPr>
              <a:t>ÓN Y PRUEBAS</a:t>
            </a:r>
            <a:r>
              <a:rPr lang="es-US" sz="1800" b="1">
                <a:solidFill>
                  <a:srgbClr val="243F60"/>
                </a:solidFill>
                <a:latin typeface="Calibri"/>
                <a:ea typeface="Cascadia Mono"/>
                <a:cs typeface="Times New Roman"/>
              </a:rPr>
              <a:t> DEL CLIENTE DE CONSOLA</a:t>
            </a:r>
            <a:endParaRPr>
              <a:solidFill>
                <a:schemeClr val="dk1"/>
              </a:solidFill>
            </a:endParaRPr>
          </a:p>
        </p:txBody>
      </p:sp>
      <p:sp>
        <p:nvSpPr>
          <p:cNvPr id="394972630" name="Google Shape;350;g2524d66b2ad_0_260"/>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854153945" name="Google Shape;351;g2524d66b2ad_0_26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980958407" name="Google Shape;352;g2524d66b2ad_0_26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601717686" name="Google Shape;355;g2524d66b2ad_0_26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41C7ABDB-0532-F93B-C76C-571B41873DDB}"/>
              </a:ext>
            </a:extLst>
          </p:cNvPr>
          <p:cNvPicPr>
            <a:picLocks noChangeAspect="1"/>
          </p:cNvPicPr>
          <p:nvPr/>
        </p:nvPicPr>
        <p:blipFill>
          <a:blip r:embed="rId3"/>
          <a:stretch>
            <a:fillRect/>
          </a:stretch>
        </p:blipFill>
        <p:spPr>
          <a:xfrm>
            <a:off x="467023" y="2338018"/>
            <a:ext cx="3367559" cy="1543266"/>
          </a:xfrm>
          <a:prstGeom prst="rect">
            <a:avLst/>
          </a:prstGeom>
        </p:spPr>
      </p:pic>
      <p:pic>
        <p:nvPicPr>
          <p:cNvPr id="5" name="Picture 4">
            <a:extLst>
              <a:ext uri="{FF2B5EF4-FFF2-40B4-BE49-F238E27FC236}">
                <a16:creationId xmlns:a16="http://schemas.microsoft.com/office/drawing/2014/main" id="{D65247C2-3ADF-A4E4-ECF8-0CD675BB4584}"/>
              </a:ext>
            </a:extLst>
          </p:cNvPr>
          <p:cNvPicPr>
            <a:picLocks noChangeAspect="1"/>
          </p:cNvPicPr>
          <p:nvPr/>
        </p:nvPicPr>
        <p:blipFill>
          <a:blip r:embed="rId4"/>
          <a:stretch>
            <a:fillRect/>
          </a:stretch>
        </p:blipFill>
        <p:spPr>
          <a:xfrm>
            <a:off x="4514265" y="2338018"/>
            <a:ext cx="3843155" cy="1543267"/>
          </a:xfrm>
          <a:prstGeom prst="rect">
            <a:avLst/>
          </a:prstGeom>
        </p:spPr>
      </p:pic>
      <p:pic>
        <p:nvPicPr>
          <p:cNvPr id="7" name="Picture 6">
            <a:extLst>
              <a:ext uri="{FF2B5EF4-FFF2-40B4-BE49-F238E27FC236}">
                <a16:creationId xmlns:a16="http://schemas.microsoft.com/office/drawing/2014/main" id="{521DA102-740A-C529-0E7C-030FD4ABA4AA}"/>
              </a:ext>
            </a:extLst>
          </p:cNvPr>
          <p:cNvPicPr>
            <a:picLocks noChangeAspect="1"/>
          </p:cNvPicPr>
          <p:nvPr/>
        </p:nvPicPr>
        <p:blipFill>
          <a:blip r:embed="rId5"/>
          <a:stretch>
            <a:fillRect/>
          </a:stretch>
        </p:blipFill>
        <p:spPr>
          <a:xfrm>
            <a:off x="2374394" y="4095870"/>
            <a:ext cx="4242000" cy="20137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33348953" name="Google Shape;361;g2524d66b2ad_0_275"/>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920258780" name="Google Shape;362;g2524d66b2ad_0_27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673856895" name="Google Shape;363;g2524d66b2ad_0_27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05128760" name="Google Shape;366;g2524d66b2ad_0_27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chemeClr val="bg1"/>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320119798" name="Google Shape;316;g2524d66b2ad_0_226"/>
          <p:cNvSpPr txBox="1">
            <a:spLocks noGrp="1"/>
          </p:cNvSpPr>
          <p:nvPr>
            <p:ph type="body" idx="1"/>
          </p:nvPr>
        </p:nvSpPr>
        <p:spPr bwMode="auto">
          <a:xfrm>
            <a:off x="541871" y="2546555"/>
            <a:ext cx="3813820" cy="3266181"/>
          </a:xfrm>
          <a:prstGeom prst="rect">
            <a:avLst/>
          </a:prstGeom>
          <a:noFill/>
          <a:ln>
            <a:noFill/>
          </a:ln>
        </p:spPr>
        <p:txBody>
          <a:bodyPr spcFirstLastPara="1" wrap="square" lIns="91425" tIns="45700" rIns="91425" bIns="45700" anchor="ctr" anchorCtr="0">
            <a:normAutofit fontScale="85000" lnSpcReduction="10000"/>
          </a:bodyPr>
          <a:lstStyle/>
          <a:p>
            <a:pPr marL="0" indent="0">
              <a:lnSpc>
                <a:spcPct val="114999"/>
              </a:lnSpc>
              <a:spcBef>
                <a:spcPts val="1200"/>
              </a:spcBef>
              <a:buClr>
                <a:schemeClr val="dk1"/>
              </a:buClr>
              <a:buNone/>
              <a:defRPr/>
            </a:pPr>
            <a:r>
              <a:rPr lang="es-ES" b="1">
                <a:solidFill>
                  <a:srgbClr val="548DD4"/>
                </a:solidFill>
                <a:latin typeface="Calibri"/>
                <a:ea typeface="MS Mincho"/>
                <a:cs typeface="Times New Roman"/>
              </a:rPr>
              <a:t>CLIENTE ESCRITORIO</a:t>
            </a:r>
            <a:endParaRPr/>
          </a:p>
          <a:p>
            <a:pPr algn="just">
              <a:lnSpc>
                <a:spcPct val="114999"/>
              </a:lnSpc>
              <a:spcBef>
                <a:spcPts val="600"/>
              </a:spcBef>
              <a:spcAft>
                <a:spcPts val="1600"/>
              </a:spcAft>
              <a:defRPr/>
            </a:pPr>
            <a:r>
              <a:rPr lang="es-US" sz="1800">
                <a:solidFill>
                  <a:srgbClr val="548DD4"/>
                </a:solidFill>
                <a:latin typeface="Calibri"/>
                <a:ea typeface="MS Mincho"/>
                <a:cs typeface="Arial"/>
              </a:rPr>
              <a:t>Seleccionamos la plantilla “Aplicación de Windows Forms (.NET Framework)” para poder crear el cliente de consola que nos permita consumir el servicio creado.</a:t>
            </a:r>
            <a:endParaRPr lang="es-EC" sz="1800">
              <a:solidFill>
                <a:srgbClr val="548DD4"/>
              </a:solidFill>
              <a:latin typeface="Calibri"/>
              <a:ea typeface="MS Mincho"/>
              <a:cs typeface="Arial"/>
            </a:endParaRPr>
          </a:p>
          <a:p>
            <a:pPr algn="just">
              <a:lnSpc>
                <a:spcPct val="114999"/>
              </a:lnSpc>
              <a:spcBef>
                <a:spcPts val="600"/>
              </a:spcBef>
              <a:spcAft>
                <a:spcPts val="1600"/>
              </a:spcAft>
              <a:defRPr/>
            </a:pPr>
            <a:r>
              <a:rPr lang="es-EC" sz="1800">
                <a:solidFill>
                  <a:srgbClr val="548DD4"/>
                </a:solidFill>
                <a:latin typeface="Calibri"/>
                <a:ea typeface="MS Mincho"/>
                <a:cs typeface="Arial"/>
              </a:rPr>
              <a:t>Se configura la estructura del proyecto para la aplicación de escritorio de acuerdo al patrón MVC (Modelo – Vista – Controlador).</a:t>
            </a:r>
            <a:endParaRPr/>
          </a:p>
        </p:txBody>
      </p:sp>
      <p:pic>
        <p:nvPicPr>
          <p:cNvPr id="3" name="Picture 2">
            <a:extLst>
              <a:ext uri="{FF2B5EF4-FFF2-40B4-BE49-F238E27FC236}">
                <a16:creationId xmlns:a16="http://schemas.microsoft.com/office/drawing/2014/main" id="{9E891692-BE10-8ADA-13C9-7CE77986A41D}"/>
              </a:ext>
            </a:extLst>
          </p:cNvPr>
          <p:cNvPicPr>
            <a:picLocks noChangeAspect="1"/>
          </p:cNvPicPr>
          <p:nvPr/>
        </p:nvPicPr>
        <p:blipFill>
          <a:blip r:embed="rId3"/>
          <a:stretch>
            <a:fillRect/>
          </a:stretch>
        </p:blipFill>
        <p:spPr>
          <a:xfrm>
            <a:off x="4845552" y="2293710"/>
            <a:ext cx="3781953" cy="400105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66411045" name="Google Shape;372;g2524d66b2ad_0_290"/>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95647646" name="Google Shape;373;g2524d66b2ad_0_29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855471431" name="Google Shape;374;g2524d66b2ad_0_29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65096967" name="Google Shape;377;g2524d66b2ad_0_29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526316635" name="Google Shape;327;g2524d66b2ad_0_241"/>
          <p:cNvSpPr txBox="1">
            <a:spLocks noGrp="1"/>
          </p:cNvSpPr>
          <p:nvPr>
            <p:ph type="body" idx="1"/>
          </p:nvPr>
        </p:nvSpPr>
        <p:spPr bwMode="auto">
          <a:xfrm>
            <a:off x="99419" y="1723022"/>
            <a:ext cx="3312300" cy="4400100"/>
          </a:xfrm>
          <a:prstGeom prst="rect">
            <a:avLst/>
          </a:prstGeom>
          <a:noFill/>
          <a:ln>
            <a:noFill/>
          </a:ln>
        </p:spPr>
        <p:txBody>
          <a:bodyPr spcFirstLastPara="1" wrap="square" lIns="91425" tIns="45700" rIns="91425" bIns="45700" anchor="ctr" anchorCtr="0">
            <a:normAutofit/>
          </a:bodyPr>
          <a:lstStyle/>
          <a:p>
            <a:pPr algn="just">
              <a:lnSpc>
                <a:spcPct val="114999"/>
              </a:lnSpc>
              <a:spcBef>
                <a:spcPts val="600"/>
              </a:spcBef>
              <a:spcAft>
                <a:spcPts val="1600"/>
              </a:spcAft>
              <a:defRPr/>
            </a:pPr>
            <a:r>
              <a:rPr lang="es-EC" sz="1800" dirty="0">
                <a:solidFill>
                  <a:srgbClr val="548DD4"/>
                </a:solidFill>
                <a:latin typeface="Calibri"/>
                <a:ea typeface="MS Mincho"/>
                <a:cs typeface="Arial"/>
              </a:rPr>
              <a:t>Codificación de los modelos Usuario, Servicio </a:t>
            </a:r>
            <a:r>
              <a:rPr lang="es-EC" sz="1800" dirty="0" err="1">
                <a:solidFill>
                  <a:srgbClr val="548DD4"/>
                </a:solidFill>
                <a:latin typeface="Calibri"/>
                <a:ea typeface="MS Mincho"/>
                <a:cs typeface="Arial"/>
              </a:rPr>
              <a:t>Soap</a:t>
            </a:r>
            <a:r>
              <a:rPr lang="es-EC" sz="1800" dirty="0">
                <a:solidFill>
                  <a:srgbClr val="548DD4"/>
                </a:solidFill>
                <a:latin typeface="Calibri"/>
                <a:ea typeface="MS Mincho"/>
                <a:cs typeface="Arial"/>
              </a:rPr>
              <a:t> y </a:t>
            </a:r>
            <a:r>
              <a:rPr lang="es-EC" sz="1800" dirty="0" err="1">
                <a:solidFill>
                  <a:srgbClr val="548DD4"/>
                </a:solidFill>
                <a:latin typeface="Calibri"/>
                <a:ea typeface="MS Mincho"/>
                <a:cs typeface="Arial"/>
              </a:rPr>
              <a:t>ConversorUnidades</a:t>
            </a:r>
            <a:r>
              <a:rPr lang="es-EC" sz="1800" dirty="0">
                <a:solidFill>
                  <a:srgbClr val="548DD4"/>
                </a:solidFill>
                <a:latin typeface="Calibri"/>
                <a:ea typeface="MS Mincho"/>
                <a:cs typeface="Arial"/>
              </a:rPr>
              <a:t> para la manipulación de los datos dentro de la aplicación de consola.</a:t>
            </a:r>
            <a:endParaRPr dirty="0">
              <a:solidFill>
                <a:schemeClr val="dk1"/>
              </a:solidFill>
            </a:endParaRPr>
          </a:p>
          <a:p>
            <a:pPr algn="just">
              <a:lnSpc>
                <a:spcPct val="114999"/>
              </a:lnSpc>
              <a:spcBef>
                <a:spcPts val="600"/>
              </a:spcBef>
              <a:spcAft>
                <a:spcPts val="1600"/>
              </a:spcAft>
              <a:defRPr/>
            </a:pPr>
            <a:r>
              <a:rPr lang="es-EC" sz="1800" dirty="0">
                <a:solidFill>
                  <a:srgbClr val="548DD4"/>
                </a:solidFill>
                <a:latin typeface="Calibri"/>
                <a:ea typeface="MS Mincho"/>
                <a:cs typeface="Arial"/>
              </a:rPr>
              <a:t>Se codifica el modelo para manejar los datos de Usuario.</a:t>
            </a:r>
            <a:endParaRPr dirty="0">
              <a:solidFill>
                <a:schemeClr val="dk1"/>
              </a:solidFill>
            </a:endParaRPr>
          </a:p>
        </p:txBody>
      </p:sp>
      <p:sp>
        <p:nvSpPr>
          <p:cNvPr id="1372974936" name="Google Shape;328;g2524d66b2ad_0_241"/>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227649633" name="Google Shape;329;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987628261" name="Google Shape;330;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505634290" name="Google Shape;333;g2524d66b2ad_0_24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666DA2EC-1670-E6E6-662F-B60A426FF706}"/>
              </a:ext>
            </a:extLst>
          </p:cNvPr>
          <p:cNvPicPr>
            <a:picLocks noChangeAspect="1"/>
          </p:cNvPicPr>
          <p:nvPr/>
        </p:nvPicPr>
        <p:blipFill>
          <a:blip r:embed="rId3"/>
          <a:stretch>
            <a:fillRect/>
          </a:stretch>
        </p:blipFill>
        <p:spPr>
          <a:xfrm>
            <a:off x="3560113" y="2875692"/>
            <a:ext cx="5408859" cy="188312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71901262" name="Google Shape;383;g2524d66b2ad_0_305"/>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010594365" name="Google Shape;384;g2524d66b2ad_0_30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260001283" name="Google Shape;385;g2524d66b2ad_0_30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512167512" name="Google Shape;388;g2524d66b2ad_0_30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302931765" name="Google Shape;327;g2524d66b2ad_0_241"/>
          <p:cNvSpPr txBox="1"/>
          <p:nvPr/>
        </p:nvSpPr>
        <p:spPr bwMode="auto">
          <a:xfrm>
            <a:off x="0" y="1729234"/>
            <a:ext cx="3312300" cy="44001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defRPr>
            </a:lvl1pPr>
            <a:lvl2pPr marL="914400" marR="0" lvl="1" indent="-333756" algn="l" rtl="0">
              <a:lnSpc>
                <a:spcPct val="100000"/>
              </a:lnSpc>
              <a:spcBef>
                <a:spcPts val="600"/>
              </a:spcBef>
              <a:spcAft>
                <a:spcPts val="0"/>
              </a:spcAft>
              <a:buClr>
                <a:schemeClr val="accent2"/>
              </a:buClr>
              <a:buSzPts val="1656"/>
              <a:buFont typeface="Noto Sans Symbols"/>
              <a:buChar char="◼"/>
              <a:defRPr sz="1600" b="0" i="0" u="none" strike="noStrike" cap="none">
                <a:solidFill>
                  <a:schemeClr val="dk2"/>
                </a:solidFill>
                <a:latin typeface="Gill Sans"/>
                <a:ea typeface="Gill Sans"/>
                <a:cs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400" b="0" i="0" u="none" strike="noStrike" cap="none">
                <a:solidFill>
                  <a:schemeClr val="dk2"/>
                </a:solidFill>
                <a:latin typeface="Gill Sans"/>
                <a:ea typeface="Gill Sans"/>
                <a:cs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defRPr>
            </a:lvl5pPr>
            <a:lvl6pPr marL="2743200" marR="0" lvl="5"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defRPr>
            </a:lvl6pPr>
            <a:lvl7pPr marL="3200400" marR="0" lvl="6"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defRPr>
            </a:lvl7pPr>
            <a:lvl8pPr marL="3657600" marR="0" lvl="7" indent="-333756" algn="l" rtl="0">
              <a:lnSpc>
                <a:spcPct val="100000"/>
              </a:lnSpc>
              <a:spcBef>
                <a:spcPts val="600"/>
              </a:spcBef>
              <a:spcAft>
                <a:spcPts val="0"/>
              </a:spcAft>
              <a:buClr>
                <a:schemeClr val="accent2"/>
              </a:buClr>
              <a:buSzPts val="1656"/>
              <a:buFont typeface="Noto Sans Symbols"/>
              <a:buChar char="◼"/>
              <a:defRPr sz="1200" b="0" i="0" u="none" strike="noStrike" cap="none">
                <a:solidFill>
                  <a:schemeClr val="dk2"/>
                </a:solidFill>
                <a:latin typeface="Gill Sans"/>
                <a:ea typeface="Gill Sans"/>
                <a:cs typeface="Gill Sans"/>
              </a:defRPr>
            </a:lvl8pPr>
            <a:lvl9pPr marL="4114800" marR="0" lvl="8" indent="-333756" algn="l" rtl="0">
              <a:lnSpc>
                <a:spcPct val="100000"/>
              </a:lnSpc>
              <a:spcBef>
                <a:spcPts val="600"/>
              </a:spcBef>
              <a:spcAft>
                <a:spcPts val="600"/>
              </a:spcAft>
              <a:buClr>
                <a:schemeClr val="accent2"/>
              </a:buClr>
              <a:buSzPts val="1656"/>
              <a:buFont typeface="Noto Sans Symbols"/>
              <a:buChar char="◼"/>
              <a:defRPr sz="1200" b="0" i="0" u="none" strike="noStrike" cap="none">
                <a:solidFill>
                  <a:schemeClr val="dk2"/>
                </a:solidFill>
                <a:latin typeface="Gill Sans"/>
                <a:ea typeface="Gill Sans"/>
                <a:cs typeface="Gill Sans"/>
              </a:defRPr>
            </a:lvl9pPr>
          </a:lstStyle>
          <a:p>
            <a:pPr algn="just">
              <a:lnSpc>
                <a:spcPct val="114999"/>
              </a:lnSpc>
              <a:spcBef>
                <a:spcPts val="600"/>
              </a:spcBef>
              <a:spcAft>
                <a:spcPts val="1600"/>
              </a:spcAft>
              <a:defRPr/>
            </a:pPr>
            <a:r>
              <a:rPr lang="es-ES" dirty="0">
                <a:solidFill>
                  <a:srgbClr val="548DD4"/>
                </a:solidFill>
                <a:latin typeface="Calibri"/>
                <a:ea typeface="MS Mincho"/>
                <a:cs typeface="Arial"/>
              </a:rPr>
              <a:t>Codificación del controlador </a:t>
            </a:r>
            <a:r>
              <a:rPr lang="es-ES" dirty="0" err="1">
                <a:solidFill>
                  <a:srgbClr val="548DD4"/>
                </a:solidFill>
                <a:latin typeface="Calibri"/>
                <a:ea typeface="MS Mincho"/>
                <a:cs typeface="Arial"/>
              </a:rPr>
              <a:t>DashboardControlador</a:t>
            </a:r>
            <a:r>
              <a:rPr lang="es-ES" dirty="0">
                <a:solidFill>
                  <a:srgbClr val="548DD4"/>
                </a:solidFill>
                <a:latin typeface="Calibri"/>
                <a:ea typeface="MS Mincho"/>
                <a:cs typeface="Arial"/>
              </a:rPr>
              <a:t> para el manejo de la lógica y manipulación de los modelos.</a:t>
            </a:r>
            <a:endParaRPr dirty="0"/>
          </a:p>
          <a:p>
            <a:pPr>
              <a:defRPr/>
            </a:pPr>
            <a:r>
              <a:rPr lang="es-ES" dirty="0">
                <a:solidFill>
                  <a:srgbClr val="548DD4"/>
                </a:solidFill>
                <a:latin typeface="Calibri"/>
                <a:ea typeface="MS Mincho"/>
                <a:cs typeface="Arial"/>
              </a:rPr>
              <a:t>Se codifica el controlador para manejar la lógica de Usuario y Convertir las unidades</a:t>
            </a:r>
            <a:endParaRPr lang="es-ES" dirty="0">
              <a:solidFill>
                <a:schemeClr val="dk1"/>
              </a:solidFill>
            </a:endParaRPr>
          </a:p>
        </p:txBody>
      </p:sp>
      <p:pic>
        <p:nvPicPr>
          <p:cNvPr id="5" name="Picture 4">
            <a:extLst>
              <a:ext uri="{FF2B5EF4-FFF2-40B4-BE49-F238E27FC236}">
                <a16:creationId xmlns:a16="http://schemas.microsoft.com/office/drawing/2014/main" id="{CD647428-0382-6804-878B-75D54066BC81}"/>
              </a:ext>
            </a:extLst>
          </p:cNvPr>
          <p:cNvPicPr>
            <a:picLocks noChangeAspect="1"/>
          </p:cNvPicPr>
          <p:nvPr/>
        </p:nvPicPr>
        <p:blipFill>
          <a:blip r:embed="rId3"/>
          <a:stretch>
            <a:fillRect/>
          </a:stretch>
        </p:blipFill>
        <p:spPr>
          <a:xfrm>
            <a:off x="3312300" y="2448232"/>
            <a:ext cx="5768241" cy="325834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07994580" name="Google Shape;349;g2524d66b2ad_0_260"/>
          <p:cNvSpPr txBox="1">
            <a:spLocks noGrp="1"/>
          </p:cNvSpPr>
          <p:nvPr>
            <p:ph type="body" idx="1"/>
          </p:nvPr>
        </p:nvSpPr>
        <p:spPr bwMode="auto">
          <a:xfrm>
            <a:off x="1800400" y="1436631"/>
            <a:ext cx="5740942" cy="1242702"/>
          </a:xfrm>
          <a:prstGeom prst="rect">
            <a:avLst/>
          </a:prstGeom>
          <a:noFill/>
          <a:ln>
            <a:noFill/>
          </a:ln>
        </p:spPr>
        <p:txBody>
          <a:bodyPr spcFirstLastPara="1" wrap="square" lIns="91425" tIns="45700" rIns="91425" bIns="45700" anchor="ctr" anchorCtr="0">
            <a:normAutofit/>
          </a:bodyPr>
          <a:lstStyle/>
          <a:p>
            <a:pPr algn="just">
              <a:lnSpc>
                <a:spcPct val="114999"/>
              </a:lnSpc>
              <a:spcBef>
                <a:spcPts val="200"/>
              </a:spcBef>
              <a:defRPr/>
            </a:pPr>
            <a:r>
              <a:rPr lang="es-US" sz="1800" b="1">
                <a:solidFill>
                  <a:srgbClr val="243F60"/>
                </a:solidFill>
                <a:latin typeface="Calibri"/>
                <a:ea typeface="Cascadia Mono"/>
                <a:cs typeface="Times New Roman"/>
              </a:rPr>
              <a:t>EJECUCI</a:t>
            </a:r>
            <a:r>
              <a:rPr lang="es-EC" sz="1800" b="1">
                <a:solidFill>
                  <a:srgbClr val="243F60"/>
                </a:solidFill>
                <a:latin typeface="Calibri"/>
                <a:ea typeface="Cascadia Mono"/>
                <a:cs typeface="Times New Roman"/>
              </a:rPr>
              <a:t>ÓN Y PRUEBAS</a:t>
            </a:r>
            <a:r>
              <a:rPr lang="es-US" sz="1800" b="1">
                <a:solidFill>
                  <a:srgbClr val="243F60"/>
                </a:solidFill>
                <a:latin typeface="Calibri"/>
                <a:ea typeface="Cascadia Mono"/>
                <a:cs typeface="Times New Roman"/>
              </a:rPr>
              <a:t> DEL CLIENTE DE ESCRITORIO</a:t>
            </a:r>
            <a:endParaRPr>
              <a:solidFill>
                <a:schemeClr val="dk1"/>
              </a:solidFill>
            </a:endParaRPr>
          </a:p>
        </p:txBody>
      </p:sp>
      <p:sp>
        <p:nvSpPr>
          <p:cNvPr id="711913353" name="Google Shape;350;g2524d66b2ad_0_260"/>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933737261" name="Google Shape;351;g2524d66b2ad_0_26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018084077" name="Google Shape;352;g2524d66b2ad_0_26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485570" name="Google Shape;355;g2524d66b2ad_0_260"/>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4ECB275D-FD86-267A-AAC1-E0595EDA8DDC}"/>
              </a:ext>
            </a:extLst>
          </p:cNvPr>
          <p:cNvPicPr>
            <a:picLocks noChangeAspect="1"/>
          </p:cNvPicPr>
          <p:nvPr/>
        </p:nvPicPr>
        <p:blipFill>
          <a:blip r:embed="rId3"/>
          <a:stretch>
            <a:fillRect/>
          </a:stretch>
        </p:blipFill>
        <p:spPr>
          <a:xfrm>
            <a:off x="321158" y="2667986"/>
            <a:ext cx="4244799" cy="2753383"/>
          </a:xfrm>
          <a:prstGeom prst="rect">
            <a:avLst/>
          </a:prstGeom>
        </p:spPr>
      </p:pic>
      <p:pic>
        <p:nvPicPr>
          <p:cNvPr id="5" name="Picture 4">
            <a:extLst>
              <a:ext uri="{FF2B5EF4-FFF2-40B4-BE49-F238E27FC236}">
                <a16:creationId xmlns:a16="http://schemas.microsoft.com/office/drawing/2014/main" id="{A3ED9C1C-7465-1013-8604-9D3B7F29DAD9}"/>
              </a:ext>
            </a:extLst>
          </p:cNvPr>
          <p:cNvPicPr>
            <a:picLocks noChangeAspect="1"/>
          </p:cNvPicPr>
          <p:nvPr/>
        </p:nvPicPr>
        <p:blipFill>
          <a:blip r:embed="rId4"/>
          <a:stretch>
            <a:fillRect/>
          </a:stretch>
        </p:blipFill>
        <p:spPr>
          <a:xfrm>
            <a:off x="4775784" y="2658519"/>
            <a:ext cx="4244800" cy="278366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45592020" name="Google Shape;503;g2524d66b2ad_0_451"/>
          <p:cNvSpPr txBox="1">
            <a:spLocks noGrp="1"/>
          </p:cNvSpPr>
          <p:nvPr>
            <p:ph type="title"/>
          </p:nvPr>
        </p:nvSpPr>
        <p:spPr bwMode="auto">
          <a:xfrm>
            <a:off x="581242" y="779356"/>
            <a:ext cx="8328842"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defRPr/>
            </a:pPr>
            <a:endParaRPr/>
          </a:p>
          <a:p>
            <a:pPr algn="just">
              <a:lnSpc>
                <a:spcPct val="114999"/>
              </a:lnSpc>
              <a:spcBef>
                <a:spcPts val="200"/>
              </a:spcBef>
              <a:defRPr/>
            </a:pPr>
            <a:r>
              <a:rPr lang="es-EC" sz="3100" b="1">
                <a:solidFill>
                  <a:schemeClr val="bg1"/>
                </a:solidFill>
                <a:latin typeface="Calibri"/>
                <a:ea typeface="Times New Roman"/>
                <a:cs typeface="Times New Roman"/>
              </a:rPr>
              <a:t>CREACIÓN DEL PROYECTO CLIENTE – WEB</a:t>
            </a:r>
            <a:br>
              <a:rPr lang="es-ES" sz="3100" b="1">
                <a:solidFill>
                  <a:schemeClr val="bg1"/>
                </a:solidFill>
                <a:latin typeface="Calibri"/>
                <a:ea typeface="Times New Roman"/>
                <a:cs typeface="Times New Roman"/>
              </a:rPr>
            </a:br>
            <a:endParaRPr sz="3100">
              <a:solidFill>
                <a:schemeClr val="bg1"/>
              </a:solidFill>
            </a:endParaRPr>
          </a:p>
        </p:txBody>
      </p:sp>
      <p:sp>
        <p:nvSpPr>
          <p:cNvPr id="411809906" name="Google Shape;504;g2524d66b2ad_0_451"/>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856910790" name="Google Shape;505;g2524d66b2ad_0_451"/>
          <p:cNvSpPr txBox="1"/>
          <p:nvPr/>
        </p:nvSpPr>
        <p:spPr bwMode="auto">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defRPr/>
            </a:pPr>
            <a:endParaRPr sz="1100" b="0" i="0" u="none" strike="noStrike" cap="none">
              <a:solidFill>
                <a:schemeClr val="dk1"/>
              </a:solidFill>
              <a:latin typeface="Times New Roman"/>
              <a:ea typeface="Times New Roman"/>
              <a:cs typeface="Times New Roman"/>
            </a:endParaRPr>
          </a:p>
        </p:txBody>
      </p:sp>
      <p:sp>
        <p:nvSpPr>
          <p:cNvPr id="1369155533" name="Google Shape;506;g2524d66b2ad_0_451"/>
          <p:cNvSpPr txBox="1"/>
          <p:nvPr/>
        </p:nvSpPr>
        <p:spPr bwMode="auto">
          <a:xfrm>
            <a:off x="392325" y="1898900"/>
            <a:ext cx="8162100" cy="2305216"/>
          </a:xfrm>
          <a:prstGeom prst="rect">
            <a:avLst/>
          </a:prstGeom>
          <a:noFill/>
          <a:ln>
            <a:noFill/>
          </a:ln>
        </p:spPr>
        <p:txBody>
          <a:bodyPr spcFirstLastPara="1" wrap="square" lIns="91425" tIns="91425" rIns="91425" bIns="91425" anchor="t" anchorCtr="0">
            <a:spAutoFit/>
          </a:bodyPr>
          <a:lstStyle/>
          <a:p>
            <a:pPr algn="just">
              <a:lnSpc>
                <a:spcPct val="114999"/>
              </a:lnSpc>
              <a:spcBef>
                <a:spcPts val="600"/>
              </a:spcBef>
              <a:spcAft>
                <a:spcPts val="1600"/>
              </a:spcAft>
              <a:defRPr/>
            </a:pPr>
            <a:r>
              <a:rPr lang="es-ES" sz="1800" dirty="0">
                <a:solidFill>
                  <a:srgbClr val="548DD4"/>
                </a:solidFill>
                <a:latin typeface="Calibri"/>
                <a:ea typeface="MS Mincho"/>
                <a:cs typeface="Times New Roman"/>
              </a:rPr>
              <a:t>Creamos un proyecto en Visual Studio con DOTNET (</a:t>
            </a:r>
            <a:r>
              <a:rPr lang="es-ES" sz="1800" dirty="0" err="1">
                <a:solidFill>
                  <a:srgbClr val="548DD4"/>
                </a:solidFill>
                <a:latin typeface="Calibri"/>
                <a:ea typeface="MS Mincho"/>
                <a:cs typeface="Times New Roman"/>
              </a:rPr>
              <a:t>.Net</a:t>
            </a:r>
            <a:r>
              <a:rPr lang="es-ES" sz="1800" dirty="0">
                <a:solidFill>
                  <a:srgbClr val="548DD4"/>
                </a:solidFill>
                <a:latin typeface="Calibri"/>
                <a:ea typeface="MS Mincho"/>
                <a:cs typeface="Times New Roman"/>
              </a:rPr>
              <a:t> Framework) y con el patrón MVC. </a:t>
            </a:r>
            <a:endParaRPr dirty="0"/>
          </a:p>
          <a:p>
            <a:pPr algn="just">
              <a:lnSpc>
                <a:spcPct val="114999"/>
              </a:lnSpc>
              <a:spcBef>
                <a:spcPts val="600"/>
              </a:spcBef>
              <a:spcAft>
                <a:spcPts val="1600"/>
              </a:spcAft>
              <a:defRPr/>
            </a:pPr>
            <a:r>
              <a:rPr lang="es-ES" sz="1800" dirty="0">
                <a:solidFill>
                  <a:srgbClr val="548DD4"/>
                </a:solidFill>
                <a:latin typeface="Calibri"/>
                <a:ea typeface="MS Mincho"/>
                <a:cs typeface="Times New Roman"/>
              </a:rPr>
              <a:t> </a:t>
            </a:r>
            <a:endParaRPr dirty="0"/>
          </a:p>
          <a:p>
            <a:pPr algn="just">
              <a:lnSpc>
                <a:spcPct val="114999"/>
              </a:lnSpc>
              <a:spcBef>
                <a:spcPts val="600"/>
              </a:spcBef>
              <a:spcAft>
                <a:spcPts val="1600"/>
              </a:spcAft>
              <a:defRPr/>
            </a:pPr>
            <a:endParaRPr lang="es-ES" sz="1800" dirty="0">
              <a:solidFill>
                <a:srgbClr val="548DD4"/>
              </a:solidFill>
              <a:latin typeface="Calibri"/>
              <a:ea typeface="MS Mincho"/>
              <a:cs typeface="Times New Roman"/>
            </a:endParaRPr>
          </a:p>
        </p:txBody>
      </p:sp>
      <p:sp>
        <p:nvSpPr>
          <p:cNvPr id="903255164" name="Google Shape;507;g2524d66b2ad_0_45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rgbClr val="FFFF00"/>
              </a:buClr>
              <a:buSzPts val="1300"/>
              <a:buFont typeface="Arial"/>
              <a:buChar char="◼"/>
              <a:defRPr/>
            </a:pPr>
            <a:r>
              <a:rPr lang="es-ES" sz="1100" b="0" i="0" u="none" strike="noStrike" cap="none">
                <a:solidFill>
                  <a:srgbClr val="FFFF00"/>
                </a:solidFill>
                <a:latin typeface="Gill Sans"/>
                <a:ea typeface="Gill Sans"/>
                <a:cs typeface="Gill Sans"/>
              </a:rPr>
              <a:t>3.3.	VIDEO 4: .NET STANDARD BCL PCL</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909338646" name="Google Shape;508;g2524d66b2ad_0_45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842260122" name="Google Shape;510;g2524d66b2ad_0_45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5" name="Picture 4">
            <a:extLst>
              <a:ext uri="{FF2B5EF4-FFF2-40B4-BE49-F238E27FC236}">
                <a16:creationId xmlns:a16="http://schemas.microsoft.com/office/drawing/2014/main" id="{E1E85DC0-0263-D640-8B21-D9EAE84C010D}"/>
              </a:ext>
            </a:extLst>
          </p:cNvPr>
          <p:cNvPicPr>
            <a:picLocks noChangeAspect="1"/>
          </p:cNvPicPr>
          <p:nvPr/>
        </p:nvPicPr>
        <p:blipFill>
          <a:blip r:embed="rId3"/>
          <a:stretch>
            <a:fillRect/>
          </a:stretch>
        </p:blipFill>
        <p:spPr>
          <a:xfrm>
            <a:off x="3074634" y="2709460"/>
            <a:ext cx="4086795" cy="356284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78646397" name="Google Shape;515;g2524d66b2ad_0_464"/>
          <p:cNvSpPr txBox="1">
            <a:spLocks noGrp="1"/>
          </p:cNvSpPr>
          <p:nvPr>
            <p:ph type="body" idx="1"/>
          </p:nvPr>
        </p:nvSpPr>
        <p:spPr bwMode="auto">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defRPr/>
            </a:pPr>
            <a:r>
              <a:rPr lang="es-ES"/>
              <a:t> </a:t>
            </a:r>
            <a:endParaRPr/>
          </a:p>
        </p:txBody>
      </p:sp>
      <p:sp>
        <p:nvSpPr>
          <p:cNvPr id="1921073392" name="Google Shape;516;g2524d66b2ad_0_464"/>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2016599587" name="Google Shape;517;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074620720" name="Google Shape;518;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114328055" name="Google Shape;520;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828549913" name="Rectangle 2"/>
          <p:cNvSpPr>
            <a:spLocks noChangeArrowheads="1"/>
          </p:cNvSpPr>
          <p:nvPr/>
        </p:nvSpPr>
        <p:spPr bwMode="auto">
          <a:xfrm>
            <a:off x="491125" y="2049000"/>
            <a:ext cx="6261651" cy="538609"/>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a:lnSpc>
                <a:spcPct val="100000"/>
              </a:lnSpc>
              <a:spcBef>
                <a:spcPts val="0"/>
              </a:spcBef>
              <a:spcAft>
                <a:spcPts val="0"/>
              </a:spcAft>
              <a:buClrTx/>
              <a:buSzTx/>
              <a:buFontTx/>
              <a:buNone/>
              <a:defRPr/>
            </a:pPr>
            <a:r>
              <a:rPr lang="es-EC" sz="1100" dirty="0">
                <a:solidFill>
                  <a:srgbClr val="548DD4"/>
                </a:solidFill>
                <a:latin typeface="Calibri"/>
                <a:ea typeface="MS Mincho"/>
                <a:cs typeface="Calibri"/>
              </a:rPr>
              <a:t>Realizamos </a:t>
            </a:r>
            <a:r>
              <a:rPr lang="es-EC" sz="1100" b="0" i="0" u="none" strike="noStrike" cap="none" dirty="0">
                <a:ln>
                  <a:noFill/>
                </a:ln>
                <a:solidFill>
                  <a:srgbClr val="548DD4"/>
                </a:solidFill>
                <a:latin typeface="Calibri"/>
                <a:ea typeface="MS Mincho"/>
                <a:cs typeface="Calibri"/>
              </a:rPr>
              <a:t>la estructura MVC ya realizada ahora se deberá crear las clases en su carpeta correspondiente.</a:t>
            </a:r>
            <a:endParaRPr lang="en-US" sz="800" b="0" i="0" u="none" strike="noStrike" cap="none" dirty="0">
              <a:ln>
                <a:noFill/>
              </a:ln>
              <a:solidFill>
                <a:schemeClr val="tx1"/>
              </a:solidFill>
            </a:endParaRPr>
          </a:p>
          <a:p>
            <a:pPr marL="0" marR="0" lvl="0" indent="0" algn="l" defTabSz="914400" rtl="0">
              <a:lnSpc>
                <a:spcPct val="100000"/>
              </a:lnSpc>
              <a:spcBef>
                <a:spcPts val="0"/>
              </a:spcBef>
              <a:spcAft>
                <a:spcPts val="0"/>
              </a:spcAft>
              <a:buClrTx/>
              <a:buSzTx/>
              <a:buFontTx/>
              <a:buNone/>
              <a:defRPr/>
            </a:pPr>
            <a:endParaRPr lang="en-US" sz="1800" b="0" i="0" u="none" strike="noStrike" cap="none" dirty="0">
              <a:ln>
                <a:noFill/>
              </a:ln>
              <a:solidFill>
                <a:schemeClr val="tx1"/>
              </a:solidFill>
              <a:latin typeface="Arial"/>
            </a:endParaRPr>
          </a:p>
        </p:txBody>
      </p:sp>
      <p:sp>
        <p:nvSpPr>
          <p:cNvPr id="929664714" name="Rectangle 3"/>
          <p:cNvSpPr>
            <a:spLocks noChangeArrowheads="1"/>
          </p:cNvSpPr>
          <p:nvPr/>
        </p:nvSpPr>
        <p:spPr bwMode="auto">
          <a:xfrm>
            <a:off x="1478910" y="5093807"/>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943729173" name="Rectangle 5"/>
          <p:cNvSpPr>
            <a:spLocks noChangeArrowheads="1"/>
          </p:cNvSpPr>
          <p:nvPr/>
        </p:nvSpPr>
        <p:spPr bwMode="auto">
          <a:xfrm>
            <a:off x="491125" y="2395281"/>
            <a:ext cx="12192000" cy="45720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a:lnSpc>
                <a:spcPct val="100000"/>
              </a:lnSpc>
              <a:spcBef>
                <a:spcPts val="0"/>
              </a:spcBef>
              <a:spcAft>
                <a:spcPts val="0"/>
              </a:spcAft>
              <a:buClrTx/>
              <a:buSzTx/>
              <a:buFontTx/>
              <a:buNone/>
              <a:defRPr/>
            </a:pPr>
            <a:r>
              <a:rPr lang="es-EC" sz="1100" b="0" i="0" u="none" strike="noStrike" cap="none" dirty="0">
                <a:ln>
                  <a:noFill/>
                </a:ln>
                <a:solidFill>
                  <a:srgbClr val="548DD4"/>
                </a:solidFill>
                <a:latin typeface="Calibri"/>
                <a:ea typeface="MS Mincho"/>
                <a:cs typeface="Calibri"/>
              </a:rPr>
              <a:t>Se codifica el modelo para manejar los datos de </a:t>
            </a:r>
            <a:r>
              <a:rPr lang="es-EC" sz="1100" b="0" i="0" u="none" strike="noStrike" cap="none" dirty="0" err="1">
                <a:ln>
                  <a:noFill/>
                </a:ln>
                <a:solidFill>
                  <a:srgbClr val="548DD4"/>
                </a:solidFill>
                <a:latin typeface="Calibri"/>
                <a:ea typeface="MS Mincho"/>
                <a:cs typeface="Calibri"/>
              </a:rPr>
              <a:t>User</a:t>
            </a:r>
            <a:r>
              <a:rPr lang="es-EC" sz="1100" b="0" i="0" u="none" strike="noStrike" cap="none" dirty="0">
                <a:ln>
                  <a:noFill/>
                </a:ln>
                <a:solidFill>
                  <a:srgbClr val="548DD4"/>
                </a:solidFill>
                <a:latin typeface="Calibri"/>
                <a:ea typeface="MS Mincho"/>
                <a:cs typeface="Calibri"/>
              </a:rPr>
              <a:t>.</a:t>
            </a:r>
            <a:endParaRPr lang="en-US" sz="800" b="0" i="0" u="none" strike="noStrike" cap="none" dirty="0">
              <a:ln>
                <a:noFill/>
              </a:ln>
              <a:solidFill>
                <a:schemeClr val="tx1"/>
              </a:solidFill>
            </a:endParaRPr>
          </a:p>
          <a:p>
            <a:pPr marL="0" marR="0" lvl="0" indent="0" algn="l" defTabSz="914400" rtl="0">
              <a:lnSpc>
                <a:spcPct val="100000"/>
              </a:lnSpc>
              <a:spcBef>
                <a:spcPts val="0"/>
              </a:spcBef>
              <a:spcAft>
                <a:spcPts val="0"/>
              </a:spcAft>
              <a:buClrTx/>
              <a:buSzTx/>
              <a:buFontTx/>
              <a:buNone/>
              <a:defRPr/>
            </a:pPr>
            <a:endParaRPr lang="en-US" sz="1800" b="0" i="0" u="none" strike="noStrike" cap="none" dirty="0">
              <a:ln>
                <a:noFill/>
              </a:ln>
              <a:solidFill>
                <a:schemeClr val="tx1"/>
              </a:solidFill>
              <a:latin typeface="Arial"/>
            </a:endParaRPr>
          </a:p>
        </p:txBody>
      </p:sp>
      <p:sp>
        <p:nvSpPr>
          <p:cNvPr id="1105216940" name="Rectangle 6"/>
          <p:cNvSpPr>
            <a:spLocks noChangeArrowheads="1"/>
          </p:cNvSpPr>
          <p:nvPr/>
        </p:nvSpPr>
        <p:spPr bwMode="auto">
          <a:xfrm>
            <a:off x="0" y="5021263"/>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pic>
        <p:nvPicPr>
          <p:cNvPr id="3" name="Picture 2">
            <a:extLst>
              <a:ext uri="{FF2B5EF4-FFF2-40B4-BE49-F238E27FC236}">
                <a16:creationId xmlns:a16="http://schemas.microsoft.com/office/drawing/2014/main" id="{86CD6916-5530-E290-0F59-5B263EA44B55}"/>
              </a:ext>
            </a:extLst>
          </p:cNvPr>
          <p:cNvPicPr>
            <a:picLocks noChangeAspect="1"/>
          </p:cNvPicPr>
          <p:nvPr/>
        </p:nvPicPr>
        <p:blipFill>
          <a:blip r:embed="rId3"/>
          <a:stretch>
            <a:fillRect/>
          </a:stretch>
        </p:blipFill>
        <p:spPr>
          <a:xfrm>
            <a:off x="3975253" y="2587609"/>
            <a:ext cx="3848637" cy="398200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2099292" name="Google Shape;516;g2524d66b2ad_0_464"/>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398169929" name="Google Shape;517;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4800330" name="Google Shape;518;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7708771" name="Google Shape;520;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647859035" name="Rectangle 3"/>
          <p:cNvSpPr>
            <a:spLocks noChangeArrowheads="1"/>
          </p:cNvSpPr>
          <p:nvPr/>
        </p:nvSpPr>
        <p:spPr bwMode="auto">
          <a:xfrm>
            <a:off x="1478910" y="5093807"/>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1572587348" name="Rectangle 6"/>
          <p:cNvSpPr>
            <a:spLocks noChangeArrowheads="1"/>
          </p:cNvSpPr>
          <p:nvPr/>
        </p:nvSpPr>
        <p:spPr bwMode="auto">
          <a:xfrm>
            <a:off x="0" y="5021263"/>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3" name="TextBox 2">
            <a:extLst>
              <a:ext uri="{FF2B5EF4-FFF2-40B4-BE49-F238E27FC236}">
                <a16:creationId xmlns:a16="http://schemas.microsoft.com/office/drawing/2014/main" id="{6179C4D8-AF87-9103-B930-613AFD0F8E51}"/>
              </a:ext>
            </a:extLst>
          </p:cNvPr>
          <p:cNvSpPr txBox="1"/>
          <p:nvPr/>
        </p:nvSpPr>
        <p:spPr>
          <a:xfrm>
            <a:off x="427702" y="1926663"/>
            <a:ext cx="8244349" cy="325538"/>
          </a:xfrm>
          <a:prstGeom prst="rect">
            <a:avLst/>
          </a:prstGeom>
          <a:noFill/>
        </p:spPr>
        <p:txBody>
          <a:bodyPr wrap="square">
            <a:spAutoFit/>
          </a:bodyPr>
          <a:lstStyle/>
          <a:p>
            <a:pPr algn="just">
              <a:lnSpc>
                <a:spcPct val="114999"/>
              </a:lnSpc>
              <a:spcBef>
                <a:spcPts val="600"/>
              </a:spcBef>
              <a:spcAft>
                <a:spcPts val="1600"/>
              </a:spcAft>
              <a:defRPr/>
            </a:pPr>
            <a:r>
              <a:rPr lang="es-419" sz="1400" dirty="0">
                <a:solidFill>
                  <a:srgbClr val="548DD4"/>
                </a:solidFill>
                <a:latin typeface="Calibri"/>
                <a:ea typeface="MS Mincho"/>
                <a:cs typeface="Times New Roman"/>
              </a:rPr>
              <a:t> Se manda la vista de lo que verá el cliente que se usará con la extensión .</a:t>
            </a:r>
            <a:r>
              <a:rPr lang="es-419" sz="1400" dirty="0" err="1">
                <a:solidFill>
                  <a:srgbClr val="548DD4"/>
                </a:solidFill>
                <a:latin typeface="Calibri"/>
                <a:ea typeface="MS Mincho"/>
                <a:cs typeface="Times New Roman"/>
              </a:rPr>
              <a:t>aspx</a:t>
            </a:r>
            <a:r>
              <a:rPr lang="es-419" sz="1400" dirty="0">
                <a:solidFill>
                  <a:srgbClr val="548DD4"/>
                </a:solidFill>
                <a:latin typeface="Calibri"/>
                <a:ea typeface="MS Mincho"/>
                <a:cs typeface="Times New Roman"/>
              </a:rPr>
              <a:t> </a:t>
            </a:r>
          </a:p>
        </p:txBody>
      </p:sp>
      <p:pic>
        <p:nvPicPr>
          <p:cNvPr id="5" name="Picture 4">
            <a:extLst>
              <a:ext uri="{FF2B5EF4-FFF2-40B4-BE49-F238E27FC236}">
                <a16:creationId xmlns:a16="http://schemas.microsoft.com/office/drawing/2014/main" id="{B9503F0F-3547-1C6C-A079-0F65B2C475EE}"/>
              </a:ext>
            </a:extLst>
          </p:cNvPr>
          <p:cNvPicPr>
            <a:picLocks noChangeAspect="1"/>
          </p:cNvPicPr>
          <p:nvPr/>
        </p:nvPicPr>
        <p:blipFill>
          <a:blip r:embed="rId3"/>
          <a:stretch>
            <a:fillRect/>
          </a:stretch>
        </p:blipFill>
        <p:spPr>
          <a:xfrm>
            <a:off x="461649" y="2615995"/>
            <a:ext cx="8210402" cy="305721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6574311" name="Google Shape;516;g2524d66b2ad_0_464"/>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2085031463" name="Google Shape;517;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36180123" name="Google Shape;518;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742767505" name="Google Shape;520;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120783069" name="Rectangle 3"/>
          <p:cNvSpPr>
            <a:spLocks noChangeArrowheads="1"/>
          </p:cNvSpPr>
          <p:nvPr/>
        </p:nvSpPr>
        <p:spPr bwMode="auto">
          <a:xfrm>
            <a:off x="1478910" y="5093807"/>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998344344" name="Rectangle 6"/>
          <p:cNvSpPr>
            <a:spLocks noChangeArrowheads="1"/>
          </p:cNvSpPr>
          <p:nvPr/>
        </p:nvSpPr>
        <p:spPr bwMode="auto">
          <a:xfrm>
            <a:off x="0" y="5021263"/>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1126070487" name="TextBox 3"/>
          <p:cNvSpPr txBox="1"/>
          <p:nvPr/>
        </p:nvSpPr>
        <p:spPr bwMode="auto">
          <a:xfrm>
            <a:off x="425302" y="1828326"/>
            <a:ext cx="6103088" cy="325538"/>
          </a:xfrm>
          <a:prstGeom prst="rect">
            <a:avLst/>
          </a:prstGeom>
          <a:noFill/>
        </p:spPr>
        <p:txBody>
          <a:bodyPr wrap="square">
            <a:spAutoFit/>
          </a:bodyPr>
          <a:lstStyle/>
          <a:p>
            <a:pPr marL="0" marR="0" algn="just">
              <a:lnSpc>
                <a:spcPct val="114999"/>
              </a:lnSpc>
              <a:spcBef>
                <a:spcPts val="600"/>
              </a:spcBef>
              <a:spcAft>
                <a:spcPts val="1600"/>
              </a:spcAft>
              <a:defRPr/>
            </a:pPr>
            <a:r>
              <a:rPr lang="es-EC" sz="1400" dirty="0">
                <a:solidFill>
                  <a:srgbClr val="548DD4"/>
                </a:solidFill>
                <a:latin typeface="Calibri"/>
                <a:ea typeface="MS Mincho"/>
                <a:cs typeface="Arial"/>
              </a:rPr>
              <a:t>Se codifica el </a:t>
            </a:r>
            <a:r>
              <a:rPr lang="es-EC" sz="1400" dirty="0" err="1">
                <a:solidFill>
                  <a:srgbClr val="548DD4"/>
                </a:solidFill>
                <a:latin typeface="Calibri"/>
                <a:ea typeface="MS Mincho"/>
                <a:cs typeface="Arial"/>
              </a:rPr>
              <a:t>controller</a:t>
            </a:r>
            <a:r>
              <a:rPr lang="es-EC" sz="1400" dirty="0">
                <a:solidFill>
                  <a:srgbClr val="548DD4"/>
                </a:solidFill>
                <a:latin typeface="Calibri"/>
                <a:ea typeface="MS Mincho"/>
                <a:cs typeface="Arial"/>
              </a:rPr>
              <a:t> para manejar la lógica del proyecto</a:t>
            </a:r>
            <a:endParaRPr lang="en-US" sz="1400" dirty="0">
              <a:solidFill>
                <a:srgbClr val="548DD4"/>
              </a:solidFill>
              <a:latin typeface="Calibri"/>
              <a:ea typeface="MS Mincho"/>
              <a:cs typeface="Arial"/>
            </a:endParaRPr>
          </a:p>
        </p:txBody>
      </p:sp>
      <p:pic>
        <p:nvPicPr>
          <p:cNvPr id="3" name="Picture 2">
            <a:extLst>
              <a:ext uri="{FF2B5EF4-FFF2-40B4-BE49-F238E27FC236}">
                <a16:creationId xmlns:a16="http://schemas.microsoft.com/office/drawing/2014/main" id="{31993608-95F1-2C22-DDFA-E57C89C90462}"/>
              </a:ext>
            </a:extLst>
          </p:cNvPr>
          <p:cNvPicPr>
            <a:picLocks noChangeAspect="1"/>
          </p:cNvPicPr>
          <p:nvPr/>
        </p:nvPicPr>
        <p:blipFill>
          <a:blip r:embed="rId3"/>
          <a:stretch>
            <a:fillRect/>
          </a:stretch>
        </p:blipFill>
        <p:spPr>
          <a:xfrm>
            <a:off x="1393994" y="2432974"/>
            <a:ext cx="6636908" cy="399443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8912933" name="Google Shape;525;g2524d66b2ad_0_476"/>
          <p:cNvSpPr txBox="1">
            <a:spLocks noGrp="1"/>
          </p:cNvSpPr>
          <p:nvPr>
            <p:ph type="title"/>
          </p:nvPr>
        </p:nvSpPr>
        <p:spPr bwMode="auto">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defRPr/>
            </a:pPr>
            <a:endParaRPr/>
          </a:p>
          <a:p>
            <a:pPr marL="0" lvl="0" indent="0" algn="l" rtl="0">
              <a:lnSpc>
                <a:spcPct val="100000"/>
              </a:lnSpc>
              <a:spcBef>
                <a:spcPts val="0"/>
              </a:spcBef>
              <a:spcAft>
                <a:spcPts val="0"/>
              </a:spcAft>
              <a:buClr>
                <a:schemeClr val="lt1"/>
              </a:buClr>
              <a:buSzPct val="100000"/>
              <a:buFont typeface="Gill Sans"/>
              <a:buNone/>
              <a:defRPr/>
            </a:pPr>
            <a:r>
              <a:rPr lang="es-ES"/>
              <a:t>3 EJECUCIÓN </a:t>
            </a:r>
            <a:endParaRPr/>
          </a:p>
          <a:p>
            <a:pPr marL="0" lvl="0" indent="0" algn="l" rtl="0">
              <a:lnSpc>
                <a:spcPct val="100000"/>
              </a:lnSpc>
              <a:spcBef>
                <a:spcPts val="0"/>
              </a:spcBef>
              <a:spcAft>
                <a:spcPts val="0"/>
              </a:spcAft>
              <a:buClr>
                <a:schemeClr val="lt1"/>
              </a:buClr>
              <a:buSzPct val="100000"/>
              <a:buFont typeface="Gill Sans"/>
              <a:buNone/>
              <a:defRPr/>
            </a:pPr>
            <a:endParaRPr/>
          </a:p>
        </p:txBody>
      </p:sp>
      <p:sp>
        <p:nvSpPr>
          <p:cNvPr id="141926604" name="Google Shape;526;g2524d66b2ad_0_476"/>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006854967" name="Google Shape;527;g2524d66b2ad_0_476"/>
          <p:cNvSpPr txBox="1"/>
          <p:nvPr/>
        </p:nvSpPr>
        <p:spPr bwMode="auto">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defRPr/>
            </a:pPr>
            <a:endParaRPr sz="1100" b="0" i="0" u="none" strike="noStrike" cap="none">
              <a:solidFill>
                <a:schemeClr val="dk1"/>
              </a:solidFill>
              <a:latin typeface="Times New Roman"/>
              <a:ea typeface="Times New Roman"/>
              <a:cs typeface="Times New Roman"/>
            </a:endParaRPr>
          </a:p>
        </p:txBody>
      </p:sp>
      <p:sp>
        <p:nvSpPr>
          <p:cNvPr id="650857412" name="Google Shape;529;g2524d66b2ad_0_47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rgbClr val="FFFF00"/>
              </a:buClr>
              <a:buSzPts val="1300"/>
              <a:buFont typeface="Arial"/>
              <a:buChar char="◼"/>
              <a:defRPr/>
            </a:pPr>
            <a:r>
              <a:rPr lang="es-ES" sz="1100" b="0" i="0" u="none" strike="noStrike" cap="none">
                <a:solidFill>
                  <a:srgbClr val="FFFF00"/>
                </a:solidFill>
                <a:latin typeface="Gill Sans"/>
                <a:ea typeface="Gill Sans"/>
                <a:cs typeface="Gill Sans"/>
              </a:rPr>
              <a:t>3.3.	VIDEO 4: .NET STANDARD BCL PCL</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97619013" name="Google Shape;530;g2524d66b2ad_0_47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921609510" name="Google Shape;533;g2524d66b2ad_0_47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a:solidFill>
                  <a:schemeClr val="lt1"/>
                </a:solidFill>
                <a:latin typeface="Gill Sans"/>
                <a:ea typeface="Gill Sans"/>
                <a:cs typeface="Gill Sans"/>
              </a:rPr>
              <a:t>2</a:t>
            </a:r>
            <a:r>
              <a:rPr lang="es-ES" sz="1100" b="0" i="0" u="none" strike="noStrike" cap="none">
                <a:solidFill>
                  <a:schemeClr val="lt1"/>
                </a:solidFill>
                <a:latin typeface="Gill Sans"/>
                <a:ea typeface="Gill Sans"/>
                <a:cs typeface="Gill Sans"/>
              </a:rPr>
              <a:t>	</a:t>
            </a:r>
            <a:r>
              <a:rPr lang="es-ES" sz="1100">
                <a:solidFill>
                  <a:schemeClr val="lt1"/>
                </a:solidFill>
                <a:latin typeface="Gill Sans"/>
                <a:ea typeface="Gill Sans"/>
                <a:cs typeface="Gill Sans"/>
              </a:rPr>
              <a:t>DESARROLLO</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a:t>
            </a:r>
            <a:r>
              <a:rPr lang="es-ES" sz="1100">
                <a:solidFill>
                  <a:srgbClr val="FFFF00"/>
                </a:solidFill>
                <a:latin typeface="Gill Sans"/>
                <a:ea typeface="Gill Sans"/>
                <a:cs typeface="Gill Sans"/>
              </a:rPr>
              <a:t>EJECUCIÓN</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765786548" name="Rectangle 8"/>
          <p:cNvSpPr>
            <a:spLocks noChangeArrowheads="1"/>
          </p:cNvSpPr>
          <p:nvPr/>
        </p:nvSpPr>
        <p:spPr bwMode="auto">
          <a:xfrm>
            <a:off x="581242" y="1949108"/>
            <a:ext cx="6295313" cy="538609"/>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a:lnSpc>
                <a:spcPct val="100000"/>
              </a:lnSpc>
              <a:spcBef>
                <a:spcPts val="0"/>
              </a:spcBef>
              <a:spcAft>
                <a:spcPts val="0"/>
              </a:spcAft>
              <a:buClrTx/>
              <a:buSzTx/>
              <a:buFontTx/>
              <a:buNone/>
              <a:defRPr/>
            </a:pPr>
            <a:r>
              <a:rPr lang="es-EC" sz="1100" b="0" i="0" u="none" strike="noStrike" cap="none" dirty="0">
                <a:ln>
                  <a:noFill/>
                </a:ln>
                <a:solidFill>
                  <a:srgbClr val="548DD4"/>
                </a:solidFill>
                <a:latin typeface="Calibri"/>
                <a:ea typeface="MS Mincho"/>
                <a:cs typeface="Calibri"/>
              </a:rPr>
              <a:t>Ejecutamos la aplicación web, la cuál nos mandará al </a:t>
            </a:r>
            <a:r>
              <a:rPr lang="en-US" sz="1100" b="0" i="0" u="none" strike="noStrike" cap="none" dirty="0">
                <a:ln>
                  <a:noFill/>
                </a:ln>
                <a:solidFill>
                  <a:srgbClr val="548DD4"/>
                </a:solidFill>
                <a:latin typeface="Calibri"/>
                <a:ea typeface="MS Mincho"/>
                <a:cs typeface="Calibri"/>
              </a:rPr>
              <a:t>inicio de </a:t>
            </a:r>
            <a:r>
              <a:rPr lang="en-US" sz="1100" b="0" i="0" u="none" strike="noStrike" cap="none" dirty="0" err="1">
                <a:ln>
                  <a:noFill/>
                </a:ln>
                <a:solidFill>
                  <a:srgbClr val="548DD4"/>
                </a:solidFill>
                <a:latin typeface="Calibri"/>
                <a:ea typeface="MS Mincho"/>
                <a:cs typeface="Calibri"/>
              </a:rPr>
              <a:t>sesión</a:t>
            </a:r>
            <a:r>
              <a:rPr lang="en-US" sz="1100" b="0" i="0" u="none" strike="noStrike" cap="none" dirty="0">
                <a:ln>
                  <a:noFill/>
                </a:ln>
                <a:solidFill>
                  <a:srgbClr val="548DD4"/>
                </a:solidFill>
                <a:latin typeface="Calibri"/>
                <a:ea typeface="MS Mincho"/>
                <a:cs typeface="Calibri"/>
              </a:rPr>
              <a:t>, y </a:t>
            </a:r>
            <a:r>
              <a:rPr lang="en-US" sz="1100" b="0" i="0" u="none" strike="noStrike" cap="none" dirty="0" err="1">
                <a:ln>
                  <a:noFill/>
                </a:ln>
                <a:solidFill>
                  <a:srgbClr val="548DD4"/>
                </a:solidFill>
                <a:latin typeface="Calibri"/>
                <a:ea typeface="MS Mincho"/>
                <a:cs typeface="Calibri"/>
              </a:rPr>
              <a:t>después</a:t>
            </a:r>
            <a:r>
              <a:rPr lang="en-US" sz="1100" b="0" i="0" u="none" strike="noStrike" cap="none" dirty="0">
                <a:ln>
                  <a:noFill/>
                </a:ln>
                <a:solidFill>
                  <a:srgbClr val="548DD4"/>
                </a:solidFill>
                <a:latin typeface="Calibri"/>
                <a:ea typeface="MS Mincho"/>
                <a:cs typeface="Calibri"/>
              </a:rPr>
              <a:t> a la </a:t>
            </a:r>
            <a:r>
              <a:rPr lang="en-US" sz="1100" b="0" i="0" u="none" strike="noStrike" cap="none" dirty="0" err="1">
                <a:ln>
                  <a:noFill/>
                </a:ln>
                <a:solidFill>
                  <a:srgbClr val="548DD4"/>
                </a:solidFill>
                <a:latin typeface="Calibri"/>
                <a:ea typeface="MS Mincho"/>
                <a:cs typeface="Calibri"/>
              </a:rPr>
              <a:t>conversión</a:t>
            </a:r>
            <a:r>
              <a:rPr lang="en-US" sz="1100" b="0" i="0" u="none" strike="noStrike" cap="none" dirty="0">
                <a:ln>
                  <a:noFill/>
                </a:ln>
                <a:solidFill>
                  <a:srgbClr val="548DD4"/>
                </a:solidFill>
                <a:latin typeface="Calibri"/>
                <a:ea typeface="MS Mincho"/>
                <a:cs typeface="Calibri"/>
              </a:rPr>
              <a:t> de </a:t>
            </a:r>
            <a:r>
              <a:rPr lang="en-US" sz="1100" b="0" i="0" u="none" strike="noStrike" cap="none" dirty="0" err="1">
                <a:ln>
                  <a:noFill/>
                </a:ln>
                <a:solidFill>
                  <a:srgbClr val="548DD4"/>
                </a:solidFill>
                <a:latin typeface="Calibri"/>
                <a:ea typeface="MS Mincho"/>
                <a:cs typeface="Calibri"/>
              </a:rPr>
              <a:t>unidades</a:t>
            </a:r>
            <a:endParaRPr lang="en-US" sz="800" b="0" i="0" u="none" strike="noStrike" cap="none" dirty="0">
              <a:ln>
                <a:noFill/>
              </a:ln>
              <a:solidFill>
                <a:schemeClr val="tx1"/>
              </a:solidFill>
            </a:endParaRPr>
          </a:p>
          <a:p>
            <a:pPr marL="0" marR="0" lvl="0" indent="0" algn="l" defTabSz="914400" rtl="0">
              <a:lnSpc>
                <a:spcPct val="100000"/>
              </a:lnSpc>
              <a:spcBef>
                <a:spcPts val="0"/>
              </a:spcBef>
              <a:spcAft>
                <a:spcPts val="0"/>
              </a:spcAft>
              <a:buClrTx/>
              <a:buSzTx/>
              <a:buFontTx/>
              <a:buNone/>
              <a:defRPr/>
            </a:pPr>
            <a:endParaRPr lang="en-US" sz="1800" b="0" i="0" u="none" strike="noStrike" cap="none" dirty="0">
              <a:ln>
                <a:noFill/>
              </a:ln>
              <a:solidFill>
                <a:schemeClr val="tx1"/>
              </a:solidFill>
              <a:latin typeface="Arial"/>
            </a:endParaRPr>
          </a:p>
        </p:txBody>
      </p:sp>
      <p:sp>
        <p:nvSpPr>
          <p:cNvPr id="789487117" name="Rectangle 9"/>
          <p:cNvSpPr>
            <a:spLocks noChangeArrowheads="1"/>
          </p:cNvSpPr>
          <p:nvPr/>
        </p:nvSpPr>
        <p:spPr bwMode="auto">
          <a:xfrm>
            <a:off x="1031359" y="4572668"/>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pic>
        <p:nvPicPr>
          <p:cNvPr id="5" name="Picture 4">
            <a:extLst>
              <a:ext uri="{FF2B5EF4-FFF2-40B4-BE49-F238E27FC236}">
                <a16:creationId xmlns:a16="http://schemas.microsoft.com/office/drawing/2014/main" id="{F3E37C28-C7B0-8A41-198D-8D8FEB261307}"/>
              </a:ext>
            </a:extLst>
          </p:cNvPr>
          <p:cNvPicPr>
            <a:picLocks noChangeAspect="1"/>
          </p:cNvPicPr>
          <p:nvPr/>
        </p:nvPicPr>
        <p:blipFill>
          <a:blip r:embed="rId3"/>
          <a:stretch>
            <a:fillRect/>
          </a:stretch>
        </p:blipFill>
        <p:spPr>
          <a:xfrm>
            <a:off x="432621" y="2992260"/>
            <a:ext cx="4031225" cy="2264936"/>
          </a:xfrm>
          <a:prstGeom prst="rect">
            <a:avLst/>
          </a:prstGeom>
        </p:spPr>
      </p:pic>
      <p:pic>
        <p:nvPicPr>
          <p:cNvPr id="7" name="Picture 6">
            <a:extLst>
              <a:ext uri="{FF2B5EF4-FFF2-40B4-BE49-F238E27FC236}">
                <a16:creationId xmlns:a16="http://schemas.microsoft.com/office/drawing/2014/main" id="{8C440C5F-EBE8-954D-9FEB-CF3095DD2E3F}"/>
              </a:ext>
            </a:extLst>
          </p:cNvPr>
          <p:cNvPicPr>
            <a:picLocks noChangeAspect="1"/>
          </p:cNvPicPr>
          <p:nvPr/>
        </p:nvPicPr>
        <p:blipFill>
          <a:blip r:embed="rId4"/>
          <a:stretch>
            <a:fillRect/>
          </a:stretch>
        </p:blipFill>
        <p:spPr>
          <a:xfrm>
            <a:off x="4581698" y="2992260"/>
            <a:ext cx="4417817" cy="25039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63749067" name="Google Shape;503;g2524d66b2ad_0_451"/>
          <p:cNvSpPr txBox="1">
            <a:spLocks noGrp="1"/>
          </p:cNvSpPr>
          <p:nvPr>
            <p:ph type="title"/>
          </p:nvPr>
        </p:nvSpPr>
        <p:spPr bwMode="auto">
          <a:xfrm>
            <a:off x="581242" y="779356"/>
            <a:ext cx="8328842"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defRPr/>
            </a:pPr>
            <a:endParaRPr/>
          </a:p>
          <a:p>
            <a:pPr algn="just">
              <a:lnSpc>
                <a:spcPct val="114999"/>
              </a:lnSpc>
              <a:spcBef>
                <a:spcPts val="200"/>
              </a:spcBef>
              <a:defRPr/>
            </a:pPr>
            <a:r>
              <a:rPr lang="es-EC" sz="3100" b="1">
                <a:solidFill>
                  <a:schemeClr val="bg1"/>
                </a:solidFill>
                <a:latin typeface="Calibri"/>
                <a:ea typeface="Times New Roman"/>
                <a:cs typeface="Times New Roman"/>
              </a:rPr>
              <a:t>CREACIÓN DEL PROYECTO CLIENTE – MOVIL</a:t>
            </a:r>
            <a:br>
              <a:rPr lang="es-ES" sz="3100" b="1">
                <a:solidFill>
                  <a:schemeClr val="bg1"/>
                </a:solidFill>
                <a:latin typeface="Calibri"/>
                <a:ea typeface="Times New Roman"/>
                <a:cs typeface="Times New Roman"/>
              </a:rPr>
            </a:br>
            <a:endParaRPr sz="3100">
              <a:solidFill>
                <a:schemeClr val="bg1"/>
              </a:solidFill>
            </a:endParaRPr>
          </a:p>
        </p:txBody>
      </p:sp>
      <p:sp>
        <p:nvSpPr>
          <p:cNvPr id="690882166" name="Google Shape;504;g2524d66b2ad_0_451"/>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60950641" name="Google Shape;505;g2524d66b2ad_0_451"/>
          <p:cNvSpPr txBox="1"/>
          <p:nvPr/>
        </p:nvSpPr>
        <p:spPr bwMode="auto">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defRPr/>
            </a:pPr>
            <a:endParaRPr sz="1100" b="0" i="0" u="none" strike="noStrike" cap="none">
              <a:solidFill>
                <a:schemeClr val="dk1"/>
              </a:solidFill>
              <a:latin typeface="Times New Roman"/>
              <a:ea typeface="Times New Roman"/>
              <a:cs typeface="Times New Roman"/>
            </a:endParaRPr>
          </a:p>
        </p:txBody>
      </p:sp>
      <p:sp>
        <p:nvSpPr>
          <p:cNvPr id="1507926166" name="Google Shape;506;g2524d66b2ad_0_451"/>
          <p:cNvSpPr txBox="1"/>
          <p:nvPr/>
        </p:nvSpPr>
        <p:spPr bwMode="auto">
          <a:xfrm>
            <a:off x="392325" y="1898900"/>
            <a:ext cx="8162100" cy="785313"/>
          </a:xfrm>
          <a:prstGeom prst="rect">
            <a:avLst/>
          </a:prstGeom>
          <a:noFill/>
          <a:ln>
            <a:noFill/>
          </a:ln>
        </p:spPr>
        <p:txBody>
          <a:bodyPr spcFirstLastPara="1" wrap="square" lIns="91425" tIns="91425" rIns="91425" bIns="91425" anchor="t" anchorCtr="0">
            <a:spAutoFit/>
          </a:bodyPr>
          <a:lstStyle/>
          <a:p>
            <a:pPr algn="just">
              <a:lnSpc>
                <a:spcPct val="114999"/>
              </a:lnSpc>
              <a:spcBef>
                <a:spcPts val="600"/>
              </a:spcBef>
              <a:spcAft>
                <a:spcPts val="1600"/>
              </a:spcAft>
              <a:defRPr/>
            </a:pPr>
            <a:r>
              <a:rPr lang="es-ES" sz="1800" dirty="0">
                <a:solidFill>
                  <a:srgbClr val="548DD4"/>
                </a:solidFill>
                <a:latin typeface="Calibri"/>
                <a:ea typeface="MS Mincho"/>
                <a:cs typeface="Times New Roman"/>
              </a:rPr>
              <a:t>Creamos un proyecto con el </a:t>
            </a:r>
            <a:r>
              <a:rPr lang="es-ES" sz="1800" dirty="0" err="1">
                <a:solidFill>
                  <a:srgbClr val="548DD4"/>
                </a:solidFill>
                <a:latin typeface="Calibri"/>
                <a:ea typeface="MS Mincho"/>
                <a:cs typeface="Times New Roman"/>
              </a:rPr>
              <a:t>framework</a:t>
            </a:r>
            <a:r>
              <a:rPr lang="es-ES" sz="1800" dirty="0">
                <a:solidFill>
                  <a:srgbClr val="548DD4"/>
                </a:solidFill>
                <a:latin typeface="Calibri"/>
                <a:ea typeface="MS Mincho"/>
                <a:cs typeface="Times New Roman"/>
              </a:rPr>
              <a:t> MAUI de .NET</a:t>
            </a:r>
            <a:endParaRPr dirty="0"/>
          </a:p>
        </p:txBody>
      </p:sp>
      <p:sp>
        <p:nvSpPr>
          <p:cNvPr id="1707421185" name="Google Shape;507;g2524d66b2ad_0_45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rgbClr val="FFFF00"/>
              </a:buClr>
              <a:buSzPts val="1300"/>
              <a:buFont typeface="Arial"/>
              <a:buChar char="◼"/>
              <a:defRPr/>
            </a:pPr>
            <a:r>
              <a:rPr lang="es-ES" sz="1100" b="0" i="0" u="none" strike="noStrike" cap="none">
                <a:solidFill>
                  <a:srgbClr val="FFFF00"/>
                </a:solidFill>
                <a:latin typeface="Gill Sans"/>
                <a:ea typeface="Gill Sans"/>
                <a:cs typeface="Gill Sans"/>
              </a:rPr>
              <a:t>3.3.	VIDEO 4: .NET STANDARD BCL PCL</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44831613" name="Google Shape;508;g2524d66b2ad_0_45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191356100" name="Google Shape;510;g2524d66b2ad_0_451"/>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pic>
        <p:nvPicPr>
          <p:cNvPr id="3" name="Picture 2">
            <a:extLst>
              <a:ext uri="{FF2B5EF4-FFF2-40B4-BE49-F238E27FC236}">
                <a16:creationId xmlns:a16="http://schemas.microsoft.com/office/drawing/2014/main" id="{8015334A-E378-7B73-7426-1EEE2FA5AD45}"/>
              </a:ext>
            </a:extLst>
          </p:cNvPr>
          <p:cNvPicPr>
            <a:picLocks noChangeAspect="1"/>
          </p:cNvPicPr>
          <p:nvPr/>
        </p:nvPicPr>
        <p:blipFill>
          <a:blip r:embed="rId3"/>
          <a:stretch>
            <a:fillRect/>
          </a:stretch>
        </p:blipFill>
        <p:spPr>
          <a:xfrm>
            <a:off x="1900076" y="2557103"/>
            <a:ext cx="5691173" cy="38703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17112864" name="Google Shape;515;g2524d66b2ad_0_464"/>
          <p:cNvSpPr txBox="1">
            <a:spLocks noGrp="1"/>
          </p:cNvSpPr>
          <p:nvPr>
            <p:ph type="body" idx="1"/>
          </p:nvPr>
        </p:nvSpPr>
        <p:spPr bwMode="auto">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defRPr/>
            </a:pPr>
            <a:r>
              <a:rPr lang="es-ES" dirty="0"/>
              <a:t> </a:t>
            </a:r>
            <a:endParaRPr dirty="0"/>
          </a:p>
        </p:txBody>
      </p:sp>
      <p:sp>
        <p:nvSpPr>
          <p:cNvPr id="900293378" name="Google Shape;516;g2524d66b2ad_0_464"/>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85717894" name="Google Shape;517;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433030145" name="Google Shape;518;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10745680" name="Google Shape;520;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19964505" name="Rectangle 2"/>
          <p:cNvSpPr>
            <a:spLocks noChangeArrowheads="1"/>
          </p:cNvSpPr>
          <p:nvPr/>
        </p:nvSpPr>
        <p:spPr bwMode="auto">
          <a:xfrm>
            <a:off x="491125" y="2049000"/>
            <a:ext cx="6588663" cy="538609"/>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a:lnSpc>
                <a:spcPct val="100000"/>
              </a:lnSpc>
              <a:spcBef>
                <a:spcPts val="0"/>
              </a:spcBef>
              <a:spcAft>
                <a:spcPts val="0"/>
              </a:spcAft>
              <a:buClrTx/>
              <a:buSzTx/>
              <a:buFontTx/>
              <a:buNone/>
              <a:defRPr/>
            </a:pPr>
            <a:r>
              <a:rPr lang="es-EC" sz="1100" dirty="0">
                <a:solidFill>
                  <a:srgbClr val="548DD4"/>
                </a:solidFill>
                <a:latin typeface="Calibri"/>
                <a:ea typeface="MS Mincho"/>
                <a:cs typeface="Calibri"/>
              </a:rPr>
              <a:t>MAUI </a:t>
            </a:r>
            <a:r>
              <a:rPr lang="es-EC" sz="1100" b="0" i="0" u="none" strike="noStrike" cap="none" dirty="0">
                <a:ln>
                  <a:noFill/>
                </a:ln>
                <a:solidFill>
                  <a:srgbClr val="548DD4"/>
                </a:solidFill>
                <a:latin typeface="Calibri"/>
                <a:ea typeface="MS Mincho"/>
                <a:cs typeface="Calibri"/>
              </a:rPr>
              <a:t>nos otorga la estructura MVC ya realizada ahora se deberá crear las clases en su carpeta correspondiente.</a:t>
            </a:r>
            <a:endParaRPr lang="en-US" sz="800" b="0" i="0" u="none" strike="noStrike" cap="none" dirty="0">
              <a:ln>
                <a:noFill/>
              </a:ln>
              <a:solidFill>
                <a:schemeClr val="tx1"/>
              </a:solidFill>
            </a:endParaRPr>
          </a:p>
          <a:p>
            <a:pPr marL="0" marR="0" lvl="0" indent="0" algn="l" defTabSz="914400" rtl="0">
              <a:lnSpc>
                <a:spcPct val="100000"/>
              </a:lnSpc>
              <a:spcBef>
                <a:spcPts val="0"/>
              </a:spcBef>
              <a:spcAft>
                <a:spcPts val="0"/>
              </a:spcAft>
              <a:buClrTx/>
              <a:buSzTx/>
              <a:buFontTx/>
              <a:buNone/>
              <a:defRPr/>
            </a:pPr>
            <a:endParaRPr lang="en-US" sz="1800" b="0" i="0" u="none" strike="noStrike" cap="none" dirty="0">
              <a:ln>
                <a:noFill/>
              </a:ln>
              <a:solidFill>
                <a:schemeClr val="tx1"/>
              </a:solidFill>
              <a:latin typeface="Arial"/>
            </a:endParaRPr>
          </a:p>
        </p:txBody>
      </p:sp>
      <p:sp>
        <p:nvSpPr>
          <p:cNvPr id="747056591" name="Rectangle 3"/>
          <p:cNvSpPr>
            <a:spLocks noChangeArrowheads="1"/>
          </p:cNvSpPr>
          <p:nvPr/>
        </p:nvSpPr>
        <p:spPr bwMode="auto">
          <a:xfrm>
            <a:off x="1478910" y="5093807"/>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1206634583" name="Rectangle 5"/>
          <p:cNvSpPr>
            <a:spLocks noChangeArrowheads="1"/>
          </p:cNvSpPr>
          <p:nvPr/>
        </p:nvSpPr>
        <p:spPr bwMode="auto">
          <a:xfrm>
            <a:off x="491125" y="2358349"/>
            <a:ext cx="184731" cy="492443"/>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a:lnSpc>
                <a:spcPct val="100000"/>
              </a:lnSpc>
              <a:spcBef>
                <a:spcPts val="0"/>
              </a:spcBef>
              <a:spcAft>
                <a:spcPts val="0"/>
              </a:spcAft>
              <a:buClrTx/>
              <a:buSzTx/>
              <a:buFontTx/>
              <a:buNone/>
              <a:defRPr/>
            </a:pPr>
            <a:endParaRPr lang="en-US" sz="800" b="0" i="0" u="none" strike="noStrike" cap="none" dirty="0">
              <a:ln>
                <a:noFill/>
              </a:ln>
              <a:solidFill>
                <a:schemeClr val="tx1"/>
              </a:solidFill>
            </a:endParaRPr>
          </a:p>
          <a:p>
            <a:pPr marL="0" marR="0" lvl="0" indent="0" algn="l" defTabSz="914400" rtl="0">
              <a:lnSpc>
                <a:spcPct val="100000"/>
              </a:lnSpc>
              <a:spcBef>
                <a:spcPts val="0"/>
              </a:spcBef>
              <a:spcAft>
                <a:spcPts val="0"/>
              </a:spcAft>
              <a:buClrTx/>
              <a:buSzTx/>
              <a:buFontTx/>
              <a:buNone/>
              <a:defRPr/>
            </a:pPr>
            <a:endParaRPr lang="en-US" sz="1800" b="0" i="0" u="none" strike="noStrike" cap="none" dirty="0">
              <a:ln>
                <a:noFill/>
              </a:ln>
              <a:solidFill>
                <a:schemeClr val="tx1"/>
              </a:solidFill>
              <a:latin typeface="Arial"/>
            </a:endParaRPr>
          </a:p>
        </p:txBody>
      </p:sp>
      <p:sp>
        <p:nvSpPr>
          <p:cNvPr id="809336271" name="Rectangle 6"/>
          <p:cNvSpPr>
            <a:spLocks noChangeArrowheads="1"/>
          </p:cNvSpPr>
          <p:nvPr/>
        </p:nvSpPr>
        <p:spPr bwMode="auto">
          <a:xfrm>
            <a:off x="0" y="5021263"/>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pic>
        <p:nvPicPr>
          <p:cNvPr id="3" name="Picture 2">
            <a:extLst>
              <a:ext uri="{FF2B5EF4-FFF2-40B4-BE49-F238E27FC236}">
                <a16:creationId xmlns:a16="http://schemas.microsoft.com/office/drawing/2014/main" id="{A53EE628-DF61-D1A6-B1C9-C3DA402702CC}"/>
              </a:ext>
            </a:extLst>
          </p:cNvPr>
          <p:cNvPicPr>
            <a:picLocks noChangeAspect="1"/>
          </p:cNvPicPr>
          <p:nvPr/>
        </p:nvPicPr>
        <p:blipFill>
          <a:blip r:embed="rId3"/>
          <a:stretch>
            <a:fillRect/>
          </a:stretch>
        </p:blipFill>
        <p:spPr>
          <a:xfrm>
            <a:off x="4216045" y="2397773"/>
            <a:ext cx="4172532" cy="402963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91915836" name="Google Shape;516;g2524d66b2ad_0_464"/>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640423198" name="Google Shape;517;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301775316" name="Google Shape;518;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597442750" name="Google Shape;520;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571748014" name="Rectangle 3"/>
          <p:cNvSpPr>
            <a:spLocks noChangeArrowheads="1"/>
          </p:cNvSpPr>
          <p:nvPr/>
        </p:nvSpPr>
        <p:spPr bwMode="auto">
          <a:xfrm>
            <a:off x="1478910" y="5093807"/>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476194488" name="Rectangle 6"/>
          <p:cNvSpPr>
            <a:spLocks noChangeArrowheads="1"/>
          </p:cNvSpPr>
          <p:nvPr/>
        </p:nvSpPr>
        <p:spPr bwMode="auto">
          <a:xfrm>
            <a:off x="0" y="5021263"/>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2038565723" name="Rectangle 20"/>
          <p:cNvSpPr>
            <a:spLocks noChangeArrowheads="1"/>
          </p:cNvSpPr>
          <p:nvPr/>
        </p:nvSpPr>
        <p:spPr bwMode="auto">
          <a:xfrm>
            <a:off x="1616149" y="2190639"/>
            <a:ext cx="12192000" cy="45720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a:lnSpc>
                <a:spcPct val="100000"/>
              </a:lnSpc>
              <a:spcBef>
                <a:spcPts val="0"/>
              </a:spcBef>
              <a:spcAft>
                <a:spcPts val="0"/>
              </a:spcAft>
              <a:buClrTx/>
              <a:buSzTx/>
              <a:buFontTx/>
              <a:buNone/>
              <a:defRPr/>
            </a:pPr>
            <a:r>
              <a:rPr lang="es-EC" sz="1100" b="0" i="0" u="none" strike="noStrike" cap="none" dirty="0">
                <a:ln>
                  <a:noFill/>
                </a:ln>
                <a:solidFill>
                  <a:srgbClr val="548DD4"/>
                </a:solidFill>
                <a:latin typeface="Calibri"/>
                <a:ea typeface="MS Mincho"/>
                <a:cs typeface="Calibri"/>
              </a:rPr>
              <a:t>Se codifica el modelo para manejar los datos de web </a:t>
            </a:r>
            <a:r>
              <a:rPr lang="es-EC" sz="1100" b="0" i="0" u="none" strike="noStrike" cap="none" dirty="0" err="1">
                <a:ln>
                  <a:noFill/>
                </a:ln>
                <a:solidFill>
                  <a:srgbClr val="548DD4"/>
                </a:solidFill>
                <a:latin typeface="Calibri"/>
                <a:ea typeface="MS Mincho"/>
                <a:cs typeface="Calibri"/>
              </a:rPr>
              <a:t>service</a:t>
            </a:r>
            <a:r>
              <a:rPr lang="es-EC" sz="1100" b="0" i="0" u="none" strike="noStrike" cap="none" dirty="0">
                <a:ln>
                  <a:noFill/>
                </a:ln>
                <a:solidFill>
                  <a:srgbClr val="548DD4"/>
                </a:solidFill>
                <a:latin typeface="Calibri"/>
                <a:ea typeface="MS Mincho"/>
                <a:cs typeface="Calibri"/>
              </a:rPr>
              <a:t>.</a:t>
            </a:r>
            <a:endParaRPr lang="en-US" sz="800" b="0" i="0" u="none" strike="noStrike" cap="none" dirty="0">
              <a:ln>
                <a:noFill/>
              </a:ln>
              <a:solidFill>
                <a:schemeClr val="tx1"/>
              </a:solidFill>
            </a:endParaRPr>
          </a:p>
          <a:p>
            <a:pPr marL="0" marR="0" lvl="0" indent="0" algn="l" defTabSz="914400" rtl="0">
              <a:lnSpc>
                <a:spcPct val="100000"/>
              </a:lnSpc>
              <a:spcBef>
                <a:spcPts val="0"/>
              </a:spcBef>
              <a:spcAft>
                <a:spcPts val="0"/>
              </a:spcAft>
              <a:buClrTx/>
              <a:buSzTx/>
              <a:buFontTx/>
              <a:buNone/>
              <a:defRPr/>
            </a:pPr>
            <a:endParaRPr lang="en-US" sz="1800" b="0" i="0" u="none" strike="noStrike" cap="none" dirty="0">
              <a:ln>
                <a:noFill/>
              </a:ln>
              <a:solidFill>
                <a:schemeClr val="tx1"/>
              </a:solidFill>
              <a:latin typeface="Arial"/>
            </a:endParaRPr>
          </a:p>
        </p:txBody>
      </p:sp>
      <p:sp>
        <p:nvSpPr>
          <p:cNvPr id="1511846205" name="Rectangle 21"/>
          <p:cNvSpPr>
            <a:spLocks noChangeArrowheads="1"/>
          </p:cNvSpPr>
          <p:nvPr/>
        </p:nvSpPr>
        <p:spPr bwMode="auto">
          <a:xfrm>
            <a:off x="1616149" y="6480064"/>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pic>
        <p:nvPicPr>
          <p:cNvPr id="3" name="Picture 2">
            <a:extLst>
              <a:ext uri="{FF2B5EF4-FFF2-40B4-BE49-F238E27FC236}">
                <a16:creationId xmlns:a16="http://schemas.microsoft.com/office/drawing/2014/main" id="{216D9F02-00B8-F09C-936D-D9316B07822F}"/>
              </a:ext>
            </a:extLst>
          </p:cNvPr>
          <p:cNvPicPr>
            <a:picLocks noChangeAspect="1"/>
          </p:cNvPicPr>
          <p:nvPr/>
        </p:nvPicPr>
        <p:blipFill>
          <a:blip r:embed="rId3"/>
          <a:stretch>
            <a:fillRect/>
          </a:stretch>
        </p:blipFill>
        <p:spPr>
          <a:xfrm>
            <a:off x="1229745" y="2549517"/>
            <a:ext cx="7392432" cy="374384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0690479" name="Google Shape;516;g2524d66b2ad_0_464"/>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882120040" name="Google Shape;517;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3.1.	VIDEO 2: LENGUAJES DE PROGRAMACIÓN DE .NET</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34017099" name="Google Shape;518;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432153920" name="Google Shape;520;g2524d66b2ad_0_464"/>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a:solidFill>
                  <a:srgbClr val="FFFF00"/>
                </a:solidFill>
                <a:latin typeface="Gill Sans"/>
                <a:ea typeface="Gill Sans"/>
                <a:cs typeface="Gill Sans"/>
              </a:rPr>
              <a:t>2</a:t>
            </a:r>
            <a:r>
              <a:rPr lang="es-ES" sz="1100" b="0" i="0" u="none" strike="noStrike" cap="none">
                <a:solidFill>
                  <a:srgbClr val="FFFF00"/>
                </a:solidFill>
                <a:latin typeface="Gill Sans"/>
                <a:ea typeface="Gill Sans"/>
                <a:cs typeface="Gill Sans"/>
              </a:rPr>
              <a:t>	</a:t>
            </a:r>
            <a:r>
              <a:rPr lang="es-ES" sz="1100">
                <a:solidFill>
                  <a:srgbClr val="FFFF00"/>
                </a:solidFill>
                <a:latin typeface="Gill Sans"/>
                <a:ea typeface="Gill Sans"/>
                <a:cs typeface="Gill Sans"/>
              </a:rPr>
              <a:t>DESARROLLO</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690616571" name="Rectangle 3"/>
          <p:cNvSpPr>
            <a:spLocks noChangeArrowheads="1"/>
          </p:cNvSpPr>
          <p:nvPr/>
        </p:nvSpPr>
        <p:spPr bwMode="auto">
          <a:xfrm>
            <a:off x="1478910" y="5093807"/>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791417245" name="Rectangle 6"/>
          <p:cNvSpPr>
            <a:spLocks noChangeArrowheads="1"/>
          </p:cNvSpPr>
          <p:nvPr/>
        </p:nvSpPr>
        <p:spPr bwMode="auto">
          <a:xfrm>
            <a:off x="0" y="5021263"/>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sp>
        <p:nvSpPr>
          <p:cNvPr id="1561600821" name="TextBox 3"/>
          <p:cNvSpPr txBox="1"/>
          <p:nvPr/>
        </p:nvSpPr>
        <p:spPr bwMode="auto">
          <a:xfrm>
            <a:off x="425302" y="1828326"/>
            <a:ext cx="6103088" cy="325538"/>
          </a:xfrm>
          <a:prstGeom prst="rect">
            <a:avLst/>
          </a:prstGeom>
          <a:noFill/>
        </p:spPr>
        <p:txBody>
          <a:bodyPr wrap="square">
            <a:spAutoFit/>
          </a:bodyPr>
          <a:lstStyle/>
          <a:p>
            <a:pPr marL="0" marR="0" algn="just">
              <a:lnSpc>
                <a:spcPct val="114999"/>
              </a:lnSpc>
              <a:spcBef>
                <a:spcPts val="600"/>
              </a:spcBef>
              <a:spcAft>
                <a:spcPts val="1600"/>
              </a:spcAft>
              <a:defRPr/>
            </a:pPr>
            <a:r>
              <a:rPr lang="es-EC" sz="1400" dirty="0">
                <a:solidFill>
                  <a:srgbClr val="548DD4"/>
                </a:solidFill>
                <a:latin typeface="Calibri"/>
                <a:ea typeface="MS Mincho"/>
                <a:cs typeface="Arial"/>
              </a:rPr>
              <a:t>Se codifica el </a:t>
            </a:r>
            <a:r>
              <a:rPr lang="es-EC" sz="1400" dirty="0" err="1">
                <a:solidFill>
                  <a:srgbClr val="548DD4"/>
                </a:solidFill>
                <a:latin typeface="Calibri"/>
                <a:ea typeface="MS Mincho"/>
                <a:cs typeface="Arial"/>
              </a:rPr>
              <a:t>controller</a:t>
            </a:r>
            <a:r>
              <a:rPr lang="es-EC" sz="1400" dirty="0">
                <a:solidFill>
                  <a:srgbClr val="548DD4"/>
                </a:solidFill>
                <a:latin typeface="Calibri"/>
                <a:ea typeface="MS Mincho"/>
                <a:cs typeface="Arial"/>
              </a:rPr>
              <a:t> para manejar la lógica de </a:t>
            </a:r>
            <a:r>
              <a:rPr lang="es-EC" dirty="0">
                <a:solidFill>
                  <a:srgbClr val="548DD4"/>
                </a:solidFill>
                <a:latin typeface="Calibri"/>
                <a:ea typeface="MS Mincho"/>
              </a:rPr>
              <a:t>inicio de </a:t>
            </a:r>
            <a:r>
              <a:rPr lang="es-EC" sz="1400" dirty="0">
                <a:solidFill>
                  <a:srgbClr val="548DD4"/>
                </a:solidFill>
                <a:latin typeface="Calibri"/>
                <a:ea typeface="MS Mincho"/>
                <a:cs typeface="Arial"/>
              </a:rPr>
              <a:t>sesión</a:t>
            </a:r>
            <a:endParaRPr lang="en-US" sz="1400" dirty="0">
              <a:solidFill>
                <a:srgbClr val="548DD4"/>
              </a:solidFill>
              <a:latin typeface="Calibri"/>
              <a:ea typeface="MS Mincho"/>
              <a:cs typeface="Arial"/>
            </a:endParaRPr>
          </a:p>
        </p:txBody>
      </p:sp>
      <p:pic>
        <p:nvPicPr>
          <p:cNvPr id="3" name="Picture 2">
            <a:extLst>
              <a:ext uri="{FF2B5EF4-FFF2-40B4-BE49-F238E27FC236}">
                <a16:creationId xmlns:a16="http://schemas.microsoft.com/office/drawing/2014/main" id="{F0214344-09D9-3C6C-0708-8D44412BFE89}"/>
              </a:ext>
            </a:extLst>
          </p:cNvPr>
          <p:cNvPicPr>
            <a:picLocks noChangeAspect="1"/>
          </p:cNvPicPr>
          <p:nvPr/>
        </p:nvPicPr>
        <p:blipFill>
          <a:blip r:embed="rId3"/>
          <a:stretch>
            <a:fillRect/>
          </a:stretch>
        </p:blipFill>
        <p:spPr>
          <a:xfrm>
            <a:off x="691856" y="2533877"/>
            <a:ext cx="7878274" cy="334374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8316673" name="Google Shape;525;g2524d66b2ad_0_476"/>
          <p:cNvSpPr txBox="1">
            <a:spLocks noGrp="1"/>
          </p:cNvSpPr>
          <p:nvPr>
            <p:ph type="title"/>
          </p:nvPr>
        </p:nvSpPr>
        <p:spPr bwMode="auto">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defRPr/>
            </a:pPr>
            <a:endParaRPr/>
          </a:p>
          <a:p>
            <a:pPr marL="0" lvl="0" indent="0" algn="l" rtl="0">
              <a:lnSpc>
                <a:spcPct val="100000"/>
              </a:lnSpc>
              <a:spcBef>
                <a:spcPts val="0"/>
              </a:spcBef>
              <a:spcAft>
                <a:spcPts val="0"/>
              </a:spcAft>
              <a:buClr>
                <a:schemeClr val="lt1"/>
              </a:buClr>
              <a:buSzPct val="100000"/>
              <a:buFont typeface="Gill Sans"/>
              <a:buNone/>
              <a:defRPr/>
            </a:pPr>
            <a:r>
              <a:rPr lang="es-ES"/>
              <a:t>3 EJECUCIÓN </a:t>
            </a:r>
            <a:endParaRPr/>
          </a:p>
          <a:p>
            <a:pPr marL="0" lvl="0" indent="0" algn="l" rtl="0">
              <a:lnSpc>
                <a:spcPct val="100000"/>
              </a:lnSpc>
              <a:spcBef>
                <a:spcPts val="0"/>
              </a:spcBef>
              <a:spcAft>
                <a:spcPts val="0"/>
              </a:spcAft>
              <a:buClr>
                <a:schemeClr val="lt1"/>
              </a:buClr>
              <a:buSzPct val="100000"/>
              <a:buFont typeface="Gill Sans"/>
              <a:buNone/>
              <a:defRPr/>
            </a:pPr>
            <a:endParaRPr/>
          </a:p>
        </p:txBody>
      </p:sp>
      <p:sp>
        <p:nvSpPr>
          <p:cNvPr id="1457301391" name="Google Shape;526;g2524d66b2ad_0_476"/>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17</a:t>
            </a:r>
            <a:endParaRPr sz="1400" b="0" i="0" u="none" strike="noStrike" cap="none">
              <a:solidFill>
                <a:srgbClr val="000000"/>
              </a:solidFill>
              <a:latin typeface="Arial"/>
              <a:ea typeface="Arial"/>
              <a:cs typeface="Arial"/>
            </a:endParaRPr>
          </a:p>
        </p:txBody>
      </p:sp>
      <p:sp>
        <p:nvSpPr>
          <p:cNvPr id="1758589074" name="Google Shape;527;g2524d66b2ad_0_476"/>
          <p:cNvSpPr txBox="1"/>
          <p:nvPr/>
        </p:nvSpPr>
        <p:spPr bwMode="auto">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defRPr/>
            </a:pPr>
            <a:endParaRPr sz="1100" b="0" i="0" u="none" strike="noStrike" cap="none">
              <a:solidFill>
                <a:schemeClr val="dk1"/>
              </a:solidFill>
              <a:latin typeface="Times New Roman"/>
              <a:ea typeface="Times New Roman"/>
              <a:cs typeface="Times New Roman"/>
            </a:endParaRPr>
          </a:p>
        </p:txBody>
      </p:sp>
      <p:sp>
        <p:nvSpPr>
          <p:cNvPr id="1730495450" name="Google Shape;529;g2524d66b2ad_0_47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DESARROLLO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rgbClr val="FFFF00"/>
              </a:buClr>
              <a:buSzPts val="1300"/>
              <a:buFont typeface="Arial"/>
              <a:buChar char="◼"/>
              <a:defRPr/>
            </a:pPr>
            <a:r>
              <a:rPr lang="es-ES" sz="1100" b="0" i="0" u="none" strike="noStrike" cap="none">
                <a:solidFill>
                  <a:srgbClr val="FFFF00"/>
                </a:solidFill>
                <a:latin typeface="Gill Sans"/>
                <a:ea typeface="Gill Sans"/>
                <a:cs typeface="Gill Sans"/>
              </a:rPr>
              <a:t>3.3.	VIDEO 4: .NET STANDARD BCL PCL</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390863782" name="Google Shape;530;g2524d66b2ad_0_47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2	MARCO TEÓRICO</a:t>
            </a:r>
            <a:endParaRPr sz="1300" b="0" i="0" u="none" strike="noStrike" cap="none">
              <a:solidFill>
                <a:srgbClr val="FFFF00"/>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rgbClr val="FFFF00"/>
              </a:buClr>
              <a:buSzPts val="1100"/>
              <a:buFont typeface="Gill Sans"/>
              <a:buChar char="◼"/>
              <a:defRPr/>
            </a:pPr>
            <a:r>
              <a:rPr lang="es-ES" sz="1100" b="0" i="0" u="none" strike="noStrike" cap="none">
                <a:solidFill>
                  <a:srgbClr val="FFFF00"/>
                </a:solidFill>
                <a:latin typeface="Gill Sans"/>
                <a:ea typeface="Gill Sans"/>
                <a:cs typeface="Gill Sans"/>
              </a:rPr>
              <a:t>2.4  BOOTSTRAP</a:t>
            </a:r>
            <a:endParaRPr sz="1100" b="0" i="0" u="none" strike="noStrike" cap="none">
              <a:solidFill>
                <a:srgbClr val="FFFF00"/>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624379242" name="Google Shape;533;g2524d66b2ad_0_47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a:solidFill>
                  <a:schemeClr val="lt1"/>
                </a:solidFill>
                <a:latin typeface="Gill Sans"/>
                <a:ea typeface="Gill Sans"/>
                <a:cs typeface="Gill Sans"/>
              </a:rPr>
              <a:t>2</a:t>
            </a:r>
            <a:r>
              <a:rPr lang="es-ES" sz="1100" b="0" i="0" u="none" strike="noStrike" cap="none">
                <a:solidFill>
                  <a:schemeClr val="lt1"/>
                </a:solidFill>
                <a:latin typeface="Gill Sans"/>
                <a:ea typeface="Gill Sans"/>
                <a:cs typeface="Gill Sans"/>
              </a:rPr>
              <a:t>	</a:t>
            </a:r>
            <a:r>
              <a:rPr lang="es-ES" sz="1100">
                <a:solidFill>
                  <a:schemeClr val="lt1"/>
                </a:solidFill>
                <a:latin typeface="Gill Sans"/>
                <a:ea typeface="Gill Sans"/>
                <a:cs typeface="Gill Sans"/>
              </a:rPr>
              <a:t>DESARROLLO</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3	</a:t>
            </a:r>
            <a:r>
              <a:rPr lang="es-ES" sz="1100">
                <a:solidFill>
                  <a:srgbClr val="FFFF00"/>
                </a:solidFill>
                <a:latin typeface="Gill Sans"/>
                <a:ea typeface="Gill Sans"/>
                <a:cs typeface="Gill Sans"/>
              </a:rPr>
              <a:t>EJECUCIÓN</a:t>
            </a:r>
            <a:endParaRPr sz="1100" b="0" i="0" u="none" strike="noStrike" cap="none">
              <a:solidFill>
                <a:srgbClr val="FFFF00"/>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50725636" name="Rectangle 8"/>
          <p:cNvSpPr>
            <a:spLocks noChangeArrowheads="1"/>
          </p:cNvSpPr>
          <p:nvPr/>
        </p:nvSpPr>
        <p:spPr bwMode="auto">
          <a:xfrm>
            <a:off x="581242" y="1949108"/>
            <a:ext cx="6922088" cy="538609"/>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a:lnSpc>
                <a:spcPct val="100000"/>
              </a:lnSpc>
              <a:spcBef>
                <a:spcPts val="0"/>
              </a:spcBef>
              <a:spcAft>
                <a:spcPts val="0"/>
              </a:spcAft>
              <a:buClrTx/>
              <a:buSzTx/>
              <a:buFontTx/>
              <a:buNone/>
              <a:defRPr/>
            </a:pPr>
            <a:r>
              <a:rPr lang="en-US" sz="1100" b="0" i="0" u="none" strike="noStrike" cap="none" dirty="0" err="1">
                <a:ln>
                  <a:noFill/>
                </a:ln>
                <a:solidFill>
                  <a:srgbClr val="548DD4"/>
                </a:solidFill>
                <a:latin typeface="Calibri"/>
                <a:ea typeface="MS Mincho"/>
                <a:cs typeface="Calibri"/>
              </a:rPr>
              <a:t>Ejecutamos</a:t>
            </a:r>
            <a:r>
              <a:rPr lang="en-US" sz="1100" b="0" i="0" u="none" strike="noStrike" cap="none" dirty="0">
                <a:ln>
                  <a:noFill/>
                </a:ln>
                <a:solidFill>
                  <a:srgbClr val="548DD4"/>
                </a:solidFill>
                <a:latin typeface="Calibri"/>
                <a:ea typeface="MS Mincho"/>
                <a:cs typeface="Calibri"/>
              </a:rPr>
              <a:t> la </a:t>
            </a:r>
            <a:r>
              <a:rPr lang="en-US" sz="1100" b="0" i="0" u="none" strike="noStrike" cap="none" dirty="0" err="1">
                <a:ln>
                  <a:noFill/>
                </a:ln>
                <a:solidFill>
                  <a:srgbClr val="548DD4"/>
                </a:solidFill>
                <a:latin typeface="Calibri"/>
                <a:ea typeface="MS Mincho"/>
                <a:cs typeface="Calibri"/>
              </a:rPr>
              <a:t>aplicación</a:t>
            </a:r>
            <a:r>
              <a:rPr lang="en-US" sz="1100" b="0" i="0" u="none" strike="noStrike" cap="none" dirty="0">
                <a:ln>
                  <a:noFill/>
                </a:ln>
                <a:solidFill>
                  <a:srgbClr val="548DD4"/>
                </a:solidFill>
                <a:latin typeface="Calibri"/>
                <a:ea typeface="MS Mincho"/>
                <a:cs typeface="Calibri"/>
              </a:rPr>
              <a:t> con F5, </a:t>
            </a:r>
            <a:r>
              <a:rPr lang="en-US" sz="1100" b="0" i="0" u="none" strike="noStrike" cap="none" dirty="0" err="1">
                <a:ln>
                  <a:noFill/>
                </a:ln>
                <a:solidFill>
                  <a:srgbClr val="548DD4"/>
                </a:solidFill>
                <a:latin typeface="Calibri"/>
                <a:ea typeface="MS Mincho"/>
                <a:cs typeface="Calibri"/>
              </a:rPr>
              <a:t>donde</a:t>
            </a:r>
            <a:r>
              <a:rPr lang="en-US" sz="1100" b="0" i="0" u="none" strike="noStrike" cap="none" dirty="0">
                <a:ln>
                  <a:noFill/>
                </a:ln>
                <a:solidFill>
                  <a:srgbClr val="548DD4"/>
                </a:solidFill>
                <a:latin typeface="Calibri"/>
                <a:ea typeface="MS Mincho"/>
                <a:cs typeface="Calibri"/>
              </a:rPr>
              <a:t> se </a:t>
            </a:r>
            <a:r>
              <a:rPr lang="en-US" sz="1100" b="0" i="0" u="none" strike="noStrike" cap="none" dirty="0" err="1">
                <a:ln>
                  <a:noFill/>
                </a:ln>
                <a:solidFill>
                  <a:srgbClr val="548DD4"/>
                </a:solidFill>
                <a:latin typeface="Calibri"/>
                <a:ea typeface="MS Mincho"/>
                <a:cs typeface="Calibri"/>
              </a:rPr>
              <a:t>cargarán</a:t>
            </a:r>
            <a:r>
              <a:rPr lang="en-US" sz="1100" b="0" i="0" u="none" strike="noStrike" cap="none" dirty="0">
                <a:ln>
                  <a:noFill/>
                </a:ln>
                <a:solidFill>
                  <a:srgbClr val="548DD4"/>
                </a:solidFill>
                <a:latin typeface="Calibri"/>
                <a:ea typeface="MS Mincho"/>
                <a:cs typeface="Calibri"/>
              </a:rPr>
              <a:t> </a:t>
            </a:r>
            <a:r>
              <a:rPr lang="en-US" sz="1100" b="0" i="0" u="none" strike="noStrike" cap="none" dirty="0" err="1">
                <a:ln>
                  <a:noFill/>
                </a:ln>
                <a:solidFill>
                  <a:srgbClr val="548DD4"/>
                </a:solidFill>
                <a:latin typeface="Calibri"/>
                <a:ea typeface="MS Mincho"/>
                <a:cs typeface="Calibri"/>
              </a:rPr>
              <a:t>los</a:t>
            </a:r>
            <a:r>
              <a:rPr lang="en-US" sz="1100" b="0" i="0" u="none" strike="noStrike" cap="none" dirty="0">
                <a:ln>
                  <a:noFill/>
                </a:ln>
                <a:solidFill>
                  <a:srgbClr val="548DD4"/>
                </a:solidFill>
                <a:latin typeface="Calibri"/>
                <a:ea typeface="MS Mincho"/>
                <a:cs typeface="Calibri"/>
              </a:rPr>
              <a:t> </a:t>
            </a:r>
            <a:r>
              <a:rPr lang="en-US" sz="1100" b="0" i="0" u="none" strike="noStrike" cap="none" dirty="0" err="1">
                <a:ln>
                  <a:noFill/>
                </a:ln>
                <a:solidFill>
                  <a:srgbClr val="548DD4"/>
                </a:solidFill>
                <a:latin typeface="Calibri"/>
                <a:ea typeface="MS Mincho"/>
                <a:cs typeface="Calibri"/>
              </a:rPr>
              <a:t>datos</a:t>
            </a:r>
            <a:r>
              <a:rPr lang="en-US" sz="1100" dirty="0">
                <a:solidFill>
                  <a:srgbClr val="548DD4"/>
                </a:solidFill>
                <a:latin typeface="Calibri"/>
                <a:ea typeface="MS Mincho"/>
                <a:cs typeface="Calibri"/>
              </a:rPr>
              <a:t> </a:t>
            </a:r>
            <a:r>
              <a:rPr lang="en-US" sz="1100" dirty="0" err="1">
                <a:solidFill>
                  <a:srgbClr val="548DD4"/>
                </a:solidFill>
                <a:latin typeface="Calibri"/>
                <a:ea typeface="MS Mincho"/>
                <a:cs typeface="Calibri"/>
              </a:rPr>
              <a:t>obtenidos</a:t>
            </a:r>
            <a:r>
              <a:rPr lang="en-US" sz="1100" dirty="0">
                <a:solidFill>
                  <a:srgbClr val="548DD4"/>
                </a:solidFill>
                <a:latin typeface="Calibri"/>
                <a:ea typeface="MS Mincho"/>
                <a:cs typeface="Calibri"/>
              </a:rPr>
              <a:t> de la IP con </a:t>
            </a:r>
            <a:r>
              <a:rPr lang="en-US" sz="1100" dirty="0" err="1">
                <a:solidFill>
                  <a:srgbClr val="548DD4"/>
                </a:solidFill>
                <a:latin typeface="Calibri"/>
                <a:ea typeface="MS Mincho"/>
                <a:cs typeface="Calibri"/>
              </a:rPr>
              <a:t>uri</a:t>
            </a:r>
            <a:r>
              <a:rPr lang="en-US" sz="1100" dirty="0">
                <a:solidFill>
                  <a:srgbClr val="548DD4"/>
                </a:solidFill>
                <a:latin typeface="Calibri"/>
                <a:ea typeface="MS Mincho"/>
                <a:cs typeface="Calibri"/>
              </a:rPr>
              <a:t> </a:t>
            </a:r>
            <a:r>
              <a:rPr lang="en-US" sz="1100" dirty="0" err="1">
                <a:solidFill>
                  <a:srgbClr val="548DD4"/>
                </a:solidFill>
                <a:latin typeface="Calibri"/>
                <a:ea typeface="MS Mincho"/>
                <a:cs typeface="Calibri"/>
              </a:rPr>
              <a:t>puesta</a:t>
            </a:r>
            <a:r>
              <a:rPr lang="en-US" sz="1100" dirty="0">
                <a:solidFill>
                  <a:srgbClr val="548DD4"/>
                </a:solidFill>
                <a:latin typeface="Calibri"/>
                <a:ea typeface="MS Mincho"/>
                <a:cs typeface="Calibri"/>
              </a:rPr>
              <a:t>, </a:t>
            </a:r>
            <a:r>
              <a:rPr lang="en-US" sz="1100" dirty="0" err="1">
                <a:solidFill>
                  <a:srgbClr val="548DD4"/>
                </a:solidFill>
                <a:latin typeface="Calibri"/>
                <a:ea typeface="MS Mincho"/>
                <a:cs typeface="Calibri"/>
              </a:rPr>
              <a:t>que</a:t>
            </a:r>
            <a:r>
              <a:rPr lang="en-US" sz="1100" dirty="0">
                <a:solidFill>
                  <a:srgbClr val="548DD4"/>
                </a:solidFill>
                <a:latin typeface="Calibri"/>
                <a:ea typeface="MS Mincho"/>
                <a:cs typeface="Calibri"/>
              </a:rPr>
              <a:t> </a:t>
            </a:r>
            <a:r>
              <a:rPr lang="en-US" sz="1100" dirty="0" err="1">
                <a:solidFill>
                  <a:srgbClr val="548DD4"/>
                </a:solidFill>
                <a:latin typeface="Calibri"/>
                <a:ea typeface="MS Mincho"/>
                <a:cs typeface="Calibri"/>
              </a:rPr>
              <a:t>maneja</a:t>
            </a:r>
            <a:r>
              <a:rPr lang="en-US" sz="1100" dirty="0">
                <a:solidFill>
                  <a:srgbClr val="548DD4"/>
                </a:solidFill>
                <a:latin typeface="Calibri"/>
                <a:ea typeface="MS Mincho"/>
                <a:cs typeface="Calibri"/>
              </a:rPr>
              <a:t> </a:t>
            </a:r>
            <a:r>
              <a:rPr lang="en-US" sz="1100" dirty="0" err="1">
                <a:solidFill>
                  <a:srgbClr val="548DD4"/>
                </a:solidFill>
                <a:latin typeface="Calibri"/>
                <a:ea typeface="MS Mincho"/>
                <a:cs typeface="Calibri"/>
              </a:rPr>
              <a:t>el</a:t>
            </a:r>
            <a:r>
              <a:rPr lang="en-US" sz="1100" dirty="0">
                <a:solidFill>
                  <a:srgbClr val="548DD4"/>
                </a:solidFill>
                <a:latin typeface="Calibri"/>
                <a:ea typeface="MS Mincho"/>
                <a:cs typeface="Calibri"/>
              </a:rPr>
              <a:t> </a:t>
            </a:r>
            <a:r>
              <a:rPr lang="en-US" sz="1100" dirty="0" err="1">
                <a:solidFill>
                  <a:srgbClr val="548DD4"/>
                </a:solidFill>
                <a:latin typeface="Calibri"/>
                <a:ea typeface="MS Mincho"/>
                <a:cs typeface="Calibri"/>
              </a:rPr>
              <a:t>servidor</a:t>
            </a:r>
            <a:r>
              <a:rPr lang="en-US" sz="1100" dirty="0">
                <a:solidFill>
                  <a:srgbClr val="548DD4"/>
                </a:solidFill>
                <a:latin typeface="Calibri"/>
                <a:ea typeface="MS Mincho"/>
                <a:cs typeface="Calibri"/>
              </a:rPr>
              <a:t>.</a:t>
            </a:r>
            <a:endParaRPr lang="en-US" sz="800" b="0" i="0" u="none" strike="noStrike" cap="none" dirty="0">
              <a:ln>
                <a:noFill/>
              </a:ln>
              <a:solidFill>
                <a:schemeClr val="tx1"/>
              </a:solidFill>
            </a:endParaRPr>
          </a:p>
          <a:p>
            <a:pPr marL="0" marR="0" lvl="0" indent="0" algn="l" defTabSz="914400" rtl="0">
              <a:lnSpc>
                <a:spcPct val="100000"/>
              </a:lnSpc>
              <a:spcBef>
                <a:spcPts val="0"/>
              </a:spcBef>
              <a:spcAft>
                <a:spcPts val="0"/>
              </a:spcAft>
              <a:buClrTx/>
              <a:buSzTx/>
              <a:buFontTx/>
              <a:buNone/>
              <a:defRPr/>
            </a:pPr>
            <a:endParaRPr lang="en-US" sz="1800" b="0" i="0" u="none" strike="noStrike" cap="none" dirty="0">
              <a:ln>
                <a:noFill/>
              </a:ln>
              <a:solidFill>
                <a:schemeClr val="tx1"/>
              </a:solidFill>
              <a:latin typeface="Arial"/>
            </a:endParaRPr>
          </a:p>
        </p:txBody>
      </p:sp>
      <p:sp>
        <p:nvSpPr>
          <p:cNvPr id="221704786" name="Rectangle 9"/>
          <p:cNvSpPr>
            <a:spLocks noChangeArrowheads="1"/>
          </p:cNvSpPr>
          <p:nvPr/>
        </p:nvSpPr>
        <p:spPr bwMode="auto">
          <a:xfrm>
            <a:off x="1031359" y="4572668"/>
            <a:ext cx="12192000" cy="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a:defRPr/>
            </a:pPr>
            <a:endParaRPr lang="en-US"/>
          </a:p>
        </p:txBody>
      </p:sp>
      <p:pic>
        <p:nvPicPr>
          <p:cNvPr id="4" name="Picture 3">
            <a:extLst>
              <a:ext uri="{FF2B5EF4-FFF2-40B4-BE49-F238E27FC236}">
                <a16:creationId xmlns:a16="http://schemas.microsoft.com/office/drawing/2014/main" id="{BEF070DD-40B3-49FA-E59A-49BB6DB0FE7A}"/>
              </a:ext>
            </a:extLst>
          </p:cNvPr>
          <p:cNvPicPr>
            <a:picLocks noChangeAspect="1"/>
          </p:cNvPicPr>
          <p:nvPr/>
        </p:nvPicPr>
        <p:blipFill>
          <a:blip r:embed="rId3"/>
          <a:stretch>
            <a:fillRect/>
          </a:stretch>
        </p:blipFill>
        <p:spPr>
          <a:xfrm>
            <a:off x="1986868" y="2254942"/>
            <a:ext cx="2026263" cy="4572668"/>
          </a:xfrm>
          <a:prstGeom prst="rect">
            <a:avLst/>
          </a:prstGeom>
        </p:spPr>
      </p:pic>
      <p:pic>
        <p:nvPicPr>
          <p:cNvPr id="6" name="Picture 5">
            <a:extLst>
              <a:ext uri="{FF2B5EF4-FFF2-40B4-BE49-F238E27FC236}">
                <a16:creationId xmlns:a16="http://schemas.microsoft.com/office/drawing/2014/main" id="{9A889757-5726-23D7-DD75-7BC54E5F40C3}"/>
              </a:ext>
            </a:extLst>
          </p:cNvPr>
          <p:cNvPicPr>
            <a:picLocks noChangeAspect="1"/>
          </p:cNvPicPr>
          <p:nvPr/>
        </p:nvPicPr>
        <p:blipFill>
          <a:blip r:embed="rId4"/>
          <a:stretch>
            <a:fillRect/>
          </a:stretch>
        </p:blipFill>
        <p:spPr>
          <a:xfrm>
            <a:off x="4848743" y="2254942"/>
            <a:ext cx="2664761" cy="457266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91843940" name="Google Shape;551;p35"/>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35</a:t>
            </a:r>
            <a:endParaRPr sz="1400" b="0" i="0" u="none" strike="noStrike" cap="none">
              <a:solidFill>
                <a:srgbClr val="000000"/>
              </a:solidFill>
              <a:latin typeface="Arial"/>
              <a:ea typeface="Arial"/>
              <a:cs typeface="Arial"/>
            </a:endParaRPr>
          </a:p>
        </p:txBody>
      </p:sp>
      <p:sp>
        <p:nvSpPr>
          <p:cNvPr id="2108889158" name="Google Shape;552;p3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4	CONCLUSIONES</a:t>
            </a:r>
            <a:endParaRPr sz="1300" b="0" i="0" u="none" strike="noStrike" cap="none">
              <a:solidFill>
                <a:srgbClr val="FFFF00"/>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2037080140" name="Google Shape;553;p3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BOOTSTRAP</a:t>
            </a:r>
            <a:endParaRPr sz="1100" b="0" i="0" u="none" strike="noStrike" cap="none">
              <a:solidFill>
                <a:schemeClr val="lt1"/>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4	CONCLUSIONES</a:t>
            </a:r>
            <a:endParaRPr sz="1300" b="0" i="0" u="none" strike="noStrike" cap="none">
              <a:solidFill>
                <a:srgbClr val="FFFF00"/>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029860225" name="Google Shape;554;p35"/>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a:solidFill>
                  <a:schemeClr val="lt1"/>
                </a:solidFill>
                <a:latin typeface="Gill Sans"/>
                <a:ea typeface="Gill Sans"/>
                <a:cs typeface="Gill Sans"/>
              </a:rPr>
              <a:t>2</a:t>
            </a:r>
            <a:r>
              <a:rPr lang="es-ES" sz="1100" b="0" i="0" u="none" strike="noStrike" cap="none">
                <a:solidFill>
                  <a:schemeClr val="lt1"/>
                </a:solidFill>
                <a:latin typeface="Gill Sans"/>
                <a:ea typeface="Gill Sans"/>
                <a:cs typeface="Gill Sans"/>
              </a:rPr>
              <a:t>	</a:t>
            </a:r>
            <a:r>
              <a:rPr lang="es-ES" sz="1100">
                <a:solidFill>
                  <a:schemeClr val="lt1"/>
                </a:solidFill>
                <a:latin typeface="Gill Sans"/>
                <a:ea typeface="Gill Sans"/>
                <a:cs typeface="Gill Sans"/>
              </a:rPr>
              <a:t>DESARROLLO</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4	CONCLUSIONES</a:t>
            </a:r>
            <a:endParaRPr sz="1300" b="0" i="0" u="none" strike="noStrike" cap="none">
              <a:solidFill>
                <a:srgbClr val="FFFF00"/>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395155318" name="CuadroTexto 6"/>
          <p:cNvSpPr txBox="1"/>
          <p:nvPr/>
        </p:nvSpPr>
        <p:spPr bwMode="auto">
          <a:xfrm>
            <a:off x="1033462" y="1983217"/>
            <a:ext cx="7386637" cy="4539704"/>
          </a:xfrm>
          <a:prstGeom prst="rect">
            <a:avLst/>
          </a:prstGeom>
          <a:noFill/>
        </p:spPr>
        <p:txBody>
          <a:bodyPr wrap="square">
            <a:spAutoFit/>
          </a:bodyPr>
          <a:lstStyle/>
          <a:p>
            <a:pPr algn="just">
              <a:lnSpc>
                <a:spcPct val="114999"/>
              </a:lnSpc>
              <a:spcBef>
                <a:spcPts val="200"/>
              </a:spcBef>
              <a:defRPr/>
            </a:pPr>
            <a:r>
              <a:rPr lang="es-EC" sz="2000" b="1" dirty="0">
                <a:solidFill>
                  <a:srgbClr val="243F60"/>
                </a:solidFill>
                <a:latin typeface="Calibri"/>
                <a:ea typeface="Times New Roman"/>
                <a:cs typeface="Times New Roman"/>
              </a:rPr>
              <a:t>Conclusiones </a:t>
            </a:r>
            <a:endParaRPr lang="es-ES" sz="2000" b="1" dirty="0">
              <a:solidFill>
                <a:srgbClr val="243F60"/>
              </a:solidFill>
              <a:latin typeface="Calibri"/>
              <a:ea typeface="Times New Roman"/>
              <a:cs typeface="Times New Roman"/>
            </a:endParaRPr>
          </a:p>
          <a:p>
            <a:pPr marL="342900" indent="-342900">
              <a:buFont typeface="+mj-lt"/>
              <a:buAutoNum type="arabicPeriod"/>
              <a:defRPr/>
            </a:pPr>
            <a:r>
              <a:rPr lang="es-419" dirty="0"/>
              <a:t>La centralización de la lógica de negocio (conversiones de unidades y validación de credenciales) en un servicio WCF permitió que múltiples plataformas (cliente Web y cliente Móvil) consumieran exactamente las mismas operaciones. Esto demuestra la eficacia de la reutilización de código y la solidez de los estándares SOAP en sistemas empresariales.</a:t>
            </a:r>
          </a:p>
          <a:p>
            <a:pPr marL="342900" indent="-342900">
              <a:buFont typeface="+mj-lt"/>
              <a:buAutoNum type="arabicPeriod"/>
              <a:defRPr/>
            </a:pPr>
            <a:r>
              <a:rPr lang="es-419" dirty="0"/>
              <a:t>El uso del </a:t>
            </a:r>
            <a:r>
              <a:rPr lang="es-419" dirty="0" err="1"/>
              <a:t>framework</a:t>
            </a:r>
            <a:r>
              <a:rPr lang="es-419" dirty="0"/>
              <a:t> .NET MAUI facilitó la creación de un cliente móvil para Android capaz de integrarse fluidamente con servicios </a:t>
            </a:r>
            <a:r>
              <a:rPr lang="es-419" dirty="0" err="1"/>
              <a:t>backend</a:t>
            </a:r>
            <a:r>
              <a:rPr lang="es-419" dirty="0"/>
              <a:t> tradicionales. La generación de </a:t>
            </a:r>
            <a:r>
              <a:rPr lang="es-419" dirty="0" err="1"/>
              <a:t>proxies</a:t>
            </a:r>
            <a:r>
              <a:rPr lang="es-419" dirty="0"/>
              <a:t> (</a:t>
            </a:r>
            <a:r>
              <a:rPr lang="es-419" dirty="0" err="1"/>
              <a:t>ServicioMonsterClient</a:t>
            </a:r>
            <a:r>
              <a:rPr lang="es-419" dirty="0"/>
              <a:t>) demostró ser un mecanismo eficiente para mapear y consumir métodos remotos desde el dispositivo móvil.</a:t>
            </a:r>
          </a:p>
          <a:p>
            <a:pPr marL="342900" indent="-342900">
              <a:buFont typeface="+mj-lt"/>
              <a:buAutoNum type="arabicPeriod"/>
              <a:defRPr/>
            </a:pPr>
            <a:r>
              <a:rPr lang="es-419" dirty="0"/>
              <a:t>El despliegue en un celular físico evidenció la importancia crítica de la configuración de red en la arquitectura de software. El manejo correcto de </a:t>
            </a:r>
            <a:r>
              <a:rPr lang="es-419" dirty="0" err="1"/>
              <a:t>IPs</a:t>
            </a:r>
            <a:r>
              <a:rPr lang="es-419" dirty="0"/>
              <a:t> locales, la apertura de puertos en el Firewall (IIS) y la concesión de permisos de tráfico HTTP (como </a:t>
            </a:r>
            <a:r>
              <a:rPr lang="es-419" dirty="0" err="1"/>
              <a:t>UsesCleartextTraffic</a:t>
            </a:r>
            <a:r>
              <a:rPr lang="es-419" dirty="0"/>
              <a:t> en Android) son pasos fundamentales para la interoperabilidad entre el servidor y los clientes móviles.</a:t>
            </a:r>
          </a:p>
          <a:p>
            <a:pPr marL="342900" indent="-342900">
              <a:buFont typeface="+mj-lt"/>
              <a:buAutoNum type="arabicPeriod"/>
              <a:defRPr/>
            </a:pPr>
            <a:r>
              <a:rPr lang="es-419" dirty="0"/>
              <a:t>La aplicación estricta de patrones de programación asíncrona (</a:t>
            </a:r>
            <a:r>
              <a:rPr lang="es-419" dirty="0" err="1"/>
              <a:t>async</a:t>
            </a:r>
            <a:r>
              <a:rPr lang="es-419" dirty="0"/>
              <a:t>/</a:t>
            </a:r>
            <a:r>
              <a:rPr lang="es-419" dirty="0" err="1"/>
              <a:t>await</a:t>
            </a:r>
            <a:r>
              <a:rPr lang="es-419" dirty="0"/>
              <a:t>) al invocar los métodos del servidor garantizó que la interfaz de usuario en el entorno móvil no se congelara durante el procesamiento. Esto es vital para mantener una experiencia de usuario responsiva frente a la latencia de red.</a:t>
            </a:r>
          </a:p>
          <a:p>
            <a:pPr marL="342900" indent="-342900">
              <a:buFont typeface="+mj-lt"/>
              <a:buAutoNum type="arabicPeriod"/>
              <a:defRPr/>
            </a:pP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59386019" name="Google Shape;561;p36"/>
          <p:cNvSpPr txBox="1"/>
          <p:nvPr/>
        </p:nvSpPr>
        <p:spPr bwMode="auto">
          <a:xfrm>
            <a:off x="11704320" y="6427410"/>
            <a:ext cx="467399"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36</a:t>
            </a:r>
            <a:endParaRPr sz="1400" b="0" i="0" u="none" strike="noStrike" cap="none">
              <a:solidFill>
                <a:srgbClr val="000000"/>
              </a:solidFill>
              <a:latin typeface="Arial"/>
              <a:ea typeface="Arial"/>
              <a:cs typeface="Arial"/>
            </a:endParaRPr>
          </a:p>
        </p:txBody>
      </p:sp>
      <p:sp>
        <p:nvSpPr>
          <p:cNvPr id="1853665776" name="Google Shape;562;p3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5	RECOMENDACIONES</a:t>
            </a:r>
            <a:endParaRPr sz="1300" b="0" i="0" u="none" strike="noStrike" cap="none">
              <a:solidFill>
                <a:srgbClr val="FFFF00"/>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952579489" name="Google Shape;563;p3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BOOTSTRAP</a:t>
            </a:r>
            <a:endParaRPr sz="1100" b="0" i="0" u="none" strike="noStrike" cap="none">
              <a:solidFill>
                <a:schemeClr val="lt1"/>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5	RECOMENDACIONES</a:t>
            </a:r>
            <a:endParaRPr sz="1300" b="0" i="0" u="none" strike="noStrike" cap="none">
              <a:solidFill>
                <a:srgbClr val="FFFF00"/>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476360529" name="Google Shape;564;p36"/>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a:solidFill>
                  <a:schemeClr val="lt1"/>
                </a:solidFill>
                <a:latin typeface="Gill Sans"/>
                <a:ea typeface="Gill Sans"/>
                <a:cs typeface="Gill Sans"/>
              </a:rPr>
              <a:t>2</a:t>
            </a:r>
            <a:r>
              <a:rPr lang="es-ES" sz="1100" b="0" i="0" u="none" strike="noStrike" cap="none">
                <a:solidFill>
                  <a:schemeClr val="lt1"/>
                </a:solidFill>
                <a:latin typeface="Gill Sans"/>
                <a:ea typeface="Gill Sans"/>
                <a:cs typeface="Gill Sans"/>
              </a:rPr>
              <a:t>	</a:t>
            </a:r>
            <a:r>
              <a:rPr lang="es-ES" sz="1100">
                <a:solidFill>
                  <a:schemeClr val="lt1"/>
                </a:solidFill>
                <a:latin typeface="Gill Sans"/>
                <a:ea typeface="Gill Sans"/>
                <a:cs typeface="Gill Sans"/>
              </a:rPr>
              <a:t>DESARROLLO</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5	RECOMENDACIONES</a:t>
            </a:r>
            <a:endParaRPr sz="1300" b="0" i="0" u="none" strike="noStrike" cap="none">
              <a:solidFill>
                <a:srgbClr val="FFFF00"/>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719662019" name="CuadroTexto 7"/>
          <p:cNvSpPr txBox="1"/>
          <p:nvPr/>
        </p:nvSpPr>
        <p:spPr bwMode="auto">
          <a:xfrm>
            <a:off x="582974" y="2071706"/>
            <a:ext cx="7386637" cy="875881"/>
          </a:xfrm>
          <a:prstGeom prst="rect">
            <a:avLst/>
          </a:prstGeom>
          <a:noFill/>
        </p:spPr>
        <p:txBody>
          <a:bodyPr wrap="square">
            <a:spAutoFit/>
          </a:bodyPr>
          <a:lstStyle/>
          <a:p>
            <a:pPr algn="just">
              <a:lnSpc>
                <a:spcPct val="114999"/>
              </a:lnSpc>
              <a:spcBef>
                <a:spcPts val="200"/>
              </a:spcBef>
              <a:defRPr/>
            </a:pPr>
            <a:r>
              <a:rPr lang="es-EC" sz="2400" b="1">
                <a:solidFill>
                  <a:srgbClr val="243F60"/>
                </a:solidFill>
                <a:latin typeface="Calibri"/>
                <a:ea typeface="Times New Roman"/>
                <a:cs typeface="Times New Roman"/>
              </a:rPr>
              <a:t>Recomendaciones</a:t>
            </a:r>
            <a:endParaRPr/>
          </a:p>
          <a:p>
            <a:pPr algn="just">
              <a:lnSpc>
                <a:spcPct val="114999"/>
              </a:lnSpc>
              <a:spcBef>
                <a:spcPts val="200"/>
              </a:spcBef>
              <a:defRPr/>
            </a:pPr>
            <a:endParaRPr lang="es-ES" sz="2000" b="1">
              <a:solidFill>
                <a:srgbClr val="243F60"/>
              </a:solidFill>
              <a:latin typeface="Calibri"/>
              <a:ea typeface="Times New Roman"/>
              <a:cs typeface="Times New Roman"/>
            </a:endParaRPr>
          </a:p>
        </p:txBody>
      </p:sp>
      <p:sp>
        <p:nvSpPr>
          <p:cNvPr id="1832832338" name="Rectangle 7"/>
          <p:cNvSpPr>
            <a:spLocks noChangeArrowheads="1"/>
          </p:cNvSpPr>
          <p:nvPr/>
        </p:nvSpPr>
        <p:spPr bwMode="auto">
          <a:xfrm>
            <a:off x="582974" y="2475630"/>
            <a:ext cx="8534393" cy="369331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342900" lvl="0" indent="-342900">
              <a:buClrTx/>
              <a:buAutoNum type="arabicPeriod"/>
              <a:defRPr/>
            </a:pPr>
            <a:r>
              <a:rPr lang="es-419" sz="1800" dirty="0"/>
              <a:t>Se recomienda establecer como política de desarrollo alojar los proyectos de Visual Studio en directorios cercanos a la raíz del disco. Como se evidenció con el límite de 260 caracteres de Windows, evitar nombres de carpetas excesivamente largos o anidaciones profundas previene la corrupción de paquetes </a:t>
            </a:r>
            <a:r>
              <a:rPr lang="es-419" sz="1800" dirty="0" err="1"/>
              <a:t>NuGet</a:t>
            </a:r>
            <a:r>
              <a:rPr lang="es-419" sz="1800" dirty="0"/>
              <a:t> y errores críticos durante la compilación de los clientes Web y Móvil.</a:t>
            </a:r>
          </a:p>
          <a:p>
            <a:pPr marL="342900" lvl="0" indent="-342900">
              <a:buClrTx/>
              <a:buAutoNum type="arabicPeriod"/>
              <a:defRPr/>
            </a:pPr>
            <a:r>
              <a:rPr lang="es-419" sz="1800" dirty="0"/>
              <a:t>Aunque el uso de WCF (SOAP) cumplió exitosamente con los requisitos de centralización e interoperabilidad actuales, se recomienda evaluar para futuros proyectos la migración hacia servicios basados en REST (como ASP.NET Core Web API). REST utiliza JSON en lugar del pesado XML de SOAP, lo que reduce el consumo de datos en dispositivos móviles, simplifica la configuración de red y ofrece una integración más nativa y ligera con </a:t>
            </a:r>
            <a:r>
              <a:rPr lang="es-419" sz="1800" dirty="0" err="1"/>
              <a:t>frameworks</a:t>
            </a:r>
            <a:r>
              <a:rPr lang="es-419" sz="1800" dirty="0"/>
              <a:t> modernos como .NET MAUI y aplicaciones Web.</a:t>
            </a:r>
            <a:endParaRPr lang="es-EC" sz="1800" b="0" i="0" u="none" strike="noStrike" cap="none" dirty="0">
              <a:ln>
                <a:noFill/>
              </a:ln>
              <a:solidFill>
                <a:schemeClr val="tx1"/>
              </a:solidFill>
              <a:latin typeface="Aria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2679738" name="Google Shape;569;p37"/>
          <p:cNvSpPr txBox="1">
            <a:spLocks noGrp="1"/>
          </p:cNvSpPr>
          <p:nvPr>
            <p:ph type="title"/>
          </p:nvPr>
        </p:nvSpPr>
        <p:spPr bwMode="auto">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defRPr/>
            </a:pPr>
            <a:r>
              <a:rPr lang="es-ES"/>
              <a:t>6	BIBLIOGRAFÍA</a:t>
            </a:r>
            <a:endParaRPr/>
          </a:p>
        </p:txBody>
      </p:sp>
      <p:sp>
        <p:nvSpPr>
          <p:cNvPr id="984423714" name="Google Shape;570;p37"/>
          <p:cNvSpPr txBox="1">
            <a:spLocks noGrp="1"/>
          </p:cNvSpPr>
          <p:nvPr>
            <p:ph type="body" idx="1"/>
          </p:nvPr>
        </p:nvSpPr>
        <p:spPr bwMode="auto">
          <a:xfrm>
            <a:off x="581200" y="2180500"/>
            <a:ext cx="8176800" cy="4246800"/>
          </a:xfrm>
          <a:prstGeom prst="rect">
            <a:avLst/>
          </a:prstGeom>
          <a:noFill/>
          <a:ln>
            <a:noFill/>
          </a:ln>
        </p:spPr>
        <p:txBody>
          <a:bodyPr spcFirstLastPara="1" wrap="square" lIns="91425" tIns="45700" rIns="91425" bIns="45700" anchor="ctr" anchorCtr="0">
            <a:normAutofit lnSpcReduction="10000"/>
          </a:bodyPr>
          <a:lstStyle/>
          <a:p>
            <a:pPr marL="520700" marR="50800" lvl="0" indent="-330200" algn="just" rtl="0">
              <a:lnSpc>
                <a:spcPct val="150000"/>
              </a:lnSpc>
              <a:spcBef>
                <a:spcPts val="0"/>
              </a:spcBef>
              <a:spcAft>
                <a:spcPts val="0"/>
              </a:spcAft>
              <a:buClr>
                <a:schemeClr val="dk1"/>
              </a:buClr>
              <a:buSzPct val="68750"/>
              <a:buFont typeface="Arial"/>
              <a:buNone/>
              <a:defRPr/>
            </a:pPr>
            <a:r>
              <a:rPr lang="es-ES" sz="1600">
                <a:solidFill>
                  <a:srgbClr val="000000"/>
                </a:solidFill>
              </a:rPr>
              <a:t>Crear una API SOAP Java JAX-WS. (2020, April 23). Tutoriales de programación; Rosa. https://rosamarfil.es/tutoriales/programacion/crear-api-soap-java-jax-ws/  </a:t>
            </a:r>
            <a:endParaRPr sz="1600">
              <a:solidFill>
                <a:srgbClr val="000000"/>
              </a:solidFill>
            </a:endParaRPr>
          </a:p>
          <a:p>
            <a:pPr marL="520700" marR="50800" lvl="0" indent="-330200" algn="just" rtl="0">
              <a:lnSpc>
                <a:spcPct val="150000"/>
              </a:lnSpc>
              <a:spcBef>
                <a:spcPts val="0"/>
              </a:spcBef>
              <a:spcAft>
                <a:spcPts val="0"/>
              </a:spcAft>
              <a:buClr>
                <a:schemeClr val="dk1"/>
              </a:buClr>
              <a:buSzPct val="68750"/>
              <a:buFont typeface="Arial"/>
              <a:buNone/>
              <a:defRPr/>
            </a:pPr>
            <a:endParaRPr sz="1600">
              <a:solidFill>
                <a:srgbClr val="000000"/>
              </a:solidFill>
            </a:endParaRPr>
          </a:p>
          <a:p>
            <a:pPr marL="520700" marR="50800" lvl="0" indent="-330200" algn="just" rtl="0">
              <a:lnSpc>
                <a:spcPct val="150000"/>
              </a:lnSpc>
              <a:spcBef>
                <a:spcPts val="0"/>
              </a:spcBef>
              <a:spcAft>
                <a:spcPts val="0"/>
              </a:spcAft>
              <a:buClr>
                <a:schemeClr val="dk1"/>
              </a:buClr>
              <a:buSzPct val="68750"/>
              <a:buFont typeface="Arial"/>
              <a:buNone/>
              <a:defRPr/>
            </a:pPr>
            <a:r>
              <a:rPr lang="es-ES" sz="1600">
                <a:solidFill>
                  <a:srgbClr val="000000"/>
                </a:solidFill>
              </a:rPr>
              <a:t>Muriy, W. (2017, March 24). JAX-WS SOAP web services. Genuitec; Genuitec, LLC. https://www.genuitec.com/docs/web-services/jax-ws-soap-web-services/  </a:t>
            </a:r>
            <a:endParaRPr sz="1600">
              <a:solidFill>
                <a:srgbClr val="000000"/>
              </a:solidFill>
            </a:endParaRPr>
          </a:p>
          <a:p>
            <a:pPr marL="520700" marR="50800" lvl="0" indent="-330200" algn="just" rtl="0">
              <a:lnSpc>
                <a:spcPct val="150000"/>
              </a:lnSpc>
              <a:spcBef>
                <a:spcPts val="0"/>
              </a:spcBef>
              <a:spcAft>
                <a:spcPts val="0"/>
              </a:spcAft>
              <a:buClr>
                <a:schemeClr val="dk1"/>
              </a:buClr>
              <a:buSzPct val="68750"/>
              <a:buFont typeface="Arial"/>
              <a:buNone/>
              <a:defRPr/>
            </a:pPr>
            <a:endParaRPr sz="1600">
              <a:solidFill>
                <a:srgbClr val="000000"/>
              </a:solidFill>
            </a:endParaRPr>
          </a:p>
          <a:p>
            <a:pPr marL="520700" marR="50800" lvl="0" indent="-330200" algn="just" rtl="0">
              <a:lnSpc>
                <a:spcPct val="150000"/>
              </a:lnSpc>
              <a:spcBef>
                <a:spcPts val="0"/>
              </a:spcBef>
              <a:spcAft>
                <a:spcPts val="0"/>
              </a:spcAft>
              <a:buClr>
                <a:schemeClr val="dk1"/>
              </a:buClr>
              <a:buSzPct val="68750"/>
              <a:buFont typeface="Arial"/>
              <a:buNone/>
              <a:defRPr/>
            </a:pPr>
            <a:r>
              <a:rPr lang="es-ES" sz="1600">
                <a:solidFill>
                  <a:srgbClr val="000000"/>
                </a:solidFill>
              </a:rPr>
              <a:t>Network. (n.d.). Web Service Soap con Java EE. Com.Py. Retrieved June 5, 2023, from https://www.programacion.com.py/web/java-web/web-service-soap-con-java-ee  </a:t>
            </a:r>
            <a:endParaRPr sz="1600">
              <a:solidFill>
                <a:srgbClr val="000000"/>
              </a:solidFill>
            </a:endParaRPr>
          </a:p>
          <a:p>
            <a:pPr marL="520700" marR="50800" lvl="0" indent="-330200" algn="just" rtl="0">
              <a:lnSpc>
                <a:spcPct val="150000"/>
              </a:lnSpc>
              <a:spcBef>
                <a:spcPts val="0"/>
              </a:spcBef>
              <a:spcAft>
                <a:spcPts val="0"/>
              </a:spcAft>
              <a:buClr>
                <a:schemeClr val="dk1"/>
              </a:buClr>
              <a:buSzPct val="68750"/>
              <a:buFont typeface="Arial"/>
              <a:buNone/>
              <a:defRPr/>
            </a:pPr>
            <a:endParaRPr sz="1600">
              <a:solidFill>
                <a:srgbClr val="000000"/>
              </a:solidFill>
            </a:endParaRPr>
          </a:p>
          <a:p>
            <a:pPr marL="520700" marR="50800" lvl="0" indent="-330200" algn="just" rtl="0">
              <a:lnSpc>
                <a:spcPct val="150000"/>
              </a:lnSpc>
              <a:spcBef>
                <a:spcPts val="0"/>
              </a:spcBef>
              <a:spcAft>
                <a:spcPts val="0"/>
              </a:spcAft>
              <a:buClr>
                <a:schemeClr val="dk1"/>
              </a:buClr>
              <a:buSzPct val="68750"/>
              <a:buFont typeface="Arial"/>
              <a:buNone/>
              <a:defRPr/>
            </a:pPr>
            <a:r>
              <a:rPr lang="es-ES" sz="1600">
                <a:solidFill>
                  <a:srgbClr val="000000"/>
                </a:solidFill>
              </a:rPr>
              <a:t>Web Services con Java (JAX-WS). (2016, December 19). Oscar Blancarte - Software Architecture. https://www.oscarblancarteblog.com/2016/12/19/web-services-con-java-jax-ws/  </a:t>
            </a:r>
            <a:endParaRPr sz="1600">
              <a:solidFill>
                <a:srgbClr val="000000"/>
              </a:solidFill>
            </a:endParaRPr>
          </a:p>
          <a:p>
            <a:pPr marL="520700" marR="50800" lvl="0" indent="-330200" algn="just" rtl="0">
              <a:lnSpc>
                <a:spcPct val="150000"/>
              </a:lnSpc>
              <a:spcBef>
                <a:spcPts val="0"/>
              </a:spcBef>
              <a:spcAft>
                <a:spcPts val="0"/>
              </a:spcAft>
              <a:buClr>
                <a:schemeClr val="dk1"/>
              </a:buClr>
              <a:buSzPct val="68750"/>
              <a:buFont typeface="Arial"/>
              <a:buNone/>
              <a:defRPr/>
            </a:pPr>
            <a:endParaRPr sz="1600">
              <a:solidFill>
                <a:srgbClr val="000000"/>
              </a:solidFill>
            </a:endParaRPr>
          </a:p>
          <a:p>
            <a:pPr marL="520700" marR="50800" lvl="0" indent="-330200" algn="just" rtl="0">
              <a:lnSpc>
                <a:spcPct val="150000"/>
              </a:lnSpc>
              <a:spcBef>
                <a:spcPts val="0"/>
              </a:spcBef>
              <a:spcAft>
                <a:spcPts val="0"/>
              </a:spcAft>
              <a:buClr>
                <a:schemeClr val="dk1"/>
              </a:buClr>
              <a:buSzPct val="100000"/>
              <a:buFont typeface="Arial"/>
              <a:buNone/>
              <a:defRPr/>
            </a:pPr>
            <a:endParaRPr sz="1100">
              <a:solidFill>
                <a:srgbClr val="000000"/>
              </a:solidFill>
            </a:endParaRPr>
          </a:p>
        </p:txBody>
      </p:sp>
      <p:sp>
        <p:nvSpPr>
          <p:cNvPr id="1192556839" name="Google Shape;571;p37"/>
          <p:cNvSpPr txBox="1"/>
          <p:nvPr/>
        </p:nvSpPr>
        <p:spPr bwMode="auto">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defRPr/>
            </a:pPr>
            <a:r>
              <a:rPr lang="es-ES" sz="2000" b="0" i="0" u="none" strike="noStrike" cap="none">
                <a:solidFill>
                  <a:schemeClr val="lt1"/>
                </a:solidFill>
                <a:latin typeface="Gill Sans"/>
                <a:ea typeface="Gill Sans"/>
                <a:cs typeface="Gill Sans"/>
              </a:rPr>
              <a:t>37</a:t>
            </a:r>
            <a:endParaRPr sz="1400" b="0" i="0" u="none" strike="noStrike" cap="none">
              <a:solidFill>
                <a:srgbClr val="000000"/>
              </a:solidFill>
              <a:latin typeface="Arial"/>
              <a:ea typeface="Arial"/>
              <a:cs typeface="Arial"/>
            </a:endParaRPr>
          </a:p>
        </p:txBody>
      </p:sp>
      <p:sp>
        <p:nvSpPr>
          <p:cNvPr id="1403948779" name="Google Shape;572;p3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INTRODUCCIÓN A DOTNET</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DOTNET FRAMEWORK</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DOTNET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MONO Y XAMARIN</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2.5 ENTITY FRAMEWORK CORE</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2.6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2.7    F#</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2.8    VISUAL BASIC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2.9    C#</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2.10   JAVA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2.11   JAVASCRIPT</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379373461" name="Google Shape;573;p3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	MARCO TEÓRICO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2.1  DECLARACIÓN UPDATE</a:t>
            </a:r>
            <a:endParaRPr sz="1100" b="0" i="0" u="none" strike="noStrike" cap="none">
              <a:solidFill>
                <a:schemeClr val="lt1"/>
              </a:solidFill>
              <a:latin typeface="Gill Sans"/>
              <a:ea typeface="Gill Sans"/>
              <a:cs typeface="Gill Sans"/>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2.2  DECLARACIÓN SELECT</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2.3  MARCO DE PÁGINA</a:t>
            </a:r>
            <a:endParaRPr sz="1100" b="0" i="0" u="none" strike="noStrike" cap="none">
              <a:solidFill>
                <a:schemeClr val="lt1"/>
              </a:solidFill>
              <a:latin typeface="Gill Sans"/>
              <a:ea typeface="Gill Sans"/>
              <a:cs typeface="Gill Sans"/>
            </a:endParaRPr>
          </a:p>
          <a:p>
            <a:pPr marL="630000" marR="0" lvl="1" indent="-305746" algn="l" rtl="0">
              <a:lnSpc>
                <a:spcPct val="90000"/>
              </a:lnSpc>
              <a:spcBef>
                <a:spcPts val="840"/>
              </a:spcBef>
              <a:spcAft>
                <a:spcPts val="0"/>
              </a:spcAft>
              <a:buClr>
                <a:schemeClr val="lt1"/>
              </a:buClr>
              <a:buSzPts val="1100"/>
              <a:buFont typeface="Gill Sans"/>
              <a:buChar char="◼"/>
              <a:defRPr/>
            </a:pPr>
            <a:r>
              <a:rPr lang="es-ES" sz="1100" b="0" i="0" u="none" strike="noStrike" cap="none">
                <a:solidFill>
                  <a:schemeClr val="lt1"/>
                </a:solidFill>
                <a:latin typeface="Gill Sans"/>
                <a:ea typeface="Gill Sans"/>
                <a:cs typeface="Gill Sans"/>
              </a:rPr>
              <a:t>2.4  BOOTSTRAP</a:t>
            </a:r>
            <a:endParaRPr sz="1100" b="0" i="0" u="none" strike="noStrike" cap="none">
              <a:solidFill>
                <a:schemeClr val="lt1"/>
              </a:solidFill>
              <a:latin typeface="Gill Sans"/>
              <a:ea typeface="Gill Sans"/>
              <a:cs typeface="Gill Sans"/>
            </a:endParaRPr>
          </a:p>
          <a:p>
            <a:pPr marL="0" marR="0" lvl="0" indent="0" algn="l" rtl="0">
              <a:lnSpc>
                <a:spcPct val="90000"/>
              </a:lnSpc>
              <a:spcBef>
                <a:spcPts val="840"/>
              </a:spcBef>
              <a:spcAft>
                <a:spcPts val="0"/>
              </a:spcAft>
              <a:buClr>
                <a:srgbClr val="000000"/>
              </a:buClr>
              <a:buSzPts val="1100"/>
              <a:buFont typeface="Arial"/>
              <a:buNone/>
              <a:defRPr/>
            </a:pP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DESARROLLO</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3.1.	VIDEO 2: LENGUAJES DE PROGRAMACIÓN DE .NET</a:t>
            </a:r>
            <a:endParaRPr sz="1300" b="0" i="0" u="none" strike="noStrike" cap="none">
              <a:solidFill>
                <a:schemeClr val="lt1"/>
              </a:solidFill>
              <a:latin typeface="Arial"/>
              <a:ea typeface="Arial"/>
              <a:cs typeface="Arial"/>
            </a:endParaRPr>
          </a:p>
          <a:p>
            <a:pPr marL="630000" marR="0" lvl="1"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3.2.	VIDEO 3: INTEROPERABILIDAD DE LENGUAJES DE .NET</a:t>
            </a:r>
            <a:endParaRPr sz="1300" b="0" i="0" u="none" strike="noStrike" cap="none">
              <a:solidFill>
                <a:schemeClr val="lt1"/>
              </a:solidFill>
              <a:latin typeface="Arial"/>
              <a:ea typeface="Arial"/>
              <a:cs typeface="Arial"/>
            </a:endParaRPr>
          </a:p>
          <a:p>
            <a:pPr marL="630000" marR="0" lvl="1" indent="-318445" algn="l" rtl="0">
              <a:lnSpc>
                <a:spcPct val="90000"/>
              </a:lnSpc>
              <a:spcBef>
                <a:spcPts val="840"/>
              </a:spcBef>
              <a:spcAft>
                <a:spcPts val="0"/>
              </a:spcAft>
              <a:buClr>
                <a:schemeClr val="lt1"/>
              </a:buClr>
              <a:buSzPts val="1300"/>
              <a:buFont typeface="Arial"/>
              <a:buChar char="◼"/>
              <a:defRPr/>
            </a:pPr>
            <a:r>
              <a:rPr lang="es-ES" sz="1100" b="0" i="0" u="none" strike="noStrike" cap="none">
                <a:solidFill>
                  <a:schemeClr val="lt1"/>
                </a:solidFill>
                <a:latin typeface="Gill Sans"/>
                <a:ea typeface="Gill Sans"/>
                <a:cs typeface="Gill Sans"/>
              </a:rPr>
              <a:t>3.3.	VIDEO 4: .NET STANDARD BCL PCL</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
        <p:nvSpPr>
          <p:cNvPr id="1042647747" name="Google Shape;574;p37"/>
          <p:cNvSpPr txBox="1"/>
          <p:nvPr/>
        </p:nvSpPr>
        <p:spPr bwMode="auto">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1	OBJETIVOS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a:solidFill>
                  <a:schemeClr val="lt1"/>
                </a:solidFill>
                <a:latin typeface="Gill Sans"/>
                <a:ea typeface="Gill Sans"/>
                <a:cs typeface="Gill Sans"/>
              </a:rPr>
              <a:t>2</a:t>
            </a:r>
            <a:r>
              <a:rPr lang="es-ES" sz="1100" b="0" i="0" u="none" strike="noStrike" cap="none">
                <a:solidFill>
                  <a:schemeClr val="lt1"/>
                </a:solidFill>
                <a:latin typeface="Gill Sans"/>
                <a:ea typeface="Gill Sans"/>
                <a:cs typeface="Gill Sans"/>
              </a:rPr>
              <a:t>	</a:t>
            </a:r>
            <a:r>
              <a:rPr lang="es-ES" sz="1100">
                <a:solidFill>
                  <a:schemeClr val="lt1"/>
                </a:solidFill>
                <a:latin typeface="Gill Sans"/>
                <a:ea typeface="Gill Sans"/>
                <a:cs typeface="Gill Sans"/>
              </a:rPr>
              <a:t>DESARROLLO</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3	</a:t>
            </a:r>
            <a:r>
              <a:rPr lang="es-ES" sz="1100">
                <a:solidFill>
                  <a:schemeClr val="lt1"/>
                </a:solidFill>
                <a:latin typeface="Gill Sans"/>
                <a:ea typeface="Gill Sans"/>
                <a:cs typeface="Gill Sans"/>
              </a:rPr>
              <a:t>EJECUCIÓN</a:t>
            </a:r>
            <a:endParaRPr sz="1100" b="0" i="0" u="none" strike="noStrike" cap="none">
              <a:solidFill>
                <a:schemeClr val="lt1"/>
              </a:solidFill>
              <a:latin typeface="Gill Sans"/>
              <a:ea typeface="Gill Sans"/>
              <a:cs typeface="Gill Sans"/>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4	CONCLUSIONES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chemeClr val="lt1"/>
              </a:buClr>
              <a:buSzPts val="1004"/>
              <a:buFont typeface="Noto Sans Symbols"/>
              <a:buChar char="◼"/>
              <a:defRPr/>
            </a:pPr>
            <a:r>
              <a:rPr lang="es-ES" sz="1100" b="0" i="0" u="none" strike="noStrike" cap="none">
                <a:solidFill>
                  <a:schemeClr val="lt1"/>
                </a:solidFill>
                <a:latin typeface="Gill Sans"/>
                <a:ea typeface="Gill Sans"/>
                <a:cs typeface="Gill Sans"/>
              </a:rPr>
              <a:t>5	RECOMENDACIONES</a:t>
            </a:r>
            <a:endParaRPr sz="1300" b="0" i="0" u="none" strike="noStrike" cap="none">
              <a:solidFill>
                <a:schemeClr val="lt1"/>
              </a:solidFill>
              <a:latin typeface="Arial"/>
              <a:ea typeface="Arial"/>
              <a:cs typeface="Arial"/>
            </a:endParaRPr>
          </a:p>
          <a:p>
            <a:pPr marL="306000" marR="0" lvl="0" indent="-299650" algn="l" rtl="0">
              <a:lnSpc>
                <a:spcPct val="90000"/>
              </a:lnSpc>
              <a:spcBef>
                <a:spcPts val="840"/>
              </a:spcBef>
              <a:spcAft>
                <a:spcPts val="0"/>
              </a:spcAft>
              <a:buClr>
                <a:srgbClr val="FFFF00"/>
              </a:buClr>
              <a:buSzPts val="1004"/>
              <a:buFont typeface="Noto Sans Symbols"/>
              <a:buChar char="◼"/>
              <a:defRPr/>
            </a:pPr>
            <a:r>
              <a:rPr lang="es-ES" sz="1100" b="0" i="0" u="none" strike="noStrike" cap="none">
                <a:solidFill>
                  <a:srgbClr val="FFFF00"/>
                </a:solidFill>
                <a:latin typeface="Gill Sans"/>
                <a:ea typeface="Gill Sans"/>
                <a:cs typeface="Gill Sans"/>
              </a:rPr>
              <a:t>6	BIBLIOGRAFÍA</a:t>
            </a:r>
            <a:endParaRPr sz="1100" b="0" i="0" u="none" strike="noStrike" cap="none">
              <a:solidFill>
                <a:srgbClr val="FFFF00"/>
              </a:solidFill>
              <a:latin typeface="Gill Sans"/>
              <a:ea typeface="Gill Sans"/>
              <a:cs typeface="Gill Sans"/>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7616</Words>
  <Application>Microsoft Office PowerPoint</Application>
  <PresentationFormat>Widescreen</PresentationFormat>
  <Paragraphs>1572</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Gill Sans</vt:lpstr>
      <vt:lpstr>Noto Sans Symbols</vt:lpstr>
      <vt:lpstr>Times New Roman</vt:lpstr>
      <vt:lpstr>Dividendo</vt:lpstr>
      <vt:lpstr>PROYECTO CONVERSOR UNIDADES SOAP DOTNET</vt:lpstr>
      <vt:lpstr>1 OBJETIVO</vt:lpstr>
      <vt:lpstr>2 DESARROLLO</vt:lpstr>
      <vt:lpstr>2.1 CREACIÓN DEL PROYECTO POR PARTE DEL SERVIDOR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CREACIÓN DE LA VISTA CLIENTE  </vt:lpstr>
      <vt:lpstr>PowerPoint Presentation</vt:lpstr>
      <vt:lpstr>PowerPoint Presentation</vt:lpstr>
      <vt:lpstr>PowerPoint Presentation</vt:lpstr>
      <vt:lpstr>PowerPoint Presentation</vt:lpstr>
      <vt:lpstr>PowerPoint Presentation</vt:lpstr>
      <vt:lpstr> CREACIÓN DEL PROYECTO CLIENTE – WEB </vt:lpstr>
      <vt:lpstr>PowerPoint Presentation</vt:lpstr>
      <vt:lpstr>PowerPoint Presentation</vt:lpstr>
      <vt:lpstr>PowerPoint Presentation</vt:lpstr>
      <vt:lpstr> 3 EJECUCIÓN  </vt:lpstr>
      <vt:lpstr> CREACIÓN DEL PROYECTO CLIENTE – MOVIL </vt:lpstr>
      <vt:lpstr>PowerPoint Presentation</vt:lpstr>
      <vt:lpstr>PowerPoint Presentation</vt:lpstr>
      <vt:lpstr>PowerPoint Presentation</vt:lpstr>
      <vt:lpstr> 3 EJECUCIÓN  </vt:lpstr>
      <vt:lpstr>PowerPoint Presentation</vt:lpstr>
      <vt:lpstr>PowerPoint Presentation</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CARLOS JAVIER GRANDA VELASQUEZ</cp:lastModifiedBy>
  <cp:revision>7</cp:revision>
  <dcterms:created xsi:type="dcterms:W3CDTF">2020-07-10T23:33:49Z</dcterms:created>
  <dcterms:modified xsi:type="dcterms:W3CDTF">2026-05-13T04:42:34Z</dcterms:modified>
</cp:coreProperties>
</file>