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1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1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5"/>
          <p:cNvSpPr/>
          <p:nvPr/>
        </p:nvSpPr>
        <p:spPr>
          <a:xfrm>
            <a:off x="0" y="3238500"/>
            <a:ext cx="18288000" cy="35623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6"/>
          <p:cNvSpPr/>
          <p:nvPr/>
        </p:nvSpPr>
        <p:spPr>
          <a:xfrm>
            <a:off x="762000" y="3493770"/>
            <a:ext cx="1621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CONVERSIÓN DE UNIDADES</a:t>
            </a:r>
            <a:endParaRPr lang="en-US" sz="5400" dirty="0"/>
          </a:p>
        </p:txBody>
      </p:sp>
      <p:sp>
        <p:nvSpPr>
          <p:cNvPr id="11" name="Text 7"/>
          <p:cNvSpPr/>
          <p:nvPr/>
        </p:nvSpPr>
        <p:spPr>
          <a:xfrm>
            <a:off x="762000" y="4472940"/>
            <a:ext cx="17266920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50" kern="0" spc="127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 SOAP EN .NET / WCF — SIN BASE DE DATOS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762000" y="6858000"/>
            <a:ext cx="909720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 — GRUPO 05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62000" y="7250430"/>
            <a:ext cx="909720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 Gualotuña José Proaño Jhonathan García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0165735" y="6858000"/>
            <a:ext cx="758107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/ FECHA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0165735" y="7250430"/>
            <a:ext cx="758107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Tutor: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Eduardo M. Campaña O.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 err="1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05 / 2025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17" name="Google Shape;102;p1" descr="Resultado de imagen para espe">
            <a:extLst>
              <a:ext uri="{FF2B5EF4-FFF2-40B4-BE49-F238E27FC236}">
                <a16:creationId xmlns:a16="http://schemas.microsoft.com/office/drawing/2014/main" id="{CE086591-E514-D4D4-3EB2-DC21224142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31837"/>
            <a:ext cx="13927540" cy="21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24260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GENERAL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1055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00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2469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Aplicativo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293751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Servidor WCF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90600" y="326898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Consola C#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90600" y="360045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Escritorio WinForms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90600" y="393192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Web ASP.NET Core MVC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90600" y="426339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Móvil Android / Kotlin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3400" y="459486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90600" y="463677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33400" y="502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90600" y="506730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33400" y="545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90600" y="5497830"/>
            <a:ext cx="266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PRESENTACIÓN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vamos a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cubrir</a:t>
            </a:r>
            <a:endParaRPr lang="en-US" sz="4800" dirty="0"/>
          </a:p>
        </p:txBody>
      </p:sp>
      <p:sp>
        <p:nvSpPr>
          <p:cNvPr id="27" name="Shape 25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8" name="Text 26"/>
          <p:cNvSpPr/>
          <p:nvPr/>
        </p:nvSpPr>
        <p:spPr>
          <a:xfrm>
            <a:off x="5143500" y="2125980"/>
            <a:ext cx="12753975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en .NET / WCF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hospedado en IIS expone operaciones de conversión de unidades de 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temperatura, longitud y peso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necesidad de base de datos. Cuatro clientes en plataformas distintas consumen el mismo endpoint demostrando la 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 SOAP.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5143500" y="3571875"/>
            <a:ext cx="1894582" cy="449580"/>
          </a:xfrm>
          <a:prstGeom prst="roundRect">
            <a:avLst>
              <a:gd name="adj" fmla="val 50000"/>
            </a:avLst>
          </a:prstGeom>
          <a:solidFill>
            <a:srgbClr val="1A3260"/>
          </a:solidFill>
          <a:ln w="19050">
            <a:solidFill>
              <a:srgbClr val="1A32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4000" y="3686175"/>
            <a:ext cx="158978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 · .NET 4.7.2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152382" y="3571875"/>
            <a:ext cx="1957864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2882" y="3686175"/>
            <a:ext cx="165306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basicHttpBinding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224546" y="3571875"/>
            <a:ext cx="613946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5046" y="3686175"/>
            <a:ext cx="30914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952791" y="3571875"/>
            <a:ext cx="1249323" cy="449580"/>
          </a:xfrm>
          <a:prstGeom prst="roundRect">
            <a:avLst>
              <a:gd name="adj" fmla="val 50000"/>
            </a:avLst>
          </a:prstGeom>
          <a:ln w="19050">
            <a:solidFill>
              <a:srgbClr val="4295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43291" y="3686175"/>
            <a:ext cx="94452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clientes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1316415" y="3571875"/>
            <a:ext cx="1143000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506915" y="3686175"/>
            <a:ext cx="8382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BDD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143500" y="9772650"/>
            <a:ext cx="427196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ÍNDICE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1055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00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1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40995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379857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3840480"/>
            <a:ext cx="120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INTRODUCCIÓN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SOAP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memoria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3" name="Text 21"/>
          <p:cNvSpPr/>
          <p:nvPr/>
        </p:nvSpPr>
        <p:spPr>
          <a:xfrm>
            <a:off x="5143500" y="2125980"/>
            <a:ext cx="12753975" cy="1367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presente trabajo describe el diseño e implementación de un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 SOAP en .NET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expone operaciones de conversión de unidades físicas: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temperatura, longitud y peso/masa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servicio se desarrolló con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Communication Foundation (WCF)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.NET Framework 4.7.2, se hospeda en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se configura mediante el archivo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Web.config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43500" y="3608070"/>
            <a:ext cx="12753975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característica central del proyecto es que opera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completamente en memoria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 requerir ningún motor de base de datos; toda la lógica reside en clases C# dentro del servidor WCF. El binding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basicHttpBinding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automáticamente el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accesible mediante el endpoint de metadatos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43500" y="4758690"/>
            <a:ext cx="12753975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clientes implementados (consola C#, escritorio WinForms, web ASP.NET Core MVC y móvil Android/Kotlin) se conectan al endpoint mediante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ChannelFactory&lt;T&gt;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interfaz compartida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mediante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caso del cliente móvil.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43500" y="9772650"/>
            <a:ext cx="540504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01 INTRODUCCIÓN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1293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5920"/>
            <a:ext cx="120979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600" y="2076450"/>
            <a:ext cx="3074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 General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245364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Objetivos Específicos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400" y="27851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82702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32156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3257550"/>
            <a:ext cx="1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64617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68808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407670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411861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450723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600" y="4549140"/>
            <a:ext cx="120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OBJETIVOS — 2.1 GENERAL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3500" y="2125980"/>
            <a:ext cx="12382500" cy="2323148"/>
          </a:xfrm>
          <a:prstGeom prst="roundRect">
            <a:avLst>
              <a:gd name="adj" fmla="val 2460"/>
            </a:avLst>
          </a:prstGeom>
          <a:solidFill>
            <a:srgbClr val="1A3260"/>
          </a:solidFill>
          <a:ln/>
        </p:spPr>
      </p:sp>
      <p:sp>
        <p:nvSpPr>
          <p:cNvPr id="26" name="Text 24"/>
          <p:cNvSpPr/>
          <p:nvPr/>
        </p:nvSpPr>
        <p:spPr>
          <a:xfrm>
            <a:off x="5638800" y="2583180"/>
            <a:ext cx="11733657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un </a:t>
            </a:r>
            <a:r>
              <a:rPr lang="en-US" sz="255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 SOAP en .NET / WCF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hospedado en </a:t>
            </a:r>
            <a:r>
              <a:rPr lang="en-US" sz="255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provea operaciones de conversión de unidades físicas a múltiples tipos de clientes, </a:t>
            </a:r>
            <a:r>
              <a:rPr lang="en-US" sz="255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necesidad de persistencia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base de datos.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5143500" y="4753928"/>
            <a:ext cx="814745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4000" y="4868228"/>
            <a:ext cx="509945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072545" y="4753928"/>
            <a:ext cx="613946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045" y="4868228"/>
            <a:ext cx="30914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00791" y="4753928"/>
            <a:ext cx="1957864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1291" y="4868228"/>
            <a:ext cx="165306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basicHttpBinding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872954" y="4753928"/>
            <a:ext cx="1926431" cy="449580"/>
          </a:xfrm>
          <a:prstGeom prst="roundRect">
            <a:avLst>
              <a:gd name="adj" fmla="val 50000"/>
            </a:avLst>
          </a:prstGeom>
          <a:ln w="19050">
            <a:solidFill>
              <a:srgbClr val="4295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63454" y="4868228"/>
            <a:ext cx="162163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913686" y="4753928"/>
            <a:ext cx="1354931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04186" y="4868228"/>
            <a:ext cx="105013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143500" y="9772650"/>
            <a:ext cx="50073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02 OBJETIVOS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1293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5920"/>
            <a:ext cx="120979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600" y="207645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 General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2407920"/>
            <a:ext cx="3074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Objetivos Específicos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400" y="27851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82702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32156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3257550"/>
            <a:ext cx="1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64617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68808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407670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411861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450723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600" y="4549140"/>
            <a:ext cx="120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OBJETIVOS — 2.2 ESPECÍFICOS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Específicos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3500" y="220218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37642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2021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2202180"/>
            <a:ext cx="76200" cy="156972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2355" y="220218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0" name="Text 28"/>
          <p:cNvSpPr/>
          <p:nvPr/>
        </p:nvSpPr>
        <p:spPr>
          <a:xfrm>
            <a:off x="5448300" y="241935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8300" y="266700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SOAP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8300" y="306705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e implementar la interfaz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atributos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[ServiceContract]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[OperationContract]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9525" y="220218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9525" y="37642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9525" y="22021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9525" y="2202180"/>
            <a:ext cx="76200" cy="156972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37" name="Shape 35"/>
          <p:cNvSpPr/>
          <p:nvPr/>
        </p:nvSpPr>
        <p:spPr>
          <a:xfrm>
            <a:off x="17518380" y="220218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8" name="Text 36"/>
          <p:cNvSpPr/>
          <p:nvPr/>
        </p:nvSpPr>
        <p:spPr>
          <a:xfrm>
            <a:off x="11744325" y="241935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744325" y="266700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sin BDD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744325" y="306705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la conversión y autenticación en clases C# (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WSConversion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AutenticacionService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sin acceso a base de datos.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143500" y="398145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55435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3" name="Shape 41"/>
          <p:cNvSpPr/>
          <p:nvPr/>
        </p:nvSpPr>
        <p:spPr>
          <a:xfrm>
            <a:off x="5143500" y="39814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4" name="Shape 42"/>
          <p:cNvSpPr/>
          <p:nvPr/>
        </p:nvSpPr>
        <p:spPr>
          <a:xfrm>
            <a:off x="5143500" y="3981450"/>
            <a:ext cx="76200" cy="156972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22355" y="398145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6" name="Text 44"/>
          <p:cNvSpPr/>
          <p:nvPr/>
        </p:nvSpPr>
        <p:spPr>
          <a:xfrm>
            <a:off x="5448300" y="419862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48300" y="444627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Hospedaje en IIS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448300" y="484632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el servicio WCF en IIS mediante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Service1.svc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binding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basicHttpBinding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1439525" y="398145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1439525" y="55435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1" name="Shape 49"/>
          <p:cNvSpPr/>
          <p:nvPr/>
        </p:nvSpPr>
        <p:spPr>
          <a:xfrm>
            <a:off x="11439525" y="39814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39525" y="3981450"/>
            <a:ext cx="76200" cy="156972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53" name="Shape 51"/>
          <p:cNvSpPr/>
          <p:nvPr/>
        </p:nvSpPr>
        <p:spPr>
          <a:xfrm>
            <a:off x="17518380" y="398145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4" name="Text 52"/>
          <p:cNvSpPr/>
          <p:nvPr/>
        </p:nvSpPr>
        <p:spPr>
          <a:xfrm>
            <a:off x="11744325" y="419862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2.2.4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744325" y="444627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 C#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1744325" y="4846320"/>
            <a:ext cx="5711819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Consumir el servicio SOAP usando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ChannelFactory&lt;IWSConversion&gt;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interfaz compartida.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5143500" y="576072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5143500" y="73228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9" name="Shape 57"/>
          <p:cNvSpPr/>
          <p:nvPr/>
        </p:nvSpPr>
        <p:spPr>
          <a:xfrm>
            <a:off x="5143500" y="57607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0" name="Shape 58"/>
          <p:cNvSpPr/>
          <p:nvPr/>
        </p:nvSpPr>
        <p:spPr>
          <a:xfrm>
            <a:off x="5143500" y="5760720"/>
            <a:ext cx="76200" cy="156972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61" name="Shape 59"/>
          <p:cNvSpPr/>
          <p:nvPr/>
        </p:nvSpPr>
        <p:spPr>
          <a:xfrm>
            <a:off x="11222355" y="576072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2" name="Text 60"/>
          <p:cNvSpPr/>
          <p:nvPr/>
        </p:nvSpPr>
        <p:spPr>
          <a:xfrm>
            <a:off x="5448300" y="597789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2.2.5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448300" y="622554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448300" y="662559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el cliente de escritorio con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VentanaLogin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VentanaPrincipal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paneles de conversión.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11439525" y="576072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11439525" y="73228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7" name="Shape 65"/>
          <p:cNvSpPr/>
          <p:nvPr/>
        </p:nvSpPr>
        <p:spPr>
          <a:xfrm>
            <a:off x="11439525" y="57607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8" name="Shape 66"/>
          <p:cNvSpPr/>
          <p:nvPr/>
        </p:nvSpPr>
        <p:spPr>
          <a:xfrm>
            <a:off x="11439525" y="5760720"/>
            <a:ext cx="76200" cy="156972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69" name="Shape 67"/>
          <p:cNvSpPr/>
          <p:nvPr/>
        </p:nvSpPr>
        <p:spPr>
          <a:xfrm>
            <a:off x="17518380" y="576072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70" name="Text 68"/>
          <p:cNvSpPr/>
          <p:nvPr/>
        </p:nvSpPr>
        <p:spPr>
          <a:xfrm>
            <a:off x="11744325" y="597789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2.2.6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1744325" y="622554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Móvil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1744325" y="6625590"/>
            <a:ext cx="5711819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el cliente web ASP.NET Core MVC y el cliente Android/Kotlin con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5143500" y="9772650"/>
            <a:ext cx="50073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02 OBJETIVOS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  <p:sp>
        <p:nvSpPr>
          <p:cNvPr id="75" name="Shape 7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19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60382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5920"/>
            <a:ext cx="2255401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+ Service1.svc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2035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2078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73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/ Android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409950"/>
            <a:ext cx="1280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MVC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WCF, IIS y el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.svc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1" name="Shape 19"/>
          <p:cNvSpPr/>
          <p:nvPr/>
        </p:nvSpPr>
        <p:spPr>
          <a:xfrm>
            <a:off x="5143500" y="2202180"/>
            <a:ext cx="6038850" cy="2087880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428244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0" y="220218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4" name="Shape 22"/>
          <p:cNvSpPr/>
          <p:nvPr/>
        </p:nvSpPr>
        <p:spPr>
          <a:xfrm>
            <a:off x="5143500" y="2202180"/>
            <a:ext cx="76200" cy="208788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74730" y="2202180"/>
            <a:ext cx="9525" cy="208788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2438400"/>
            <a:ext cx="55842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2686050"/>
            <a:ext cx="55842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Communication Foundation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3086100"/>
            <a:ext cx="5584279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Microsoft para servicios orientados a SOA. Tres conceptos: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[ServiceContract]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[OperationContract]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basicHttpBinding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 el servicio sobre HTTP/SOAP 1.1, interoperable con cualquier cliente.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1487150" y="2202180"/>
            <a:ext cx="6038850" cy="2087880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87150" y="428244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87150" y="220218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87150" y="2202180"/>
            <a:ext cx="76200" cy="208788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33" name="Shape 31"/>
          <p:cNvSpPr/>
          <p:nvPr/>
        </p:nvSpPr>
        <p:spPr>
          <a:xfrm>
            <a:off x="17518380" y="2202180"/>
            <a:ext cx="9525" cy="208788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4" name="Text 32"/>
          <p:cNvSpPr/>
          <p:nvPr/>
        </p:nvSpPr>
        <p:spPr>
          <a:xfrm>
            <a:off x="11830050" y="2438400"/>
            <a:ext cx="55842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830050" y="2686050"/>
            <a:ext cx="55842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y Service1.svc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830050" y="3086100"/>
            <a:ext cx="5584279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hospeda el servicio mediante un archivo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.svc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contiene la directiva de activación. El handler WCF se registra en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web.config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endpoint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descargar el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generar proxies automáticamente.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143500" y="4518660"/>
            <a:ext cx="1275397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publicado en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http://host:8085/Service1.svc?wsdl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operaciones, tipos y bindings, garantizando que cualquier cliente — independientemente de la plataforma — pueda construir su proxy SOAP.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43500" y="9772650"/>
            <a:ext cx="5560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03 MARCO TEÓRICO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19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572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872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+ Service1.svc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076450"/>
            <a:ext cx="242256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06980"/>
            <a:ext cx="234535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73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/ Android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409950"/>
            <a:ext cx="1280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MVC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09650"/>
            <a:ext cx="12753975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compartido —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proxy </a:t>
            </a: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23660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500" y="2842260"/>
            <a:ext cx="6220016" cy="1253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lugar de generar un proxy con </a:t>
            </a: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svcutil.exe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los clientes .NET </a:t>
            </a:r>
            <a:r>
              <a:rPr lang="en-US" sz="165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replican la interfaz </a:t>
            </a: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los mismos atributos </a:t>
            </a: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[ServiceContract]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[OperationContract]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servidor.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143500" y="4210050"/>
            <a:ext cx="6220016" cy="949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ChannelFactory&lt;IWSConversion&gt;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un canal WCF que implementa esa interfaz: las llamadas remotas se ven como métodos locales.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1487150" y="2842260"/>
            <a:ext cx="6038850" cy="3899535"/>
          </a:xfrm>
          <a:prstGeom prst="roundRect">
            <a:avLst>
              <a:gd name="adj" fmla="val 1954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11734800" y="3051810"/>
            <a:ext cx="5724716" cy="3518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Servidor y clientes comparten el mismo contrato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"WSConversion"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[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"celsiusAFahrenheit"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 =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ChannelFactory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BasicHttpBinding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EndpointAddress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(url));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proxy = f.CreateChannel();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143500" y="7008495"/>
            <a:ext cx="6086475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881062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700849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7008495"/>
            <a:ext cx="76200" cy="18097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2355" y="7008495"/>
            <a:ext cx="9525" cy="180975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0" name="Text 28"/>
          <p:cNvSpPr/>
          <p:nvPr/>
        </p:nvSpPr>
        <p:spPr>
          <a:xfrm>
            <a:off x="5448300" y="7225665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8300" y="7473315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8300" y="7873365"/>
            <a:ext cx="5711819" cy="765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configurado en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Controladores invocan al servicio mediante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ConversionSoapClient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(hereda de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ClientBase&lt;T&gt;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La sesión HTTP mantiene la autenticación.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9525" y="7008495"/>
            <a:ext cx="6086475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9525" y="881062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9525" y="700849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9525" y="7008495"/>
            <a:ext cx="76200" cy="180975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37" name="Shape 35"/>
          <p:cNvSpPr/>
          <p:nvPr/>
        </p:nvSpPr>
        <p:spPr>
          <a:xfrm>
            <a:off x="17518380" y="7008495"/>
            <a:ext cx="9525" cy="180975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8" name="Text 36"/>
          <p:cNvSpPr/>
          <p:nvPr/>
        </p:nvSpPr>
        <p:spPr>
          <a:xfrm>
            <a:off x="11744325" y="7225665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744325" y="7473315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 sin Persistencia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744325" y="7873365"/>
            <a:ext cx="5711819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(Request/Response), Controlador (orquesta SOAP), Vista (consola, Forms, Razor, Fragments). Sin lógica de negocio en la vista.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143500" y="9772650"/>
            <a:ext cx="5560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03 MARCO TEÓRICO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19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572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872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+ Service1.svc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2035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2078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37510"/>
            <a:ext cx="20919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/ Android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368040"/>
            <a:ext cx="1603891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 — VISTA GLOBAL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SOAP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1" name="Shape 19"/>
          <p:cNvSpPr/>
          <p:nvPr/>
        </p:nvSpPr>
        <p:spPr>
          <a:xfrm>
            <a:off x="9563100" y="3802380"/>
            <a:ext cx="3543300" cy="1554480"/>
          </a:xfrm>
          <a:prstGeom prst="roundRect">
            <a:avLst>
              <a:gd name="adj" fmla="val 4902"/>
            </a:avLst>
          </a:prstGeom>
          <a:solidFill>
            <a:srgbClr val="1A3260"/>
          </a:solidFill>
          <a:ln/>
        </p:spPr>
      </p:sp>
      <p:sp>
        <p:nvSpPr>
          <p:cNvPr id="22" name="Text 20"/>
          <p:cNvSpPr/>
          <p:nvPr/>
        </p:nvSpPr>
        <p:spPr>
          <a:xfrm>
            <a:off x="9863138" y="4030980"/>
            <a:ext cx="29432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315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 · IIS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63138" y="4278630"/>
            <a:ext cx="294322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WSConversion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863138" y="4758690"/>
            <a:ext cx="2943225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basicHttpBinding · :8085/Service1.svc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63138" y="4972050"/>
            <a:ext cx="2943225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In-memory · sin BDD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24500" y="2411730"/>
            <a:ext cx="2000250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76900" y="2564130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76900" y="2792730"/>
            <a:ext cx="1695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C#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76900" y="3055620"/>
            <a:ext cx="16954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24500" y="6248400"/>
            <a:ext cx="2000250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76900" y="6400800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76900" y="6629400"/>
            <a:ext cx="1695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WinForms C#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76900" y="6892290"/>
            <a:ext cx="16954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989671" y="2411730"/>
            <a:ext cx="2155329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142071" y="2564130"/>
            <a:ext cx="1850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5142071" y="2792730"/>
            <a:ext cx="185052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5142071" y="3055620"/>
            <a:ext cx="185052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ClientBase&lt;T&gt; · .NET 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5144750" y="6248400"/>
            <a:ext cx="2000250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297150" y="6400800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5297150" y="6629400"/>
            <a:ext cx="1695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Kotlin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5297150" y="6892290"/>
            <a:ext cx="16954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ksoap2-android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669" y="1941586"/>
            <a:ext cx="13981563" cy="6022827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5143500" y="7631430"/>
            <a:ext cx="12753975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ksoap2-android construye el envelope SOAP manualmente: el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SoapObject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serializa y se envía con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HttpTransportSE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respetando el namespace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http://tempuri.org/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servidor WCF.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5143500" y="9772650"/>
            <a:ext cx="5560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03 MARCO TEÓRICO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96879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649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18418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183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3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 — 4.1 SERVIDOR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09650"/>
            <a:ext cx="12753975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CONUNI_SOAP_DOTNET_GR05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23660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2766060"/>
            <a:ext cx="12753975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WCF (.NET Framework 4.7.2) hospedado en IIS. Toda la lógica de conversión y autenticación reside en clases C#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memoria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43500" y="3657600"/>
            <a:ext cx="6038850" cy="6553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143500" y="430530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365760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0" y="3657600"/>
            <a:ext cx="76200" cy="65532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74730" y="3657600"/>
            <a:ext cx="9525" cy="6553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5" name="Text 23"/>
          <p:cNvSpPr/>
          <p:nvPr/>
        </p:nvSpPr>
        <p:spPr>
          <a:xfrm>
            <a:off x="5429250" y="3836670"/>
            <a:ext cx="570200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505450" y="4408170"/>
            <a:ext cx="585806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proyecto: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servicio WCF (.NET Framework)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5450" y="523875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estructura del proyecto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05450" y="574929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contrato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05450" y="625983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AutenticacionService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05450" y="677037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WSConversion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05450" y="728091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Web.config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05450" y="779145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en IIS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87150" y="3657600"/>
            <a:ext cx="6038850" cy="2506980"/>
          </a:xfrm>
          <a:prstGeom prst="roundRect">
            <a:avLst>
              <a:gd name="adj" fmla="val 3040"/>
            </a:avLst>
          </a:prstGeom>
          <a:solidFill>
            <a:srgbClr val="0B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11715750" y="3848100"/>
            <a:ext cx="5762816" cy="216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CONUNI_SOAP_DOTNET_GR05/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CONUNI_SOAP_DOTNET_GR05.csproj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Web.config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Binding, endpoints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Service1.svc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Activación IIS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IService1.cs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IWSConversion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Service1.svc.cs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WSConversion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AutenticacionService.cs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Credenciales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TestClient.cs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Prueba interna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143500" y="9772650"/>
            <a:ext cx="68279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04 DESARROLLO · 4.1 SERVIDOR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96879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" y="1645920"/>
            <a:ext cx="3074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Contrato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202311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Implementación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35458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Web.config + IIS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6860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" y="2727960"/>
            <a:ext cx="1649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1165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3158490"/>
            <a:ext cx="18418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" y="35471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0600" y="3589020"/>
            <a:ext cx="183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3400" y="39776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90600" y="4019550"/>
            <a:ext cx="13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4.1.3 — CONTRATO DEL SERVICIO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500" y="1009650"/>
            <a:ext cx="12753975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</a:t>
            </a:r>
            <a:r>
              <a:rPr lang="en-US" sz="3150" b="1" dirty="0">
                <a:solidFill>
                  <a:srgbClr val="1A3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 </a:t>
            </a: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métodos expuestos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5143500" y="16440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120265"/>
            <a:ext cx="6038850" cy="6092190"/>
          </a:xfrm>
          <a:prstGeom prst="roundRect">
            <a:avLst>
              <a:gd name="adj" fmla="val 1954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1150" y="2329815"/>
            <a:ext cx="5724716" cy="3518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"WSConversion"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Autenticación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pass);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Temperatura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"celsiusAFahrenheit"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[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"fahrenheitACelsius"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FahrenheitACelsius(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Kelvin, Longitud, Peso/Masa…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487150" y="2196465"/>
            <a:ext cx="2247900" cy="53721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87150" y="272605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11658600" y="2329815"/>
            <a:ext cx="1981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3735050" y="2196465"/>
            <a:ext cx="3790950" cy="53721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35050" y="272605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13906500" y="2329815"/>
            <a:ext cx="3561779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SOAP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487150" y="366331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11658600" y="2867025"/>
            <a:ext cx="1981200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735050" y="366331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13906500" y="2867025"/>
            <a:ext cx="356177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celsiusAFahrenheit · fahrenheitACelsius · celsiusAKelvin · kelvinACelsius · fahrenheitAKelvin · kelvinAFahrenheit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1487150" y="3670935"/>
            <a:ext cx="6038850" cy="93726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87150" y="460057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11658600" y="3804285"/>
            <a:ext cx="1981200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3735050" y="460057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13906500" y="3804285"/>
            <a:ext cx="356177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metrosAPies · piesAMetros · metrosAPulgadas · pulgadasAMetros · kilometrosAMillas · millasAKilometros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1487150" y="531685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11658600" y="4741545"/>
            <a:ext cx="19812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/ Masa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3735050" y="531685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13906500" y="4741545"/>
            <a:ext cx="3561779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kilogramosALibras · librasAKilogramos · gramosAOnzas · onzasAGramos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1487150" y="5324475"/>
            <a:ext cx="6038850" cy="54102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4" name="Shape 42"/>
          <p:cNvSpPr/>
          <p:nvPr/>
        </p:nvSpPr>
        <p:spPr>
          <a:xfrm>
            <a:off x="11487150" y="585787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11658600" y="5457825"/>
            <a:ext cx="1981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3735050" y="585787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13906500" y="5457825"/>
            <a:ext cx="35617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login( usuario, contraseña ) → bool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1487150" y="5869305"/>
            <a:ext cx="6220016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1 · Métodos del servicio WCF de conversión.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143500" y="9772650"/>
            <a:ext cx="520858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4.1.3 CONTRATO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7083"/>
            <a:ext cx="16969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" y="1642533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Contrato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1974850"/>
            <a:ext cx="307467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Implementación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353733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Web.config + IIS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6860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" y="2724150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1115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3149600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" y="35369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0600" y="3575050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3400" y="39624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90600" y="4000500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4.1.4 / 4.1.5 — LÓGICA DEL SERVIDOR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500" y="1013883"/>
            <a:ext cx="12753975" cy="478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+ </a:t>
            </a:r>
            <a:r>
              <a:rPr lang="en-US" sz="315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WSConversion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5143500" y="162533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101585"/>
            <a:ext cx="6038850" cy="6632982"/>
          </a:xfrm>
          <a:prstGeom prst="roundRect">
            <a:avLst>
              <a:gd name="adj" fmla="val 1954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1150" y="2311135"/>
            <a:ext cx="5724716" cy="351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AutenticacionService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     =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"MONSTER"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Contrasena  =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"MONSTER9"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ValidarCredenciales(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.IsNullOrEmpty(u) ||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.IsNullOrEmpty(p))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false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Usuario.Equals(u.Trim().ToUpper())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Contrasena.Equals(p.Trim());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14734" y="8866915"/>
            <a:ext cx="6220016" cy="701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centralizadas en el servidor — los clientes nunca las conocen.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487150" y="2101585"/>
            <a:ext cx="6038850" cy="6837699"/>
          </a:xfrm>
          <a:prstGeom prst="roundRect">
            <a:avLst>
              <a:gd name="adj" fmla="val 1641"/>
            </a:avLst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11734800" y="2311135"/>
            <a:ext cx="5724716" cy="4263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WSConversion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AutenticacionService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_auth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AutenticacionService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_auth.ValidarCredenciales(u, p);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(c * 9.0 / 5.0) + 32.0;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MetrosAPies(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m)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m * 3.28084;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KilogramosALibras(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k)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k * 2.20462;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848816" y="9032643"/>
            <a:ext cx="6220016" cy="369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operaciones — temperatura · longitud · peso/masa.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43500" y="9766300"/>
            <a:ext cx="496955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4.1 SERVIDOR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7083"/>
            <a:ext cx="16969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" y="1642533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Contrato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1974850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Implementación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307167"/>
            <a:ext cx="307467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Web.config + IIS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6860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" y="2724150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1115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3149600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" y="35369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0600" y="3575050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3400" y="39624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90600" y="4000500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4.1.6 / 4.1.7 — CONFIGURACIÓN Y PUBLICACIÓN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500" y="1013883"/>
            <a:ext cx="12753975" cy="503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Web.config </a:t>
            </a: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Publicar en IIS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5143500" y="165073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126985"/>
            <a:ext cx="6038850" cy="7855216"/>
          </a:xfrm>
          <a:prstGeom prst="roundRect">
            <a:avLst>
              <a:gd name="adj" fmla="val 1837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1150" y="2336535"/>
            <a:ext cx="5724716" cy="769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system.serviceModel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serviceBehaviors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serviceMetadata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httpGetEnabled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serviceDebug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includeExceptionDetailInFaults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"false"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serviceBehaviors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"…WSConversion"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"basicHttpBinding"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"…IWSConversion"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"mex"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"mexHttpBinding"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"IMetadataExchange"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system.serviceModel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487150" y="2126985"/>
            <a:ext cx="6038850" cy="3185451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87150" y="530397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87150" y="2126985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87150" y="2126985"/>
            <a:ext cx="76200" cy="3185451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8" name="Shape 26"/>
          <p:cNvSpPr/>
          <p:nvPr/>
        </p:nvSpPr>
        <p:spPr>
          <a:xfrm>
            <a:off x="17517533" y="2126985"/>
            <a:ext cx="9525" cy="3185451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9" name="Text 27"/>
          <p:cNvSpPr/>
          <p:nvPr/>
        </p:nvSpPr>
        <p:spPr>
          <a:xfrm>
            <a:off x="11772900" y="2383102"/>
            <a:ext cx="570113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en IIS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134850" y="2846652"/>
            <a:ext cx="533918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derecho ›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destino IIS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134850" y="3357166"/>
            <a:ext cx="5339186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Manager: crear sitio apuntando a la carpeta publicada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134850" y="4187693"/>
            <a:ext cx="533918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8085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Application Pool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4.0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134850" y="4698206"/>
            <a:ext cx="533918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aspNetCompatibilityEnabled = true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487150" y="5483887"/>
            <a:ext cx="6038850" cy="1672696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87150" y="7148116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87150" y="5483887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87150" y="5483887"/>
            <a:ext cx="76200" cy="1672696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38" name="Shape 36"/>
          <p:cNvSpPr/>
          <p:nvPr/>
        </p:nvSpPr>
        <p:spPr>
          <a:xfrm>
            <a:off x="17517533" y="5483887"/>
            <a:ext cx="9525" cy="1672696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9" name="Text 37"/>
          <p:cNvSpPr/>
          <p:nvPr/>
        </p:nvSpPr>
        <p:spPr>
          <a:xfrm>
            <a:off x="11772900" y="5682853"/>
            <a:ext cx="57011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— WSDL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772900" y="5930503"/>
            <a:ext cx="570113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accesibles desde el navegador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1772900" y="6277637"/>
            <a:ext cx="5535084" cy="679979"/>
          </a:xfrm>
          <a:prstGeom prst="roundRect">
            <a:avLst>
              <a:gd name="adj" fmla="val 11206"/>
            </a:avLst>
          </a:prstGeom>
          <a:solidFill>
            <a:srgbClr val="0B1220"/>
          </a:solidFill>
          <a:ln/>
        </p:spPr>
      </p:sp>
      <p:sp>
        <p:nvSpPr>
          <p:cNvPr id="42" name="Text 40"/>
          <p:cNvSpPr/>
          <p:nvPr/>
        </p:nvSpPr>
        <p:spPr>
          <a:xfrm>
            <a:off x="11925300" y="6410987"/>
            <a:ext cx="5396336" cy="451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http://localhost:8085/Service1.svc?wsdl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http://192.168.5.75:8085/Service1.svc?wsdl  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IP real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43500" y="9766300"/>
            <a:ext cx="496955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4.1 SERVIDOR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2533"/>
            <a:ext cx="19751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— CLIENTE DE CONSOLA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C#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ChannelFactory&lt;T&gt;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2130160"/>
            <a:ext cx="12753975" cy="709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C# (.NET Framework) con arquitectura MVC que replica la interfaz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localmente.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ChannelFactory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el canal sin proxy generado por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svcutil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43500" y="3030140"/>
            <a:ext cx="5643496" cy="5126699"/>
          </a:xfrm>
          <a:prstGeom prst="roundRect">
            <a:avLst>
              <a:gd name="adj" fmla="val 1987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5372100" y="3220641"/>
            <a:ext cx="5355601" cy="349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CONUNI_SOAP_DOTNET_CLICON_G05/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ControladorConsola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ec/edu/monster/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modelo/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Conversion.cs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servicios/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IWSConversion.cs     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Contrato replicado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ClienteConversionSOAP.cs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controlador/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ControladorConsola.cs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vista/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VistaLogin.cs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VistaMenu.cs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091796" y="3030141"/>
            <a:ext cx="6434204" cy="6528726"/>
          </a:xfrm>
          <a:prstGeom prst="roundRect">
            <a:avLst>
              <a:gd name="adj" fmla="val 1482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11339446" y="3239691"/>
            <a:ext cx="6131930" cy="674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ClienteConversionSOAP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URL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"http://192.168.5.75:8085/Service1.svc"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ChannelFactory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 _f;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_proxy;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ClienteConversionSOAP()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binding =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BasicHttpBinding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 … };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_f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ChannelFactory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binding,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EndpointAddress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(URL));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_proxy = _f.CreateChannel();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 =&gt; _proxy.Login(u,p);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v) =&gt; _proxy…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143500" y="9766300"/>
            <a:ext cx="58282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4.2 CLIENTE CONSOLA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067983"/>
            <a:ext cx="22010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— CLIENTE DE ESCRITORIO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WinForms · paleta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Monsters Inc.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2206360"/>
            <a:ext cx="6220016" cy="104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Windows Forms con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VentanaLogin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VentanaPrincipal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paneles intercambiables: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PanelTemperatura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PanelLongitud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PanelPeso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98930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21A9DA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500" y="4352197"/>
            <a:ext cx="110146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· #21A9DA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2580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F6697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2111" y="4352197"/>
            <a:ext cx="1091605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 · #F66971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64384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F5D880"/>
          </a:solidFill>
          <a:ln/>
        </p:spPr>
      </p:sp>
      <p:sp>
        <p:nvSpPr>
          <p:cNvPr id="25" name="Text 23"/>
          <p:cNvSpPr/>
          <p:nvPr/>
        </p:nvSpPr>
        <p:spPr>
          <a:xfrm>
            <a:off x="7450865" y="4352197"/>
            <a:ext cx="1417704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 · #F5D880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50284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8C6BCD"/>
          </a:solidFill>
          <a:ln/>
        </p:spPr>
      </p:sp>
      <p:sp>
        <p:nvSpPr>
          <p:cNvPr id="27" name="Text 25"/>
          <p:cNvSpPr/>
          <p:nvPr/>
        </p:nvSpPr>
        <p:spPr>
          <a:xfrm>
            <a:off x="8925719" y="4352197"/>
            <a:ext cx="143973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PÚRPURA · #8C6BCD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43500" y="4699331"/>
            <a:ext cx="6220016" cy="31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con </a:t>
            </a:r>
            <a:r>
              <a:rPr lang="en-US" sz="15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intentos máximos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Al éxito → </a:t>
            </a:r>
            <a:r>
              <a:rPr lang="en-US" sz="15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VentanaPrincipal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487150" y="2206360"/>
            <a:ext cx="6038850" cy="7852040"/>
          </a:xfrm>
          <a:prstGeom prst="roundRect">
            <a:avLst>
              <a:gd name="adj" fmla="val 1482"/>
            </a:avLst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11734800" y="2415910"/>
            <a:ext cx="5724716" cy="47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ClienteConversionSoap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URL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"http://192.168.5.75:8085/Service1.svc"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ConversionResponse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 = _proxy.CelsiusAFahrenheit(c);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ConversionResponse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ValorOriginal   = c,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ValorConvertido = r,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UnidadOrigen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"°C"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UnidadDestino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"°F"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Categoria   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"Temperatura"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Exito       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143500" y="9766300"/>
            <a:ext cx="60926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4.3 CLIENTE ESCRITORIO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493433"/>
            <a:ext cx="21234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— CLIENTE WEB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8 ·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 + Sesión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Shape 17"/>
          <p:cNvSpPr/>
          <p:nvPr/>
        </p:nvSpPr>
        <p:spPr>
          <a:xfrm>
            <a:off x="5143500" y="2206360"/>
            <a:ext cx="6038850" cy="6893190"/>
          </a:xfrm>
          <a:prstGeom prst="roundRect">
            <a:avLst>
              <a:gd name="adj" fmla="val 1641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5391150" y="2415910"/>
            <a:ext cx="5724716" cy="4263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Program.cs - pipeline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builder =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WebApplication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.CreateBuilder(args);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builder.Services.AddControllersWithViews();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builder.Services.AddDistributedMemoryCache();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builder.Services.AddSession(o =&gt;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o.IdleTimeout   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TimeSpan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.FromMinutes(30);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o.Cookie.HttpOnly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o.Cookie.IsEssential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app = builder.Build();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app.UseStaticFiles();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app.UseMiddleware&lt;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ExceptionHandlingMiddleware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app.UseSession();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app.MapControllerRoute(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"{controller=Login}/{action=Index}/{id?}"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app.Run();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487150" y="2206360"/>
            <a:ext cx="6038850" cy="6637389"/>
          </a:xfrm>
          <a:prstGeom prst="roundRect">
            <a:avLst>
              <a:gd name="adj" fmla="val 1557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11734800" y="2415910"/>
            <a:ext cx="5724716" cy="451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ConversionSoapClient.cs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"WSConversion"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"http://tempuri.org/"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IWSConversionClient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[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…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ConversionSoapClient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ClientBase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IWSConversionClient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IWSConversionClient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ConversionSoapClient(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ep)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: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(CreateBinding(),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EndpointAddress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(ep)) {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32210" y="9113759"/>
            <a:ext cx="12753975" cy="594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LoginController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HttpContext.Session.SetString("usuario", ...)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validar contra SOAP, y el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ConversionController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la sesión antes de cada conversión.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43500" y="9766300"/>
            <a:ext cx="53091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4.4 CLIENTE WEB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18883"/>
            <a:ext cx="164782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— CLIENTE MÓVIL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Kotlin con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505450" y="2377810"/>
            <a:ext cx="585806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compileSdk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·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minSdk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· Kotlin DSL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05450" y="2888324"/>
            <a:ext cx="585806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Component + Fragments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05450" y="3398838"/>
            <a:ext cx="5858066" cy="36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ksoap2-android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el envelope SOAP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05450" y="3913584"/>
            <a:ext cx="5858066" cy="68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Corrutinas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Dispatchers.IO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para llamadas no bloqueantes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5450" y="4748345"/>
            <a:ext cx="5858066" cy="36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Cleartext +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network_security_config.xml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43500" y="5320241"/>
            <a:ext cx="6038850" cy="3483901"/>
          </a:xfrm>
          <a:prstGeom prst="roundRect">
            <a:avLst>
              <a:gd name="adj" fmla="val 2508"/>
            </a:avLst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5372100" y="5510742"/>
            <a:ext cx="5762816" cy="269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ec.edu.monster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modelo/Conversion.kt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servidor/ClienteAutenticacionSoap.kt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controlador/ControladorConversion.kt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vista/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LoginFragment.kt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InicioFragment.kt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TemperaturaFragment.kt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LongitudFragment.kt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PesoFragment.kt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1487150" y="2206360"/>
            <a:ext cx="6038850" cy="7852040"/>
          </a:xfrm>
          <a:prstGeom prst="roundRect">
            <a:avLst>
              <a:gd name="adj" fmla="val 1351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11734800" y="2415910"/>
            <a:ext cx="5724716" cy="726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ClienteAutenticacionSoap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val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NAMESPACE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"http://tempuri.org/"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val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URL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"http://192.168.5.75:8085/Service1.svc"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suspend fun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login(u: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p: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withContext(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.IO)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req =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SoapObject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(NAMESPACE,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).apply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addProperty(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"usuario"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   u)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addProperty(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"contrasena"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p)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env =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SoapSerializationEnvelope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SoapEnvelope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.VER11).apply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setOutputSoapObject(req)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HttpTransportSE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(URL, 30_000)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.call(NAMESPACE +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env)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env.response?.toString() ==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43500" y="9766300"/>
            <a:ext cx="54902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4.5 CLIENTE MÓVIL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29321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00634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4700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09405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18883"/>
            <a:ext cx="1683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443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382433"/>
            <a:ext cx="19061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37697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3807883"/>
            <a:ext cx="120001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CONCLUSIONES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demuestra </a:t>
            </a: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0" y="2206360"/>
            <a:ext cx="6086475" cy="1801548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143500" y="3999442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3500" y="220636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2206360"/>
            <a:ext cx="76200" cy="1801548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21508" y="2206360"/>
            <a:ext cx="9525" cy="1801548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8" name="Text 26"/>
          <p:cNvSpPr/>
          <p:nvPr/>
        </p:nvSpPr>
        <p:spPr>
          <a:xfrm>
            <a:off x="5448300" y="2424377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48300" y="2672027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interoperable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8300" y="3069961"/>
            <a:ext cx="5710947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 expone servicios SOAP consumibles desde cuatro plataformas distintas. El mismo endpoint atiende a clientes .NET y a un cliente Android/Kotlin sin cambios en el servidor.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1439525" y="2206360"/>
            <a:ext cx="6086475" cy="1801548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39525" y="3999442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39525" y="220636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9525" y="2206360"/>
            <a:ext cx="76200" cy="1801548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35" name="Shape 33"/>
          <p:cNvSpPr/>
          <p:nvPr/>
        </p:nvSpPr>
        <p:spPr>
          <a:xfrm>
            <a:off x="17517533" y="2206360"/>
            <a:ext cx="9525" cy="1801548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Text 34"/>
          <p:cNvSpPr/>
          <p:nvPr/>
        </p:nvSpPr>
        <p:spPr>
          <a:xfrm>
            <a:off x="11744325" y="2424377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744325" y="2672027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744325" y="3069961"/>
            <a:ext cx="5710947" cy="52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Replicar la interfaz en los clientes evita regenerar proxies con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svcutil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cambia el contrato y centraliza la configuración del canal.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143500" y="4217458"/>
            <a:ext cx="6086475" cy="1805781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6014773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4217458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4217458"/>
            <a:ext cx="76200" cy="1805781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3" name="Shape 41"/>
          <p:cNvSpPr/>
          <p:nvPr/>
        </p:nvSpPr>
        <p:spPr>
          <a:xfrm>
            <a:off x="11221508" y="4217458"/>
            <a:ext cx="9525" cy="1805781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4" name="Text 42"/>
          <p:cNvSpPr/>
          <p:nvPr/>
        </p:nvSpPr>
        <p:spPr>
          <a:xfrm>
            <a:off x="5448300" y="4435475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48300" y="4683125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en Android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448300" y="5081058"/>
            <a:ext cx="5710947" cy="762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 Kotlin consume el servicio WCF respetando solo el namespace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http://tempuri.org/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los nombres de operación — interoperabilidad real.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1439525" y="4217458"/>
            <a:ext cx="6086475" cy="1805781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1439525" y="6014773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9" name="Shape 47"/>
          <p:cNvSpPr/>
          <p:nvPr/>
        </p:nvSpPr>
        <p:spPr>
          <a:xfrm>
            <a:off x="11439525" y="4217458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0" name="Shape 48"/>
          <p:cNvSpPr/>
          <p:nvPr/>
        </p:nvSpPr>
        <p:spPr>
          <a:xfrm>
            <a:off x="11439525" y="4217458"/>
            <a:ext cx="76200" cy="1805781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51" name="Shape 49"/>
          <p:cNvSpPr/>
          <p:nvPr/>
        </p:nvSpPr>
        <p:spPr>
          <a:xfrm>
            <a:off x="17517533" y="4217458"/>
            <a:ext cx="9525" cy="1805781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2" name="Text 50"/>
          <p:cNvSpPr/>
          <p:nvPr/>
        </p:nvSpPr>
        <p:spPr>
          <a:xfrm>
            <a:off x="11744325" y="4435475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744325" y="4683125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base de datos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1744325" y="5081058"/>
            <a:ext cx="5710947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ausencia de BDD simplifica el despliegue y demuestra que un WCF es plenamente funcional para cómputo puro, facilitando portabilidad y mantenimiento.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5143500" y="9766300"/>
            <a:ext cx="544884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05 CONCLUSIONES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29321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00634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4700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09405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4097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443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382433"/>
            <a:ext cx="19061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37697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3769783"/>
            <a:ext cx="14745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REFERENCIAS BIBLIOGRÁFICAS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3" name="Text 21"/>
          <p:cNvSpPr/>
          <p:nvPr/>
        </p:nvSpPr>
        <p:spPr>
          <a:xfrm>
            <a:off x="5505450" y="2301610"/>
            <a:ext cx="1239202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Communication Foundation (WCF) Documentation.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learn.microsoft.com/en-us/dotnet/framework/wcf/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05450" y="3132138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Documentation.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learn.microsoft.com/en-us/aspnet/core/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05450" y="3642651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CoreWCF Project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CoreWCF — Port of WCF to .NET Core.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github.com/CoreWCF/CoreWCF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05450" y="4153165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simpligility (2023).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ksoap2-android — SOAP client for Android.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github.com/simpligility/ksoap2-android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5450" y="4663678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Coroutines Guide.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kotlinlang.org/docs/coroutines-guide.html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34613" y="8911167"/>
            <a:ext cx="1991386" cy="41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5534613" y="9326034"/>
            <a:ext cx="1991386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350" kern="0" spc="27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05 · 2025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143500" y="9766300"/>
            <a:ext cx="531783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WS_CONUNI_SOAP_DOTNET_GR05 · 07 BIBLIOGRAFÍA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3352</Words>
  <Application>Microsoft Office PowerPoint</Application>
  <PresentationFormat>Personalizado</PresentationFormat>
  <Paragraphs>717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Richard G</cp:lastModifiedBy>
  <cp:revision>2</cp:revision>
  <dcterms:created xsi:type="dcterms:W3CDTF">2026-05-13T17:47:48Z</dcterms:created>
  <dcterms:modified xsi:type="dcterms:W3CDTF">2026-05-13T19:45:36Z</dcterms:modified>
</cp:coreProperties>
</file>